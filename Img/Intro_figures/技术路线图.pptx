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896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114" y="1818"/>
      </p:cViewPr>
      <p:guideLst>
        <p:guide orient="horz" pos="272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90397-622F-4464-A79C-569E0769F8F0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83018-2FAE-40F3-9913-D0D540CBE7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56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83018-2FAE-40F3-9913-D0D540CBE72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74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D0DE2-9AD1-3343-2589-38E9310AB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22DEBB-6B8F-E5FD-F5F7-322DD2424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D8EF7-14D9-5885-9F4A-7D937C98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A8F192-40C1-54BD-65A9-2D0C71BF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E3052-E1E3-DB04-8480-1B19F45F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99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23222-EB20-BC7E-69CD-DE2A6CB5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49672E-B89A-51A9-B88D-CF1FC5125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87995D-103D-168E-3EFE-1FEF6B42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07E6C5-F3BC-73B2-769F-40C5A4D3B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6F6918-12A5-0C57-A92F-357DD825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33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A47876-0D5C-FCD5-46B1-CA822937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1372B3-7915-1E05-5F8F-2381E4B4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B855A-4859-8534-0DCD-E4B74BBA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85947-DD32-42CB-1C97-FADCB0DC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E40769-83F8-B4BE-FA07-38229A44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035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166D4-0A42-739D-DCCF-BD741C4C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BF574-D7D7-F9D1-1F56-C85D9B957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D5A149-3CE1-DE6A-D438-1ABDF1F02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DCC9FA-7B9A-6EA2-5741-DCE71759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AA5296-3AC2-2063-6557-563EDD01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82D74F-506E-B34C-14ED-D8FF82EB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62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9DD08-C3D5-D496-6F12-1FA6DB73C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4E8856-8C45-0672-FFEC-22CD23C4E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A8D381-1869-BF83-8D62-D1DE9EBD5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97D25F-A1F2-69DB-93E0-CBC1448B5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723C04-9963-DA89-DAA0-B4448C853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7629C6-297A-44C2-8FCE-294E7BD3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F9143D2-DD82-2826-B8B8-5217FDD5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7F2561-DAD6-1621-6F86-808A6A2F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162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DB6DF-D726-4570-C589-3DAB1945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DB1A5A-70AE-6BD5-C643-0EBB8255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5F98C9-7155-2FC0-FA8B-EF7D806D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892F5B-8603-6188-D4C5-3102C92EE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541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3B7DBA-EB13-BFB8-F573-0881E0C95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21D505-94C7-C147-97DA-764B3B87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41A2E8-2418-FF32-0028-B0929A43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8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B5B92-1EB1-B3FD-2326-01E0559E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31972-79CA-BACB-9894-8888D5D81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124FCB-F858-7274-A8A7-AC812EA0B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B420DA-B99E-E4AA-E985-8972AD70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DE0F15-D065-1FC1-0C8C-40B55FB2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9128A-8BFE-7F16-E059-65119EF1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03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06F6F-3BCF-127F-1660-9D5FA73A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37C217-4136-A999-4480-36AA6E408C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92958B-02E3-7138-8602-30D06148D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216181-C9BA-DE6F-F7FC-3F805775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A17EBC-7D3C-0890-DAC5-8EF903F18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6233CF-AB4A-04A6-282D-2C766B03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62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42871-BF0E-FF26-21AC-CC1C1AE4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D4D897-E8C2-6F53-F4A3-8051C2914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66839D-9530-12E3-C0ED-A1F1760F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331E75-490C-4990-D854-9B5031A6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FBDA41-14C3-1970-222D-4095AF57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06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E0A571-5A28-92B6-B069-A799DE19E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F70AC3-9C61-052F-8C55-2478A3A77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09AD29-37D8-F4C7-D7B6-13036651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22EA7C-97B3-49DB-1F59-1FF766C9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4DB71-6E2C-1159-1819-7BE329700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66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4A6807-577E-2B85-AC76-4364039E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835102-FAF4-31F2-CE2A-827558260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93F81-E53E-9CB0-F841-91A68E821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29DAE-3BE9-4FED-8D37-942F1DC47189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A8B36A-04E4-0F9F-8447-386F493BB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8D0AB3-D165-9BBF-FDDC-1FA3D8106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B79-D867-401E-A9EA-F90B9DB11F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8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C50520E-CAE0-0966-C9A2-2BFEEF08A73C}"/>
              </a:ext>
            </a:extLst>
          </p:cNvPr>
          <p:cNvGrpSpPr/>
          <p:nvPr/>
        </p:nvGrpSpPr>
        <p:grpSpPr>
          <a:xfrm>
            <a:off x="458645" y="0"/>
            <a:ext cx="10878415" cy="6703181"/>
            <a:chOff x="458645" y="0"/>
            <a:chExt cx="10878415" cy="6703181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20FBEE9-10DA-4F7C-6B9B-73029297A6F4}"/>
                </a:ext>
              </a:extLst>
            </p:cNvPr>
            <p:cNvSpPr/>
            <p:nvPr/>
          </p:nvSpPr>
          <p:spPr>
            <a:xfrm>
              <a:off x="536654" y="1615328"/>
              <a:ext cx="10800406" cy="1166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6EEAFBF-6E99-2A6B-80D0-A4834C6A343F}"/>
                </a:ext>
              </a:extLst>
            </p:cNvPr>
            <p:cNvSpPr/>
            <p:nvPr/>
          </p:nvSpPr>
          <p:spPr>
            <a:xfrm>
              <a:off x="535152" y="2782930"/>
              <a:ext cx="10800406" cy="7347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9D348AD7-CE34-8D2B-DD82-F3EC17B77603}"/>
                </a:ext>
              </a:extLst>
            </p:cNvPr>
            <p:cNvSpPr/>
            <p:nvPr/>
          </p:nvSpPr>
          <p:spPr>
            <a:xfrm>
              <a:off x="533648" y="3516312"/>
              <a:ext cx="10801907" cy="12507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CDE50CC4-5FA4-2D6C-BD80-A009F497F396}"/>
                </a:ext>
              </a:extLst>
            </p:cNvPr>
            <p:cNvSpPr/>
            <p:nvPr/>
          </p:nvSpPr>
          <p:spPr>
            <a:xfrm>
              <a:off x="535152" y="4766669"/>
              <a:ext cx="10800406" cy="122630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80325324-7A07-7945-48EA-A43F8C86697B}"/>
                </a:ext>
              </a:extLst>
            </p:cNvPr>
            <p:cNvSpPr/>
            <p:nvPr/>
          </p:nvSpPr>
          <p:spPr>
            <a:xfrm>
              <a:off x="533647" y="5992978"/>
              <a:ext cx="10801910" cy="710203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424D89BB-4C2E-5673-7538-430EBFCA5880}"/>
                </a:ext>
              </a:extLst>
            </p:cNvPr>
            <p:cNvSpPr/>
            <p:nvPr/>
          </p:nvSpPr>
          <p:spPr>
            <a:xfrm>
              <a:off x="536656" y="39747"/>
              <a:ext cx="10800404" cy="1586120"/>
            </a:xfrm>
            <a:prstGeom prst="rect">
              <a:avLst/>
            </a:prstGeom>
            <a:solidFill>
              <a:schemeClr val="bg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3681D63-E4D7-4B27-9A32-F6F28470150E}"/>
                </a:ext>
              </a:extLst>
            </p:cNvPr>
            <p:cNvGrpSpPr/>
            <p:nvPr/>
          </p:nvGrpSpPr>
          <p:grpSpPr>
            <a:xfrm>
              <a:off x="5118026" y="4883797"/>
              <a:ext cx="2439253" cy="1010045"/>
              <a:chOff x="4930498" y="4908349"/>
              <a:chExt cx="1717784" cy="711299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C593AC4-C10B-C6FE-1F32-0C1D1EB19891}"/>
                  </a:ext>
                </a:extLst>
              </p:cNvPr>
              <p:cNvSpPr/>
              <p:nvPr/>
            </p:nvSpPr>
            <p:spPr>
              <a:xfrm>
                <a:off x="4930498" y="4908349"/>
                <a:ext cx="1717784" cy="354899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分布内循环老化数据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（训练、验证）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B4C3DB4-CDE5-9CE8-2D66-F5AEBFCB625C}"/>
                  </a:ext>
                </a:extLst>
              </p:cNvPr>
              <p:cNvSpPr/>
              <p:nvPr/>
            </p:nvSpPr>
            <p:spPr>
              <a:xfrm>
                <a:off x="4930498" y="5263248"/>
                <a:ext cx="1717784" cy="356400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跨工况分布外循环老化数据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（分布外退化模式泛化）</a:t>
                </a: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6DA4963-D1AA-B1E1-6875-CE941792BB15}"/>
                </a:ext>
              </a:extLst>
            </p:cNvPr>
            <p:cNvGrpSpPr/>
            <p:nvPr/>
          </p:nvGrpSpPr>
          <p:grpSpPr>
            <a:xfrm>
              <a:off x="1911729" y="4870136"/>
              <a:ext cx="2439253" cy="1010045"/>
              <a:chOff x="3165366" y="4901938"/>
              <a:chExt cx="1717784" cy="711299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3BB4007-8531-3F1E-98B6-773B320BED19}"/>
                  </a:ext>
                </a:extLst>
              </p:cNvPr>
              <p:cNvSpPr/>
              <p:nvPr/>
            </p:nvSpPr>
            <p:spPr>
              <a:xfrm>
                <a:off x="3165366" y="4901938"/>
                <a:ext cx="1717784" cy="354900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分布内循环老化数据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（训练、验证、测试、校准）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011B3B3-2783-A06E-7279-004B70BB20D9}"/>
                  </a:ext>
                </a:extLst>
              </p:cNvPr>
              <p:cNvSpPr/>
              <p:nvPr/>
            </p:nvSpPr>
            <p:spPr>
              <a:xfrm>
                <a:off x="3165366" y="5256837"/>
                <a:ext cx="1717784" cy="356400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跨工况分布外循环老化数据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（分布内</a:t>
                </a: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-</a:t>
                </a:r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分布外辨识）</a:t>
                </a: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3215E034-4947-B50F-BDA5-4045FBBA34C5}"/>
                </a:ext>
              </a:extLst>
            </p:cNvPr>
            <p:cNvGrpSpPr/>
            <p:nvPr/>
          </p:nvGrpSpPr>
          <p:grpSpPr>
            <a:xfrm>
              <a:off x="8324324" y="4883797"/>
              <a:ext cx="2439253" cy="1010045"/>
              <a:chOff x="7172216" y="4861298"/>
              <a:chExt cx="1717784" cy="711299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E94471A-AF9A-4D77-F37A-8439AA9A88CC}"/>
                  </a:ext>
                </a:extLst>
              </p:cNvPr>
              <p:cNvSpPr/>
              <p:nvPr/>
            </p:nvSpPr>
            <p:spPr>
              <a:xfrm>
                <a:off x="7172216" y="4861298"/>
                <a:ext cx="1717784" cy="354899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大规模故障诊断数据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（微调、增广、验证、测试）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A7971ED-6AA3-1572-103D-895F11A29D48}"/>
                  </a:ext>
                </a:extLst>
              </p:cNvPr>
              <p:cNvSpPr/>
              <p:nvPr/>
            </p:nvSpPr>
            <p:spPr>
              <a:xfrm>
                <a:off x="7172216" y="5216197"/>
                <a:ext cx="1717784" cy="356400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分布外故障诊断数据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（分布外故障模式幻觉检测）</a:t>
                </a: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7293F90-D178-0AF3-D115-76A533B303AA}"/>
                </a:ext>
              </a:extLst>
            </p:cNvPr>
            <p:cNvGrpSpPr/>
            <p:nvPr/>
          </p:nvGrpSpPr>
          <p:grpSpPr>
            <a:xfrm>
              <a:off x="3675835" y="219160"/>
              <a:ext cx="5323637" cy="1082040"/>
              <a:chOff x="1681480" y="817880"/>
              <a:chExt cx="3749040" cy="76200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2F5DCD8-C2EE-867C-8FF1-1BACE1D3CA47}"/>
                  </a:ext>
                </a:extLst>
              </p:cNvPr>
              <p:cNvSpPr/>
              <p:nvPr/>
            </p:nvSpPr>
            <p:spPr>
              <a:xfrm>
                <a:off x="1681480" y="817880"/>
                <a:ext cx="3749040" cy="354899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基于无偏不确定性量化的高可靠状态预测与健康管理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BFC9DCE-C568-1A6E-1C17-1873162B0CD0}"/>
                  </a:ext>
                </a:extLst>
              </p:cNvPr>
              <p:cNvSpPr/>
              <p:nvPr/>
            </p:nvSpPr>
            <p:spPr>
              <a:xfrm>
                <a:off x="1681480" y="1172779"/>
                <a:ext cx="1879600" cy="407101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（电动汽车能源系统）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锂离子电池退化建模</a:t>
                </a: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66A8C84-2B55-8024-62DF-8ACD4376A148}"/>
                  </a:ext>
                </a:extLst>
              </p:cNvPr>
              <p:cNvSpPr/>
              <p:nvPr/>
            </p:nvSpPr>
            <p:spPr>
              <a:xfrm>
                <a:off x="3561080" y="1172779"/>
                <a:ext cx="1869440" cy="407101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（电动汽车传动系统）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旋转机械设备故障诊断</a:t>
                </a: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6457372-9916-5DCE-197C-B149DDBE671D}"/>
                </a:ext>
              </a:extLst>
            </p:cNvPr>
            <p:cNvGrpSpPr/>
            <p:nvPr/>
          </p:nvGrpSpPr>
          <p:grpSpPr>
            <a:xfrm>
              <a:off x="1553828" y="1718409"/>
              <a:ext cx="9567650" cy="1023711"/>
              <a:chOff x="681454" y="5685219"/>
              <a:chExt cx="6737782" cy="776540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B0CBEA7-47C9-C6FE-7BD5-6336EBD1CF4B}"/>
                  </a:ext>
                </a:extLst>
              </p:cNvPr>
              <p:cNvSpPr/>
              <p:nvPr/>
            </p:nvSpPr>
            <p:spPr>
              <a:xfrm>
                <a:off x="2939410" y="5685220"/>
                <a:ext cx="2221870" cy="776539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模型泛化能力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时空信息在循环信号中稀疏分布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未见退化模式引入特征分布不确定性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非线性退化模式导致长尾分布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EAD1C0B2-C4EF-644A-1C4E-7E4AD71A1569}"/>
                  </a:ext>
                </a:extLst>
              </p:cNvPr>
              <p:cNvSpPr/>
              <p:nvPr/>
            </p:nvSpPr>
            <p:spPr>
              <a:xfrm>
                <a:off x="5197366" y="5685219"/>
                <a:ext cx="2221870" cy="776539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模型幻觉抵抗性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故障类别统计偏差导致的幻觉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未见故障模式输入导致幻觉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句子级别幻觉难以检测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5036791-B21B-1324-3097-65972C612549}"/>
                  </a:ext>
                </a:extLst>
              </p:cNvPr>
              <p:cNvSpPr/>
              <p:nvPr/>
            </p:nvSpPr>
            <p:spPr>
              <a:xfrm>
                <a:off x="681454" y="5685219"/>
                <a:ext cx="2221870" cy="776539"/>
              </a:xfrm>
              <a:prstGeom prst="rect">
                <a:avLst/>
              </a:prstGeom>
              <a:noFill/>
              <a:ln w="15875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模型可信性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退化模式表征过程的不确定性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不确定性量化的完备性</a:t>
                </a:r>
                <a:endPara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14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不确定性量化的无偏性</a:t>
                </a:r>
              </a:p>
            </p:txBody>
          </p:sp>
        </p:grp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269D9E8-4A43-75B2-686B-9EE8890409E4}"/>
                </a:ext>
              </a:extLst>
            </p:cNvPr>
            <p:cNvSpPr/>
            <p:nvPr/>
          </p:nvSpPr>
          <p:spPr>
            <a:xfrm>
              <a:off x="4760125" y="3648464"/>
              <a:ext cx="3155055" cy="919653"/>
            </a:xfrm>
            <a:prstGeom prst="rect">
              <a:avLst/>
            </a:prstGeom>
            <a:noFill/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拓扑约束下不确定性驱动特征调弈的退化跟踪网络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Robust OOD Degradation Tracking Network,</a:t>
              </a:r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RODTNet</a:t>
              </a:r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43285C7-9DA7-5A02-2FDE-454A172423C9}"/>
                </a:ext>
              </a:extLst>
            </p:cNvPr>
            <p:cNvSpPr/>
            <p:nvPr/>
          </p:nvSpPr>
          <p:spPr>
            <a:xfrm>
              <a:off x="7966423" y="3648463"/>
              <a:ext cx="3155055" cy="919654"/>
            </a:xfrm>
            <a:prstGeom prst="rect">
              <a:avLst/>
            </a:prstGeom>
            <a:noFill/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扩散增强可信多模态大语言模型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Diffusion-Augmented Trustworthy Multimodal Large Language Model, DA-TMLLM</a:t>
              </a:r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AE9AB82-BB30-F508-2C7D-B99F14D301D5}"/>
                </a:ext>
              </a:extLst>
            </p:cNvPr>
            <p:cNvSpPr/>
            <p:nvPr/>
          </p:nvSpPr>
          <p:spPr>
            <a:xfrm>
              <a:off x="1553828" y="3648463"/>
              <a:ext cx="3155055" cy="920329"/>
            </a:xfrm>
            <a:prstGeom prst="rect">
              <a:avLst/>
            </a:prstGeom>
            <a:noFill/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层次化随机时空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Transformer</a:t>
              </a:r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Hierarchical Stochastic Spatial-Temporal Transformer, HSSTT</a:t>
              </a:r>
              <a:r>
                <a:rPr lang="zh-CN" altLang="en-US" sz="1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95BD51D8-9683-55F4-4AED-C443E76FBB45}"/>
                </a:ext>
              </a:extLst>
            </p:cNvPr>
            <p:cNvSpPr/>
            <p:nvPr/>
          </p:nvSpPr>
          <p:spPr>
            <a:xfrm>
              <a:off x="1536759" y="6081419"/>
              <a:ext cx="1980000" cy="503957"/>
            </a:xfrm>
            <a:prstGeom prst="rect">
              <a:avLst/>
            </a:prstGeom>
            <a:noFill/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PINN</a:t>
              </a:r>
              <a:endPara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5638C4BA-6CA1-6B5A-EE91-5F04D5C81745}"/>
                </a:ext>
              </a:extLst>
            </p:cNvPr>
            <p:cNvSpPr/>
            <p:nvPr/>
          </p:nvSpPr>
          <p:spPr>
            <a:xfrm>
              <a:off x="4055972" y="6081419"/>
              <a:ext cx="1980000" cy="503957"/>
            </a:xfrm>
            <a:prstGeom prst="rect">
              <a:avLst/>
            </a:prstGeom>
            <a:noFill/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电池基础模型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F250AB3-BD9C-E948-20DE-485649D7487F}"/>
                </a:ext>
              </a:extLst>
            </p:cNvPr>
            <p:cNvSpPr/>
            <p:nvPr/>
          </p:nvSpPr>
          <p:spPr>
            <a:xfrm>
              <a:off x="6575185" y="6081419"/>
              <a:ext cx="1980000" cy="503957"/>
            </a:xfrm>
            <a:prstGeom prst="rect">
              <a:avLst/>
            </a:prstGeom>
            <a:noFill/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多任务电池 </a:t>
              </a: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PHM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模型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C406987-CDAF-B1C9-8F17-D959DF79B8DF}"/>
                </a:ext>
              </a:extLst>
            </p:cNvPr>
            <p:cNvSpPr/>
            <p:nvPr/>
          </p:nvSpPr>
          <p:spPr>
            <a:xfrm>
              <a:off x="9094397" y="6081419"/>
              <a:ext cx="1980000" cy="503957"/>
            </a:xfrm>
            <a:prstGeom prst="rect">
              <a:avLst/>
            </a:prstGeom>
            <a:noFill/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PHM </a:t>
              </a:r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代理模型</a:t>
              </a:r>
            </a:p>
          </p:txBody>
        </p: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3E107EA7-4046-08DC-E9E4-D6BAE3E03A2F}"/>
                </a:ext>
              </a:extLst>
            </p:cNvPr>
            <p:cNvCxnSpPr>
              <a:cxnSpLocks/>
              <a:stCxn id="17" idx="0"/>
              <a:endCxn id="16" idx="0"/>
            </p:cNvCxnSpPr>
            <p:nvPr/>
          </p:nvCxnSpPr>
          <p:spPr>
            <a:xfrm rot="5400000" flipH="1" flipV="1">
              <a:off x="6337653" y="-1487889"/>
              <a:ext cx="18034" cy="6412595"/>
            </a:xfrm>
            <a:prstGeom prst="bentConnector3">
              <a:avLst>
                <a:gd name="adj1" fmla="val 1520000"/>
              </a:avLst>
            </a:prstGeom>
            <a:ln w="12700"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A0AC1AA8-8B33-79D5-1C08-001357BE3425}"/>
                </a:ext>
              </a:extLst>
            </p:cNvPr>
            <p:cNvCxnSpPr>
              <a:cxnSpLocks/>
            </p:cNvCxnSpPr>
            <p:nvPr/>
          </p:nvCxnSpPr>
          <p:spPr>
            <a:xfrm>
              <a:off x="6342465" y="1301200"/>
              <a:ext cx="7212" cy="4172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FDD58519-0342-459F-EAA8-F1DD3D6BBD1B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>
              <a:off x="3131355" y="2742118"/>
              <a:ext cx="0" cy="906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79F033ED-A1C4-1CB0-4331-97A7097EF95A}"/>
                </a:ext>
              </a:extLst>
            </p:cNvPr>
            <p:cNvCxnSpPr>
              <a:cxnSpLocks/>
              <a:stCxn id="16" idx="2"/>
              <a:endCxn id="22" idx="0"/>
            </p:cNvCxnSpPr>
            <p:nvPr/>
          </p:nvCxnSpPr>
          <p:spPr>
            <a:xfrm>
              <a:off x="9543950" y="2742118"/>
              <a:ext cx="0" cy="906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639410B0-4572-AC07-6B22-A58520EBE5CD}"/>
                </a:ext>
              </a:extLst>
            </p:cNvPr>
            <p:cNvCxnSpPr>
              <a:cxnSpLocks/>
              <a:stCxn id="23" idx="2"/>
              <a:endCxn id="4" idx="0"/>
            </p:cNvCxnSpPr>
            <p:nvPr/>
          </p:nvCxnSpPr>
          <p:spPr>
            <a:xfrm>
              <a:off x="3131355" y="4568792"/>
              <a:ext cx="0" cy="30134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01613B59-ACDE-FA7E-F28A-1A131D2F26DE}"/>
                </a:ext>
              </a:extLst>
            </p:cNvPr>
            <p:cNvCxnSpPr>
              <a:cxnSpLocks/>
              <a:stCxn id="21" idx="2"/>
              <a:endCxn id="5" idx="0"/>
            </p:cNvCxnSpPr>
            <p:nvPr/>
          </p:nvCxnSpPr>
          <p:spPr>
            <a:xfrm>
              <a:off x="6337653" y="4568117"/>
              <a:ext cx="0" cy="3156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922C942E-E18D-2BC0-3C31-02E71676AF69}"/>
                </a:ext>
              </a:extLst>
            </p:cNvPr>
            <p:cNvCxnSpPr>
              <a:cxnSpLocks/>
              <a:stCxn id="22" idx="2"/>
              <a:endCxn id="9" idx="0"/>
            </p:cNvCxnSpPr>
            <p:nvPr/>
          </p:nvCxnSpPr>
          <p:spPr>
            <a:xfrm>
              <a:off x="9543950" y="4568117"/>
              <a:ext cx="0" cy="3156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A0FA12FD-B89B-7583-1FFD-42F980867952}"/>
                </a:ext>
              </a:extLst>
            </p:cNvPr>
            <p:cNvCxnSpPr>
              <a:cxnSpLocks/>
              <a:stCxn id="15" idx="2"/>
              <a:endCxn id="21" idx="0"/>
            </p:cNvCxnSpPr>
            <p:nvPr/>
          </p:nvCxnSpPr>
          <p:spPr>
            <a:xfrm>
              <a:off x="6337653" y="2742119"/>
              <a:ext cx="0" cy="90634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04335DBA-8C4C-82AE-745D-B32A63650E99}"/>
                </a:ext>
              </a:extLst>
            </p:cNvPr>
            <p:cNvCxnSpPr/>
            <p:nvPr/>
          </p:nvCxnSpPr>
          <p:spPr>
            <a:xfrm>
              <a:off x="3140372" y="3061567"/>
              <a:ext cx="64035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0B45F03-598C-A6B5-2CBC-EA67240B1E56}"/>
                </a:ext>
              </a:extLst>
            </p:cNvPr>
            <p:cNvSpPr/>
            <p:nvPr/>
          </p:nvSpPr>
          <p:spPr>
            <a:xfrm>
              <a:off x="5328651" y="2841646"/>
              <a:ext cx="2018005" cy="4509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数据驱动建模方法</a:t>
              </a:r>
              <a:endParaRPr lang="en-US" altLang="zh-CN" sz="1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无偏不确定性量化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C42550-2A19-9911-6883-5BBD3BDF0A97}"/>
                </a:ext>
              </a:extLst>
            </p:cNvPr>
            <p:cNvSpPr/>
            <p:nvPr/>
          </p:nvSpPr>
          <p:spPr>
            <a:xfrm>
              <a:off x="474009" y="0"/>
              <a:ext cx="1250357" cy="36669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研究背景</a:t>
              </a: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E29C59AD-6A5B-0952-9589-DB5DA8AFC6C9}"/>
                </a:ext>
              </a:extLst>
            </p:cNvPr>
            <p:cNvSpPr/>
            <p:nvPr/>
          </p:nvSpPr>
          <p:spPr>
            <a:xfrm>
              <a:off x="472780" y="1590409"/>
              <a:ext cx="1250357" cy="36669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研究挑战</a:t>
              </a: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AF68DE6-A830-3DB9-27F4-F254E12BDB91}"/>
                </a:ext>
              </a:extLst>
            </p:cNvPr>
            <p:cNvSpPr/>
            <p:nvPr/>
          </p:nvSpPr>
          <p:spPr>
            <a:xfrm>
              <a:off x="473764" y="2747816"/>
              <a:ext cx="1250357" cy="36669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理论基础</a:t>
              </a: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596F7056-46CB-DCC8-8E2C-6C104BDE5119}"/>
                </a:ext>
              </a:extLst>
            </p:cNvPr>
            <p:cNvSpPr/>
            <p:nvPr/>
          </p:nvSpPr>
          <p:spPr>
            <a:xfrm>
              <a:off x="458645" y="3485607"/>
              <a:ext cx="1250357" cy="36669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提出方法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4CB2FFC5-9796-E5F0-15ED-975F353EE062}"/>
                </a:ext>
              </a:extLst>
            </p:cNvPr>
            <p:cNvSpPr/>
            <p:nvPr/>
          </p:nvSpPr>
          <p:spPr>
            <a:xfrm>
              <a:off x="458645" y="4733269"/>
              <a:ext cx="1250357" cy="36669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实验验证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1737E606-820C-BAAF-80E8-ABEE4C12AF05}"/>
                </a:ext>
              </a:extLst>
            </p:cNvPr>
            <p:cNvSpPr/>
            <p:nvPr/>
          </p:nvSpPr>
          <p:spPr>
            <a:xfrm>
              <a:off x="476547" y="5957695"/>
              <a:ext cx="1250357" cy="36669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606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>
            <a:extLst>
              <a:ext uri="{FF2B5EF4-FFF2-40B4-BE49-F238E27FC236}">
                <a16:creationId xmlns:a16="http://schemas.microsoft.com/office/drawing/2014/main" id="{540AC8F1-1463-C9F6-D8ED-29B04531B316}"/>
              </a:ext>
            </a:extLst>
          </p:cNvPr>
          <p:cNvGrpSpPr/>
          <p:nvPr/>
        </p:nvGrpSpPr>
        <p:grpSpPr>
          <a:xfrm>
            <a:off x="721887" y="608181"/>
            <a:ext cx="9869913" cy="5036205"/>
            <a:chOff x="721887" y="608181"/>
            <a:chExt cx="9869913" cy="5036205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502C4CE-63D0-8515-5377-6440F649B135}"/>
                </a:ext>
              </a:extLst>
            </p:cNvPr>
            <p:cNvSpPr/>
            <p:nvPr/>
          </p:nvSpPr>
          <p:spPr>
            <a:xfrm>
              <a:off x="721895" y="608181"/>
              <a:ext cx="9869905" cy="6609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94ED699-2B37-0720-4040-88799BAE8E1E}"/>
                </a:ext>
              </a:extLst>
            </p:cNvPr>
            <p:cNvSpPr/>
            <p:nvPr/>
          </p:nvSpPr>
          <p:spPr>
            <a:xfrm>
              <a:off x="721894" y="1269261"/>
              <a:ext cx="9869904" cy="9514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C34AE2AC-5DCE-694C-9796-6161F018AD51}"/>
                </a:ext>
              </a:extLst>
            </p:cNvPr>
            <p:cNvSpPr/>
            <p:nvPr/>
          </p:nvSpPr>
          <p:spPr>
            <a:xfrm>
              <a:off x="721894" y="2220664"/>
              <a:ext cx="9869902" cy="60030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1F4AE56-8B06-AF6E-AE8D-19BF02AA7C16}"/>
                </a:ext>
              </a:extLst>
            </p:cNvPr>
            <p:cNvSpPr/>
            <p:nvPr/>
          </p:nvSpPr>
          <p:spPr>
            <a:xfrm>
              <a:off x="721894" y="2820490"/>
              <a:ext cx="9869902" cy="118839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B87C30B4-DA6B-B0AF-488C-EA0C401FE0EA}"/>
                </a:ext>
              </a:extLst>
            </p:cNvPr>
            <p:cNvSpPr/>
            <p:nvPr/>
          </p:nvSpPr>
          <p:spPr>
            <a:xfrm>
              <a:off x="721891" y="4005493"/>
              <a:ext cx="9869902" cy="102648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6BAB1DB2-0F6A-45A4-8359-038F260B673F}"/>
                </a:ext>
              </a:extLst>
            </p:cNvPr>
            <p:cNvSpPr/>
            <p:nvPr/>
          </p:nvSpPr>
          <p:spPr>
            <a:xfrm>
              <a:off x="721887" y="4998233"/>
              <a:ext cx="9869902" cy="64615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423FFCA-2F54-25EA-03A2-C2F78572FD4B}"/>
                </a:ext>
              </a:extLst>
            </p:cNvPr>
            <p:cNvSpPr/>
            <p:nvPr/>
          </p:nvSpPr>
          <p:spPr>
            <a:xfrm>
              <a:off x="773991" y="759718"/>
              <a:ext cx="880533" cy="2582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研究背景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3899FA55-BC51-E31F-BC01-CBA6E908F955}"/>
                </a:ext>
              </a:extLst>
            </p:cNvPr>
            <p:cNvSpPr/>
            <p:nvPr/>
          </p:nvSpPr>
          <p:spPr>
            <a:xfrm>
              <a:off x="773991" y="1414993"/>
              <a:ext cx="880533" cy="2582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研究挑战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B0060945-B100-B991-025D-83CC81CC591B}"/>
                </a:ext>
              </a:extLst>
            </p:cNvPr>
            <p:cNvSpPr/>
            <p:nvPr/>
          </p:nvSpPr>
          <p:spPr>
            <a:xfrm>
              <a:off x="773991" y="2347235"/>
              <a:ext cx="880533" cy="2582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理论基础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8E1F36BA-7A52-AB70-9FBC-ED450121F1E0}"/>
                </a:ext>
              </a:extLst>
            </p:cNvPr>
            <p:cNvSpPr/>
            <p:nvPr/>
          </p:nvSpPr>
          <p:spPr>
            <a:xfrm>
              <a:off x="773991" y="2940685"/>
              <a:ext cx="880533" cy="2582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提出方法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27054BDB-B942-A0E4-82E0-FE2CF5339385}"/>
                </a:ext>
              </a:extLst>
            </p:cNvPr>
            <p:cNvSpPr/>
            <p:nvPr/>
          </p:nvSpPr>
          <p:spPr>
            <a:xfrm>
              <a:off x="773991" y="4192258"/>
              <a:ext cx="880533" cy="2582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实验验证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1ED98318-BEEE-5FD6-1CD7-91763A8E08CD}"/>
                </a:ext>
              </a:extLst>
            </p:cNvPr>
            <p:cNvSpPr/>
            <p:nvPr/>
          </p:nvSpPr>
          <p:spPr>
            <a:xfrm>
              <a:off x="773991" y="5189943"/>
              <a:ext cx="880533" cy="2582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研究展望</a:t>
              </a: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6FC670B-7EC9-E7F1-F772-8B4C96D69CDE}"/>
                </a:ext>
              </a:extLst>
            </p:cNvPr>
            <p:cNvGrpSpPr/>
            <p:nvPr/>
          </p:nvGrpSpPr>
          <p:grpSpPr>
            <a:xfrm>
              <a:off x="9661770" y="2913877"/>
              <a:ext cx="880534" cy="773616"/>
              <a:chOff x="9714919" y="2937129"/>
              <a:chExt cx="880534" cy="773616"/>
            </a:xfrm>
          </p:grpSpPr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9C58204-9785-67F2-7D66-9A1A32B0C406}"/>
                  </a:ext>
                </a:extLst>
              </p:cNvPr>
              <p:cNvSpPr/>
              <p:nvPr/>
            </p:nvSpPr>
            <p:spPr>
              <a:xfrm>
                <a:off x="9714919" y="2937129"/>
                <a:ext cx="880533" cy="258234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研究内容一</a:t>
                </a: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D516ADFB-7E2C-E6C4-5ADC-DC9616E6C966}"/>
                  </a:ext>
                </a:extLst>
              </p:cNvPr>
              <p:cNvSpPr/>
              <p:nvPr/>
            </p:nvSpPr>
            <p:spPr>
              <a:xfrm>
                <a:off x="9714920" y="3197360"/>
                <a:ext cx="880533" cy="258234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研究内容二</a:t>
                </a: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C1D6E218-DF8E-4F5E-940A-B2AD7EC328BE}"/>
                  </a:ext>
                </a:extLst>
              </p:cNvPr>
              <p:cNvSpPr/>
              <p:nvPr/>
            </p:nvSpPr>
            <p:spPr>
              <a:xfrm>
                <a:off x="9714920" y="3452511"/>
                <a:ext cx="880533" cy="258234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zh-CN" altLang="en-US" sz="1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研究内容三</a:t>
                </a:r>
              </a:p>
            </p:txBody>
          </p:sp>
        </p:grp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2F201D01-8BD9-3EC1-5AE4-03367F9147F4}"/>
                </a:ext>
              </a:extLst>
            </p:cNvPr>
            <p:cNvSpPr/>
            <p:nvPr/>
          </p:nvSpPr>
          <p:spPr>
            <a:xfrm>
              <a:off x="9661769" y="4356638"/>
              <a:ext cx="880533" cy="258234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研究内容四</a:t>
              </a: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82B3EC68-0C1A-AA10-0EAD-C6E58A67018F}"/>
                </a:ext>
              </a:extLst>
            </p:cNvPr>
            <p:cNvSpPr/>
            <p:nvPr/>
          </p:nvSpPr>
          <p:spPr>
            <a:xfrm>
              <a:off x="3935542" y="759718"/>
              <a:ext cx="3434861" cy="3048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面向多维漂移与异构迁移的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eVTOL</a:t>
              </a:r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电池退化建模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E2003E1-1AB9-8A26-5DC4-3B814010CBFE}"/>
                </a:ext>
              </a:extLst>
            </p:cNvPr>
            <p:cNvSpPr/>
            <p:nvPr/>
          </p:nvSpPr>
          <p:spPr>
            <a:xfrm>
              <a:off x="1796562" y="1421343"/>
              <a:ext cx="2523600" cy="7200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单体层级多维漂移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加剧的极化效应导致退化特征纠缠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加剧的热效应导致时序自漂移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放大的异质性导致个体分化漂移</a:t>
              </a: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49D7C727-AE7E-0EF6-9D41-7EF4F62E36D9}"/>
                </a:ext>
              </a:extLst>
            </p:cNvPr>
            <p:cNvSpPr/>
            <p:nvPr/>
          </p:nvSpPr>
          <p:spPr>
            <a:xfrm>
              <a:off x="4391172" y="1421343"/>
              <a:ext cx="2523600" cy="7200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跨工况层级异构迁移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电池内部复合应力导致的异构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退化累积区间非均一性导致的异构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非平稳振动噪声导致的异构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96BCB2B-6EBC-C0A7-2095-70E7CFD09F71}"/>
                </a:ext>
              </a:extLst>
            </p:cNvPr>
            <p:cNvSpPr/>
            <p:nvPr/>
          </p:nvSpPr>
          <p:spPr>
            <a:xfrm>
              <a:off x="6985782" y="1421343"/>
              <a:ext cx="2523600" cy="7200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跨尺度层级异构迁移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数据采样粒度异构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传感信息维度异构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退化动态特性异构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54CC74C3-4F05-A964-7D64-161C6E07074E}"/>
                </a:ext>
              </a:extLst>
            </p:cNvPr>
            <p:cNvSpPr/>
            <p:nvPr/>
          </p:nvSpPr>
          <p:spPr>
            <a:xfrm>
              <a:off x="1796562" y="2940685"/>
              <a:ext cx="2523600" cy="7200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反演重构的双重漂移自适应网络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结构引导的极化状态反演模块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两阶段时序分布演化建模模块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基于混合专家的个体漂移建模模块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10C46AF6-58FD-CA06-A630-AD1649E4E09C}"/>
                </a:ext>
              </a:extLst>
            </p:cNvPr>
            <p:cNvSpPr/>
            <p:nvPr/>
          </p:nvSpPr>
          <p:spPr>
            <a:xfrm>
              <a:off x="4391172" y="2940685"/>
              <a:ext cx="2523600" cy="7200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迭代式因果外推驱动的退化迁移网络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前门因果不变表征框架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基于干预外推的退化泛化模块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迭代式因果特征去噪模块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94C05F7-6158-93CA-328F-FBD6274E7483}"/>
                </a:ext>
              </a:extLst>
            </p:cNvPr>
            <p:cNvSpPr/>
            <p:nvPr/>
          </p:nvSpPr>
          <p:spPr>
            <a:xfrm>
              <a:off x="6985782" y="2940685"/>
              <a:ext cx="2523600" cy="7200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概率式异构表征对齐网络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基于神经过程的连续时间建模模块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非对称对齐调制器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感知不确定性的非单调退化路径回归器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E57ADE70-EDA2-5767-23B4-8C3534E9407F}"/>
                </a:ext>
              </a:extLst>
            </p:cNvPr>
            <p:cNvCxnSpPr>
              <a:stCxn id="60" idx="2"/>
              <a:endCxn id="67" idx="0"/>
            </p:cNvCxnSpPr>
            <p:nvPr/>
          </p:nvCxnSpPr>
          <p:spPr>
            <a:xfrm>
              <a:off x="3058362" y="2141343"/>
              <a:ext cx="0" cy="7993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33D920FD-B74B-F52D-32D2-4477CCA93A1C}"/>
                </a:ext>
              </a:extLst>
            </p:cNvPr>
            <p:cNvCxnSpPr>
              <a:stCxn id="61" idx="2"/>
              <a:endCxn id="68" idx="0"/>
            </p:cNvCxnSpPr>
            <p:nvPr/>
          </p:nvCxnSpPr>
          <p:spPr>
            <a:xfrm>
              <a:off x="5652972" y="2141343"/>
              <a:ext cx="0" cy="7993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5A871B14-14AB-08FA-D11E-B4AB756832AC}"/>
                </a:ext>
              </a:extLst>
            </p:cNvPr>
            <p:cNvCxnSpPr>
              <a:stCxn id="62" idx="2"/>
              <a:endCxn id="69" idx="0"/>
            </p:cNvCxnSpPr>
            <p:nvPr/>
          </p:nvCxnSpPr>
          <p:spPr>
            <a:xfrm>
              <a:off x="8247582" y="2141343"/>
              <a:ext cx="0" cy="7993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肘形 13">
              <a:extLst>
                <a:ext uri="{FF2B5EF4-FFF2-40B4-BE49-F238E27FC236}">
                  <a16:creationId xmlns:a16="http://schemas.microsoft.com/office/drawing/2014/main" id="{6846E025-A556-6F8C-82F0-3A182AD9158A}"/>
                </a:ext>
              </a:extLst>
            </p:cNvPr>
            <p:cNvCxnSpPr>
              <a:stCxn id="60" idx="0"/>
              <a:endCxn id="62" idx="0"/>
            </p:cNvCxnSpPr>
            <p:nvPr/>
          </p:nvCxnSpPr>
          <p:spPr>
            <a:xfrm rot="5400000" flipH="1" flipV="1">
              <a:off x="5652972" y="-1173267"/>
              <a:ext cx="12700" cy="5189220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triangle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CA77E2E-E4D6-63C0-F47A-6051458C742F}"/>
                </a:ext>
              </a:extLst>
            </p:cNvPr>
            <p:cNvCxnSpPr>
              <a:stCxn id="59" idx="2"/>
              <a:endCxn id="61" idx="0"/>
            </p:cNvCxnSpPr>
            <p:nvPr/>
          </p:nvCxnSpPr>
          <p:spPr>
            <a:xfrm flipH="1">
              <a:off x="5652972" y="1064518"/>
              <a:ext cx="1" cy="3568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ED383F0-2D74-0C9D-19B4-57A390118EF5}"/>
                </a:ext>
              </a:extLst>
            </p:cNvPr>
            <p:cNvSpPr/>
            <p:nvPr/>
          </p:nvSpPr>
          <p:spPr>
            <a:xfrm>
              <a:off x="1796561" y="4192258"/>
              <a:ext cx="1467338" cy="586995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使用简化放电协议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（仅高倍率放电事件）的循环老化数据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21505B7-BFFA-FA43-2F25-F4448EBC86AC}"/>
                </a:ext>
              </a:extLst>
            </p:cNvPr>
            <p:cNvSpPr/>
            <p:nvPr/>
          </p:nvSpPr>
          <p:spPr>
            <a:xfrm>
              <a:off x="5960216" y="4192355"/>
              <a:ext cx="1467338" cy="5868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使用完整任务剖面放电协议（起飞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巡航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降落）的循环老化数据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9427785-8687-EDA3-9088-0CB8102BD7D5}"/>
                </a:ext>
              </a:extLst>
            </p:cNvPr>
            <p:cNvSpPr/>
            <p:nvPr/>
          </p:nvSpPr>
          <p:spPr>
            <a:xfrm>
              <a:off x="8042045" y="4192355"/>
              <a:ext cx="1467337" cy="5868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eVTOL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电池包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循环老化数据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5ED3EAA-A6C4-D28B-1187-9BC5678FB670}"/>
                </a:ext>
              </a:extLst>
            </p:cNvPr>
            <p:cNvSpPr/>
            <p:nvPr/>
          </p:nvSpPr>
          <p:spPr>
            <a:xfrm>
              <a:off x="3878389" y="4192355"/>
              <a:ext cx="1467337" cy="586800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使用通用放电协议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（通常是恒流放电）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的循环老化数据</a:t>
              </a:r>
            </a:p>
          </p:txBody>
        </p:sp>
        <p:cxnSp>
          <p:nvCxnSpPr>
            <p:cNvPr id="23" name="连接符: 曲线 22">
              <a:extLst>
                <a:ext uri="{FF2B5EF4-FFF2-40B4-BE49-F238E27FC236}">
                  <a16:creationId xmlns:a16="http://schemas.microsoft.com/office/drawing/2014/main" id="{C728B93F-6ED3-0468-C5CE-3AFEEAD7CC6B}"/>
                </a:ext>
              </a:extLst>
            </p:cNvPr>
            <p:cNvCxnSpPr>
              <a:stCxn id="17" idx="0"/>
              <a:endCxn id="67" idx="2"/>
            </p:cNvCxnSpPr>
            <p:nvPr/>
          </p:nvCxnSpPr>
          <p:spPr>
            <a:xfrm rot="5400000" flipH="1" flipV="1">
              <a:off x="2528510" y="3662406"/>
              <a:ext cx="531573" cy="528132"/>
            </a:xfrm>
            <a:prstGeom prst="curvedConnector3">
              <a:avLst>
                <a:gd name="adj1" fmla="val 45221"/>
              </a:avLst>
            </a:prstGeom>
            <a:ln w="19050"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连接符: 曲线 25">
              <a:extLst>
                <a:ext uri="{FF2B5EF4-FFF2-40B4-BE49-F238E27FC236}">
                  <a16:creationId xmlns:a16="http://schemas.microsoft.com/office/drawing/2014/main" id="{447D4D14-6F71-5DBB-DB81-20150DF02BB9}"/>
                </a:ext>
              </a:extLst>
            </p:cNvPr>
            <p:cNvCxnSpPr>
              <a:stCxn id="20" idx="0"/>
              <a:endCxn id="68" idx="2"/>
            </p:cNvCxnSpPr>
            <p:nvPr/>
          </p:nvCxnSpPr>
          <p:spPr>
            <a:xfrm rot="5400000" flipH="1" flipV="1">
              <a:off x="4866680" y="3406063"/>
              <a:ext cx="531670" cy="1040914"/>
            </a:xfrm>
            <a:prstGeom prst="curvedConnector3">
              <a:avLst/>
            </a:prstGeom>
            <a:ln w="19050"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连接符: 曲线 27">
              <a:extLst>
                <a:ext uri="{FF2B5EF4-FFF2-40B4-BE49-F238E27FC236}">
                  <a16:creationId xmlns:a16="http://schemas.microsoft.com/office/drawing/2014/main" id="{547DA9C5-6E1B-14DC-0CA1-5E8A3900E533}"/>
                </a:ext>
              </a:extLst>
            </p:cNvPr>
            <p:cNvCxnSpPr>
              <a:stCxn id="18" idx="0"/>
              <a:endCxn id="68" idx="2"/>
            </p:cNvCxnSpPr>
            <p:nvPr/>
          </p:nvCxnSpPr>
          <p:spPr>
            <a:xfrm rot="16200000" flipV="1">
              <a:off x="5907594" y="3406063"/>
              <a:ext cx="531670" cy="1040913"/>
            </a:xfrm>
            <a:prstGeom prst="curvedConnector3">
              <a:avLst/>
            </a:prstGeom>
            <a:ln w="19050"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连接符: 曲线 29">
              <a:extLst>
                <a:ext uri="{FF2B5EF4-FFF2-40B4-BE49-F238E27FC236}">
                  <a16:creationId xmlns:a16="http://schemas.microsoft.com/office/drawing/2014/main" id="{444020AE-7760-E485-C066-6003B6F3F123}"/>
                </a:ext>
              </a:extLst>
            </p:cNvPr>
            <p:cNvCxnSpPr>
              <a:stCxn id="18" idx="0"/>
              <a:endCxn id="69" idx="2"/>
            </p:cNvCxnSpPr>
            <p:nvPr/>
          </p:nvCxnSpPr>
          <p:spPr>
            <a:xfrm rot="5400000" flipH="1" flipV="1">
              <a:off x="7204898" y="3149672"/>
              <a:ext cx="531670" cy="1553697"/>
            </a:xfrm>
            <a:prstGeom prst="curvedConnector3">
              <a:avLst/>
            </a:prstGeom>
            <a:ln w="19050"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连接符: 曲线 31">
              <a:extLst>
                <a:ext uri="{FF2B5EF4-FFF2-40B4-BE49-F238E27FC236}">
                  <a16:creationId xmlns:a16="http://schemas.microsoft.com/office/drawing/2014/main" id="{A18161D9-09E3-E703-F305-FDCA3A2D4DCE}"/>
                </a:ext>
              </a:extLst>
            </p:cNvPr>
            <p:cNvCxnSpPr>
              <a:stCxn id="19" idx="0"/>
              <a:endCxn id="69" idx="2"/>
            </p:cNvCxnSpPr>
            <p:nvPr/>
          </p:nvCxnSpPr>
          <p:spPr>
            <a:xfrm rot="16200000" flipV="1">
              <a:off x="8245813" y="3662454"/>
              <a:ext cx="531670" cy="528132"/>
            </a:xfrm>
            <a:prstGeom prst="curvedConnector3">
              <a:avLst/>
            </a:prstGeom>
            <a:ln w="19050"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CC1B98E-B262-8809-E2E3-888E83F920C0}"/>
                </a:ext>
              </a:extLst>
            </p:cNvPr>
            <p:cNvSpPr/>
            <p:nvPr/>
          </p:nvSpPr>
          <p:spPr>
            <a:xfrm>
              <a:off x="2371050" y="5189943"/>
              <a:ext cx="3128984" cy="326897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（研究方法上）基于物理融合神经网络的方法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FBB8254-B0E2-E029-7121-A4368965F9F6}"/>
                </a:ext>
              </a:extLst>
            </p:cNvPr>
            <p:cNvSpPr/>
            <p:nvPr/>
          </p:nvSpPr>
          <p:spPr>
            <a:xfrm>
              <a:off x="5805910" y="5189943"/>
              <a:ext cx="3185689" cy="326897"/>
            </a:xfrm>
            <a:prstGeom prst="rect">
              <a:avLst/>
            </a:prstGeom>
            <a:noFill/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（研究问题上）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eVTOL</a:t>
              </a:r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电池包故障诊断相关问题</a:t>
              </a: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3E2164F2-DA51-BF88-EA7E-1F703FDB1BE6}"/>
                </a:ext>
              </a:extLst>
            </p:cNvPr>
            <p:cNvCxnSpPr/>
            <p:nvPr/>
          </p:nvCxnSpPr>
          <p:spPr>
            <a:xfrm>
              <a:off x="10115550" y="3687493"/>
              <a:ext cx="0" cy="6691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C20A64BF-1E0D-57B6-9CFE-C4AEEA5E15D4}"/>
                </a:ext>
              </a:extLst>
            </p:cNvPr>
            <p:cNvSpPr/>
            <p:nvPr/>
          </p:nvSpPr>
          <p:spPr>
            <a:xfrm>
              <a:off x="2429122" y="2324790"/>
              <a:ext cx="1254368" cy="37779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物理结构引导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的模式挖掘</a:t>
              </a:r>
              <a:endParaRPr lang="en-US" altLang="zh-CN" sz="11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E6BEC5C1-401D-992D-78E5-FF3377C044F9}"/>
                </a:ext>
              </a:extLst>
            </p:cNvPr>
            <p:cNvSpPr/>
            <p:nvPr/>
          </p:nvSpPr>
          <p:spPr>
            <a:xfrm>
              <a:off x="5023732" y="2324686"/>
              <a:ext cx="1254368" cy="37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前门因果准则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36F1823-2AFE-1E05-0AD1-49BE942A98E9}"/>
                </a:ext>
              </a:extLst>
            </p:cNvPr>
            <p:cNvSpPr/>
            <p:nvPr/>
          </p:nvSpPr>
          <p:spPr>
            <a:xfrm>
              <a:off x="7617183" y="2324686"/>
              <a:ext cx="1254368" cy="37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>
                  <a:latin typeface="宋体" panose="02010600030101010101" pitchFamily="2" charset="-122"/>
                  <a:ea typeface="宋体" panose="02010600030101010101" pitchFamily="2" charset="-122"/>
                </a:rPr>
                <a:t>概率式领域迁移</a:t>
              </a:r>
            </a:p>
          </p:txBody>
        </p:sp>
        <p:cxnSp>
          <p:nvCxnSpPr>
            <p:cNvPr id="76" name="连接符: 肘形 75">
              <a:extLst>
                <a:ext uri="{FF2B5EF4-FFF2-40B4-BE49-F238E27FC236}">
                  <a16:creationId xmlns:a16="http://schemas.microsoft.com/office/drawing/2014/main" id="{6ACA1AA9-2A76-10C0-21EA-F9928ABCEC94}"/>
                </a:ext>
              </a:extLst>
            </p:cNvPr>
            <p:cNvCxnSpPr>
              <a:stCxn id="17" idx="2"/>
              <a:endCxn id="18" idx="2"/>
            </p:cNvCxnSpPr>
            <p:nvPr/>
          </p:nvCxnSpPr>
          <p:spPr>
            <a:xfrm rot="5400000" flipH="1" flipV="1">
              <a:off x="4612008" y="2697376"/>
              <a:ext cx="98" cy="4163655"/>
            </a:xfrm>
            <a:prstGeom prst="bentConnector3">
              <a:avLst>
                <a:gd name="adj1" fmla="val -165231633"/>
              </a:avLst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D9DCDAA3-1B9B-5047-2971-76B2FE16AD56}"/>
                </a:ext>
              </a:extLst>
            </p:cNvPr>
            <p:cNvCxnSpPr>
              <a:stCxn id="18" idx="3"/>
              <a:endCxn id="19" idx="1"/>
            </p:cNvCxnSpPr>
            <p:nvPr/>
          </p:nvCxnSpPr>
          <p:spPr>
            <a:xfrm>
              <a:off x="7427554" y="4485755"/>
              <a:ext cx="61449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4282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527</Words>
  <Application>Microsoft Office PowerPoint</Application>
  <PresentationFormat>宽屏</PresentationFormat>
  <Paragraphs>97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lxh</dc:creator>
  <cp:lastModifiedBy>lxh</cp:lastModifiedBy>
  <cp:revision>170</cp:revision>
  <dcterms:created xsi:type="dcterms:W3CDTF">2025-12-04T07:10:15Z</dcterms:created>
  <dcterms:modified xsi:type="dcterms:W3CDTF">2026-04-07T05:22:00Z</dcterms:modified>
</cp:coreProperties>
</file>