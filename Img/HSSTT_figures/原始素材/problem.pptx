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ti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1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Xinhui Lin" initials="XL" lastIdx="1" clrIdx="0">
    <p:extLst>
      <p:ext uri="{19B8F6BF-5375-455C-9EA6-DF929625EA0E}">
        <p15:presenceInfo xmlns:p15="http://schemas.microsoft.com/office/powerpoint/2012/main" userId="47b58db76a1e8795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中度样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5218" autoAdjust="0"/>
  </p:normalViewPr>
  <p:slideViewPr>
    <p:cSldViewPr snapToGrid="0">
      <p:cViewPr varScale="1">
        <p:scale>
          <a:sx n="161" d="100"/>
          <a:sy n="161" d="100"/>
        </p:scale>
        <p:origin x="150" y="342"/>
      </p:cViewPr>
      <p:guideLst>
        <p:guide orient="horz" pos="2160"/>
        <p:guide pos="384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notesMaster" Target="notesMasters/notesMaster1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commentAuthors" Target="commentAuthor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CFA0BA2-2A19-4449-999F-4326F67BD746}" type="datetimeFigureOut">
              <a:rPr lang="zh-CN" altLang="en-US" smtClean="0"/>
              <a:t>2026/4/8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AC4C3B4-91AF-4727-84D8-C2A869047F2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297425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9287FDD-A7EC-0553-CA9B-8265FA2A80B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1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7A610964-351F-0EEB-D539-BD8C0D542C6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1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191" indent="0" algn="ctr">
              <a:buNone/>
              <a:defRPr sz="2000"/>
            </a:lvl2pPr>
            <a:lvl3pPr marL="914382" indent="0" algn="ctr">
              <a:buNone/>
              <a:defRPr sz="1799"/>
            </a:lvl3pPr>
            <a:lvl4pPr marL="1371572" indent="0" algn="ctr">
              <a:buNone/>
              <a:defRPr sz="1600"/>
            </a:lvl4pPr>
            <a:lvl5pPr marL="1828763" indent="0" algn="ctr">
              <a:buNone/>
              <a:defRPr sz="1600"/>
            </a:lvl5pPr>
            <a:lvl6pPr marL="2285954" indent="0" algn="ctr">
              <a:buNone/>
              <a:defRPr sz="1600"/>
            </a:lvl6pPr>
            <a:lvl7pPr marL="2743145" indent="0" algn="ctr">
              <a:buNone/>
              <a:defRPr sz="1600"/>
            </a:lvl7pPr>
            <a:lvl8pPr marL="3200334" indent="0" algn="ctr">
              <a:buNone/>
              <a:defRPr sz="1600"/>
            </a:lvl8pPr>
            <a:lvl9pPr marL="3657525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F820573-075C-5CFE-C5D2-71E16E61A9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2A127F-42BB-47B6-9DD0-63FB11CC49CC}" type="datetimeFigureOut">
              <a:rPr lang="zh-CN" altLang="en-US" smtClean="0"/>
              <a:t>2026/4/8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0C22B72-A438-FCF9-37F9-E89D78EAD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F3CB66E-CD93-64B4-BC23-CA585E6C66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FB92C4-1D39-4889-9BBD-8AE52CD35A6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875862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E6E3025-82CF-954C-7955-E6950B2867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ABA9DF0-8BC2-4321-93A2-FFF22F8659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0E809F5-6482-D90D-8FF3-D12D7D3772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2A127F-42BB-47B6-9DD0-63FB11CC49CC}" type="datetimeFigureOut">
              <a:rPr lang="zh-CN" altLang="en-US" smtClean="0"/>
              <a:t>2026/4/8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A59A2B1-2EAC-8406-5D59-F6059905A8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6343BB3-FE0B-4377-E078-69DC9EAD45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FB92C4-1D39-4889-9BBD-8AE52CD35A6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564225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4723E59-6796-DC70-C650-3803F2CDD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40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8CED5BB-9BBD-63FD-9329-701091258E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5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191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82" indent="0">
              <a:buNone/>
              <a:defRPr sz="1799">
                <a:solidFill>
                  <a:schemeClr val="tx1">
                    <a:tint val="75000"/>
                  </a:schemeClr>
                </a:solidFill>
              </a:defRPr>
            </a:lvl3pPr>
            <a:lvl4pPr marL="137157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6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45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3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25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28E881C-5CB1-9B69-4797-9C77C7EF08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2A127F-42BB-47B6-9DD0-63FB11CC49CC}" type="datetimeFigureOut">
              <a:rPr lang="zh-CN" altLang="en-US" smtClean="0"/>
              <a:t>2026/4/8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89860F1-2F8E-18AA-AF23-7318422A9D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DB9F5B1-E7B8-F1AB-48DF-7799481F53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FB92C4-1D39-4889-9BBD-8AE52CD35A6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023168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3EDE07A-3080-5D59-6DDE-AFD112083D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37F0281-DDDC-A497-FCAF-91CE9C2B9CA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1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0DFAA3C0-6A60-AB38-E8CF-C69789F13B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C916FE16-0D16-ADD8-C696-22BA123AFD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2A127F-42BB-47B6-9DD0-63FB11CC49CC}" type="datetimeFigureOut">
              <a:rPr lang="zh-CN" altLang="en-US" smtClean="0"/>
              <a:t>2026/4/8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F5E096A3-3E62-494B-D9FF-D24105FD7D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F91E83C-9DCE-7B67-DB9C-0739005327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FB92C4-1D39-4889-9BBD-8AE52CD35A6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591985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775D16D-9BDE-B358-FC99-197F7A7B89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7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7F3ABB2-D321-9C97-C498-72A6F71D1A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91" indent="0">
              <a:buNone/>
              <a:defRPr sz="2000" b="1"/>
            </a:lvl2pPr>
            <a:lvl3pPr marL="914382" indent="0">
              <a:buNone/>
              <a:defRPr sz="1799" b="1"/>
            </a:lvl3pPr>
            <a:lvl4pPr marL="1371572" indent="0">
              <a:buNone/>
              <a:defRPr sz="1600" b="1"/>
            </a:lvl4pPr>
            <a:lvl5pPr marL="1828763" indent="0">
              <a:buNone/>
              <a:defRPr sz="1600" b="1"/>
            </a:lvl5pPr>
            <a:lvl6pPr marL="2285954" indent="0">
              <a:buNone/>
              <a:defRPr sz="1600" b="1"/>
            </a:lvl6pPr>
            <a:lvl7pPr marL="2743145" indent="0">
              <a:buNone/>
              <a:defRPr sz="1600" b="1"/>
            </a:lvl7pPr>
            <a:lvl8pPr marL="3200334" indent="0">
              <a:buNone/>
              <a:defRPr sz="1600" b="1"/>
            </a:lvl8pPr>
            <a:lvl9pPr marL="3657525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C417324-A4DD-6988-5318-4E9DAB162D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41688147-4FA5-93BB-BB87-88BEBF45A3F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91" indent="0">
              <a:buNone/>
              <a:defRPr sz="2000" b="1"/>
            </a:lvl2pPr>
            <a:lvl3pPr marL="914382" indent="0">
              <a:buNone/>
              <a:defRPr sz="1799" b="1"/>
            </a:lvl3pPr>
            <a:lvl4pPr marL="1371572" indent="0">
              <a:buNone/>
              <a:defRPr sz="1600" b="1"/>
            </a:lvl4pPr>
            <a:lvl5pPr marL="1828763" indent="0">
              <a:buNone/>
              <a:defRPr sz="1600" b="1"/>
            </a:lvl5pPr>
            <a:lvl6pPr marL="2285954" indent="0">
              <a:buNone/>
              <a:defRPr sz="1600" b="1"/>
            </a:lvl6pPr>
            <a:lvl7pPr marL="2743145" indent="0">
              <a:buNone/>
              <a:defRPr sz="1600" b="1"/>
            </a:lvl7pPr>
            <a:lvl8pPr marL="3200334" indent="0">
              <a:buNone/>
              <a:defRPr sz="1600" b="1"/>
            </a:lvl8pPr>
            <a:lvl9pPr marL="3657525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96EB7C32-433B-D076-8823-52C16C704D3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0213E010-31DB-2902-A65E-81F667C6CA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2A127F-42BB-47B6-9DD0-63FB11CC49CC}" type="datetimeFigureOut">
              <a:rPr lang="zh-CN" altLang="en-US" smtClean="0"/>
              <a:t>2026/4/8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29251676-35A0-757B-BE52-E83D321767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23503D89-CFE9-9679-B69B-4226AC524A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FB92C4-1D39-4889-9BBD-8AE52CD35A6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797074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1EE42AA-954E-7C58-9B80-BD1E3DDE06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FA0070A7-23BF-2ABA-402F-CBC5AB7602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2A127F-42BB-47B6-9DD0-63FB11CC49CC}" type="datetimeFigureOut">
              <a:rPr lang="zh-CN" altLang="en-US" smtClean="0"/>
              <a:t>2026/4/8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E5652DC1-6E1B-9A7E-0BAF-510B1DA530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BC30A9E6-FF03-AE19-AA0E-41896E75D7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FB92C4-1D39-4889-9BBD-8AE52CD35A6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772846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3229E19E-8048-9AA5-0C2C-FDAE0FC4F4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2A127F-42BB-47B6-9DD0-63FB11CC49CC}" type="datetimeFigureOut">
              <a:rPr lang="zh-CN" altLang="en-US" smtClean="0"/>
              <a:t>2026/4/8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929AC07E-3466-CBAB-2614-5D61BA685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7230FBF-497D-77A6-C9DC-042CAC543C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FB92C4-1D39-4889-9BBD-8AE52CD35A6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185724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5620ED1-91AC-309B-E640-448DD12C24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85AEF00-C954-E124-3E6F-74FE1BCFAA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7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554B1F00-58DB-0047-419A-6FCF978A004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91" indent="0">
              <a:buNone/>
              <a:defRPr sz="1400"/>
            </a:lvl2pPr>
            <a:lvl3pPr marL="914382" indent="0">
              <a:buNone/>
              <a:defRPr sz="1200"/>
            </a:lvl3pPr>
            <a:lvl4pPr marL="1371572" indent="0">
              <a:buNone/>
              <a:defRPr sz="1000"/>
            </a:lvl4pPr>
            <a:lvl5pPr marL="1828763" indent="0">
              <a:buNone/>
              <a:defRPr sz="1000"/>
            </a:lvl5pPr>
            <a:lvl6pPr marL="2285954" indent="0">
              <a:buNone/>
              <a:defRPr sz="1000"/>
            </a:lvl6pPr>
            <a:lvl7pPr marL="2743145" indent="0">
              <a:buNone/>
              <a:defRPr sz="1000"/>
            </a:lvl7pPr>
            <a:lvl8pPr marL="3200334" indent="0">
              <a:buNone/>
              <a:defRPr sz="1000"/>
            </a:lvl8pPr>
            <a:lvl9pPr marL="3657525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F534FAA-D2FF-7ED2-0D69-06997F4625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2A127F-42BB-47B6-9DD0-63FB11CC49CC}" type="datetimeFigureOut">
              <a:rPr lang="zh-CN" altLang="en-US" smtClean="0"/>
              <a:t>2026/4/8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78AD06D-69CD-92D9-8F9B-CEA23241D9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821646B-FC21-5AA8-FA59-3D1ACEEA66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FB92C4-1D39-4889-9BBD-8AE52CD35A6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627457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8FC503E-0AF7-4546-DF9C-21B1F5B5B0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3DE29F21-BBDC-4A02-96D0-53FA23B4DE2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7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191" indent="0">
              <a:buNone/>
              <a:defRPr sz="2800"/>
            </a:lvl2pPr>
            <a:lvl3pPr marL="914382" indent="0">
              <a:buNone/>
              <a:defRPr sz="2400"/>
            </a:lvl3pPr>
            <a:lvl4pPr marL="1371572" indent="0">
              <a:buNone/>
              <a:defRPr sz="2000"/>
            </a:lvl4pPr>
            <a:lvl5pPr marL="1828763" indent="0">
              <a:buNone/>
              <a:defRPr sz="2000"/>
            </a:lvl5pPr>
            <a:lvl6pPr marL="2285954" indent="0">
              <a:buNone/>
              <a:defRPr sz="2000"/>
            </a:lvl6pPr>
            <a:lvl7pPr marL="2743145" indent="0">
              <a:buNone/>
              <a:defRPr sz="2000"/>
            </a:lvl7pPr>
            <a:lvl8pPr marL="3200334" indent="0">
              <a:buNone/>
              <a:defRPr sz="2000"/>
            </a:lvl8pPr>
            <a:lvl9pPr marL="3657525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D5EC83EB-9A85-CB1D-EF83-B8750B4641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91" indent="0">
              <a:buNone/>
              <a:defRPr sz="1400"/>
            </a:lvl2pPr>
            <a:lvl3pPr marL="914382" indent="0">
              <a:buNone/>
              <a:defRPr sz="1200"/>
            </a:lvl3pPr>
            <a:lvl4pPr marL="1371572" indent="0">
              <a:buNone/>
              <a:defRPr sz="1000"/>
            </a:lvl4pPr>
            <a:lvl5pPr marL="1828763" indent="0">
              <a:buNone/>
              <a:defRPr sz="1000"/>
            </a:lvl5pPr>
            <a:lvl6pPr marL="2285954" indent="0">
              <a:buNone/>
              <a:defRPr sz="1000"/>
            </a:lvl6pPr>
            <a:lvl7pPr marL="2743145" indent="0">
              <a:buNone/>
              <a:defRPr sz="1000"/>
            </a:lvl7pPr>
            <a:lvl8pPr marL="3200334" indent="0">
              <a:buNone/>
              <a:defRPr sz="1000"/>
            </a:lvl8pPr>
            <a:lvl9pPr marL="3657525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9EFBBFE-8124-C7F7-D51C-A00C1CBABB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2A127F-42BB-47B6-9DD0-63FB11CC49CC}" type="datetimeFigureOut">
              <a:rPr lang="zh-CN" altLang="en-US" smtClean="0"/>
              <a:t>2026/4/8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BFA5316-FFB8-045E-7BEE-9D138754C9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3CD9819-F21F-7BD7-6D51-220C66986A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FB92C4-1D39-4889-9BBD-8AE52CD35A6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711901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16A1279-249A-3511-1A22-D6FDA697F0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30ECDEB1-5A24-6182-B124-97F9E69ABC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75E121E-00F6-BA5F-BF8D-7A7FF45753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2A127F-42BB-47B6-9DD0-63FB11CC49CC}" type="datetimeFigureOut">
              <a:rPr lang="zh-CN" altLang="en-US" smtClean="0"/>
              <a:t>2026/4/8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05308D4-4FE3-7A3B-349B-EB0AD066AF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65CDB0C-4E54-EDD3-8987-2B9D75717B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FB92C4-1D39-4889-9BBD-8AE52CD35A6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202532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665CF575-74CE-6010-8914-A3B5F96C806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CCCFC6B9-7457-4289-57E6-6399E08C649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1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BB72BF3-AC44-8748-A433-1F33603A3C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2A127F-42BB-47B6-9DD0-63FB11CC49CC}" type="datetimeFigureOut">
              <a:rPr lang="zh-CN" altLang="en-US" smtClean="0"/>
              <a:t>2026/4/8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258A232-795A-99AD-8F8C-6837DAAB5B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753FF52-D165-2814-3588-BF0E42137A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FB92C4-1D39-4889-9BBD-8AE52CD35A6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07792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9FA43BA1-F6CB-2163-2701-FD7507D8D2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365127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CB02E18-B806-39B2-07E2-460ED74427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1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71EFA07-46F2-8378-0896-271BECBD882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1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2A127F-42BB-47B6-9DD0-63FB11CC49CC}" type="datetimeFigureOut">
              <a:rPr lang="zh-CN" altLang="en-US" smtClean="0"/>
              <a:t>2026/4/8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B6AC65E-72A2-E71E-B271-EDA62AF9D36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1" y="635635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A8EB795-4479-411F-2077-24B59B3F22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FB92C4-1D39-4889-9BBD-8AE52CD35A6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462964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382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95" indent="-228595" algn="l" defTabSz="914382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86" indent="-228595" algn="l" defTabSz="91438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76" indent="-228595" algn="l" defTabSz="91438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67" indent="-228595" algn="l" defTabSz="91438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4pPr>
      <a:lvl5pPr marL="2057358" indent="-228595" algn="l" defTabSz="91438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5pPr>
      <a:lvl6pPr marL="2514549" indent="-228595" algn="l" defTabSz="91438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6pPr>
      <a:lvl7pPr marL="2971739" indent="-228595" algn="l" defTabSz="91438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7pPr>
      <a:lvl8pPr marL="3428930" indent="-228595" algn="l" defTabSz="91438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8pPr>
      <a:lvl9pPr marL="3886121" indent="-228595" algn="l" defTabSz="91438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382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1pPr>
      <a:lvl2pPr marL="457191" algn="l" defTabSz="914382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2pPr>
      <a:lvl3pPr marL="914382" algn="l" defTabSz="914382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3pPr>
      <a:lvl4pPr marL="1371572" algn="l" defTabSz="914382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4pPr>
      <a:lvl5pPr marL="1828763" algn="l" defTabSz="914382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5pPr>
      <a:lvl6pPr marL="2285954" algn="l" defTabSz="914382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6pPr>
      <a:lvl7pPr marL="2743145" algn="l" defTabSz="914382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7pPr>
      <a:lvl8pPr marL="3200334" algn="l" defTabSz="914382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8pPr>
      <a:lvl9pPr marL="3657525" algn="l" defTabSz="914382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tif"/><Relationship Id="rId2" Type="http://schemas.openxmlformats.org/officeDocument/2006/relationships/image" Target="../media/image1.tif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ti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组合 4">
            <a:extLst>
              <a:ext uri="{FF2B5EF4-FFF2-40B4-BE49-F238E27FC236}">
                <a16:creationId xmlns:a16="http://schemas.microsoft.com/office/drawing/2014/main" id="{517DCA15-88A8-A38A-6448-8B674A831456}"/>
              </a:ext>
            </a:extLst>
          </p:cNvPr>
          <p:cNvGrpSpPr/>
          <p:nvPr/>
        </p:nvGrpSpPr>
        <p:grpSpPr>
          <a:xfrm>
            <a:off x="1848886" y="555479"/>
            <a:ext cx="8128918" cy="3921780"/>
            <a:chOff x="1848886" y="555479"/>
            <a:chExt cx="8128918" cy="3921780"/>
          </a:xfrm>
        </p:grpSpPr>
        <p:sp>
          <p:nvSpPr>
            <p:cNvPr id="95" name="矩形: 圆角 94">
              <a:extLst>
                <a:ext uri="{FF2B5EF4-FFF2-40B4-BE49-F238E27FC236}">
                  <a16:creationId xmlns:a16="http://schemas.microsoft.com/office/drawing/2014/main" id="{6841919D-1644-1A13-DF46-E50183154D5D}"/>
                </a:ext>
              </a:extLst>
            </p:cNvPr>
            <p:cNvSpPr/>
            <p:nvPr/>
          </p:nvSpPr>
          <p:spPr>
            <a:xfrm>
              <a:off x="3573345" y="4115308"/>
              <a:ext cx="4680000" cy="361951"/>
            </a:xfrm>
            <a:prstGeom prst="roundRect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CN" altLang="en-US" b="1" dirty="0">
                  <a:latin typeface="宋体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rPr>
                <a:t>不确定性驱动的时空退化依赖建模</a:t>
              </a:r>
            </a:p>
          </p:txBody>
        </p:sp>
        <p:grpSp>
          <p:nvGrpSpPr>
            <p:cNvPr id="4" name="组合 3">
              <a:extLst>
                <a:ext uri="{FF2B5EF4-FFF2-40B4-BE49-F238E27FC236}">
                  <a16:creationId xmlns:a16="http://schemas.microsoft.com/office/drawing/2014/main" id="{A5F6E60C-E241-7486-0C07-324A25235402}"/>
                </a:ext>
              </a:extLst>
            </p:cNvPr>
            <p:cNvGrpSpPr/>
            <p:nvPr/>
          </p:nvGrpSpPr>
          <p:grpSpPr>
            <a:xfrm>
              <a:off x="1848886" y="555479"/>
              <a:ext cx="8128918" cy="3452649"/>
              <a:chOff x="2031694" y="555479"/>
              <a:chExt cx="8128918" cy="3452649"/>
            </a:xfrm>
          </p:grpSpPr>
          <p:pic>
            <p:nvPicPr>
              <p:cNvPr id="71" name="图片 70">
                <a:extLst>
                  <a:ext uri="{FF2B5EF4-FFF2-40B4-BE49-F238E27FC236}">
                    <a16:creationId xmlns:a16="http://schemas.microsoft.com/office/drawing/2014/main" id="{403775F3-FCD3-5330-8C6C-F83BF13EBC7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032000" y="985630"/>
                <a:ext cx="2690165" cy="2170481"/>
              </a:xfrm>
              <a:prstGeom prst="rect">
                <a:avLst/>
              </a:prstGeom>
            </p:spPr>
          </p:pic>
          <p:pic>
            <p:nvPicPr>
              <p:cNvPr id="72" name="图片 71">
                <a:extLst>
                  <a:ext uri="{FF2B5EF4-FFF2-40B4-BE49-F238E27FC236}">
                    <a16:creationId xmlns:a16="http://schemas.microsoft.com/office/drawing/2014/main" id="{B5626D65-B8BD-4461-39B7-FB526928F45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750919" y="985630"/>
                <a:ext cx="2690165" cy="2170481"/>
              </a:xfrm>
              <a:prstGeom prst="rect">
                <a:avLst/>
              </a:prstGeom>
            </p:spPr>
          </p:pic>
          <p:pic>
            <p:nvPicPr>
              <p:cNvPr id="73" name="图片 72">
                <a:extLst>
                  <a:ext uri="{FF2B5EF4-FFF2-40B4-BE49-F238E27FC236}">
                    <a16:creationId xmlns:a16="http://schemas.microsoft.com/office/drawing/2014/main" id="{A98628B5-F0B6-B94E-D673-A5D7CBE4169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469838" y="985629"/>
                <a:ext cx="2690774" cy="2171396"/>
              </a:xfrm>
              <a:prstGeom prst="rect">
                <a:avLst/>
              </a:prstGeom>
            </p:spPr>
          </p:pic>
          <p:sp>
            <p:nvSpPr>
              <p:cNvPr id="74" name="矩形: 圆角 73">
                <a:extLst>
                  <a:ext uri="{FF2B5EF4-FFF2-40B4-BE49-F238E27FC236}">
                    <a16:creationId xmlns:a16="http://schemas.microsoft.com/office/drawing/2014/main" id="{EEA7C6FC-9BCC-10DB-4846-FB50F113FC59}"/>
                  </a:ext>
                </a:extLst>
              </p:cNvPr>
              <p:cNvSpPr/>
              <p:nvPr/>
            </p:nvSpPr>
            <p:spPr>
              <a:xfrm>
                <a:off x="2031694" y="555479"/>
                <a:ext cx="2690165" cy="361950"/>
              </a:xfrm>
              <a:prstGeom prst="roundRect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799" b="1" dirty="0">
                    <a:latin typeface="宋体" panose="02010600030101010101" pitchFamily="2" charset="-122"/>
                    <a:ea typeface="宋体" panose="02010600030101010101" pitchFamily="2" charset="-122"/>
                    <a:cs typeface="Times New Roman" panose="02020603050405020304" pitchFamily="18" charset="0"/>
                  </a:rPr>
                  <a:t>确定性估计模型</a:t>
                </a:r>
              </a:p>
            </p:txBody>
          </p:sp>
          <p:sp>
            <p:nvSpPr>
              <p:cNvPr id="75" name="矩形: 圆角 74">
                <a:extLst>
                  <a:ext uri="{FF2B5EF4-FFF2-40B4-BE49-F238E27FC236}">
                    <a16:creationId xmlns:a16="http://schemas.microsoft.com/office/drawing/2014/main" id="{A93DC2A5-6A36-A712-D950-9287398C87C7}"/>
                  </a:ext>
                </a:extLst>
              </p:cNvPr>
              <p:cNvSpPr/>
              <p:nvPr/>
            </p:nvSpPr>
            <p:spPr>
              <a:xfrm>
                <a:off x="4750918" y="555479"/>
                <a:ext cx="2690165" cy="361950"/>
              </a:xfrm>
              <a:prstGeom prst="roundRect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799" b="1" dirty="0">
                    <a:latin typeface="宋体" panose="02010600030101010101" pitchFamily="2" charset="-122"/>
                    <a:ea typeface="宋体" panose="02010600030101010101" pitchFamily="2" charset="-122"/>
                    <a:cs typeface="Times New Roman" panose="02020603050405020304" pitchFamily="18" charset="0"/>
                  </a:rPr>
                  <a:t>未校准的模型</a:t>
                </a:r>
              </a:p>
            </p:txBody>
          </p:sp>
          <p:sp>
            <p:nvSpPr>
              <p:cNvPr id="76" name="矩形: 圆角 75">
                <a:extLst>
                  <a:ext uri="{FF2B5EF4-FFF2-40B4-BE49-F238E27FC236}">
                    <a16:creationId xmlns:a16="http://schemas.microsoft.com/office/drawing/2014/main" id="{2C4E04AB-4998-C523-46DC-04C8945504C0}"/>
                  </a:ext>
                </a:extLst>
              </p:cNvPr>
              <p:cNvSpPr/>
              <p:nvPr/>
            </p:nvSpPr>
            <p:spPr>
              <a:xfrm>
                <a:off x="7470141" y="555479"/>
                <a:ext cx="2690165" cy="361950"/>
              </a:xfrm>
              <a:prstGeom prst="roundRect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799" b="1" dirty="0">
                    <a:latin typeface="宋体" panose="02010600030101010101" pitchFamily="2" charset="-122"/>
                    <a:ea typeface="宋体" panose="02010600030101010101" pitchFamily="2" charset="-122"/>
                    <a:cs typeface="Times New Roman" panose="02020603050405020304" pitchFamily="18" charset="0"/>
                  </a:rPr>
                  <a:t>可信估计模型</a:t>
                </a:r>
              </a:p>
            </p:txBody>
          </p:sp>
          <p:sp>
            <p:nvSpPr>
              <p:cNvPr id="77" name="矩形: 圆角 76">
                <a:extLst>
                  <a:ext uri="{FF2B5EF4-FFF2-40B4-BE49-F238E27FC236}">
                    <a16:creationId xmlns:a16="http://schemas.microsoft.com/office/drawing/2014/main" id="{A20F148F-CB99-1C56-723C-3D9DA4685932}"/>
                  </a:ext>
                </a:extLst>
              </p:cNvPr>
              <p:cNvSpPr/>
              <p:nvPr/>
            </p:nvSpPr>
            <p:spPr>
              <a:xfrm>
                <a:off x="3368394" y="3494427"/>
                <a:ext cx="2576282" cy="361951"/>
              </a:xfrm>
              <a:prstGeom prst="roundRect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b="1" dirty="0">
                    <a:latin typeface="宋体" panose="02010600030101010101" pitchFamily="2" charset="-122"/>
                    <a:ea typeface="宋体" panose="02010600030101010101" pitchFamily="2" charset="-122"/>
                    <a:cs typeface="Times New Roman" panose="02020603050405020304" pitchFamily="18" charset="0"/>
                  </a:rPr>
                  <a:t>不确定性量化</a:t>
                </a:r>
                <a:endParaRPr lang="en-US" altLang="zh-CN" b="1" dirty="0">
                  <a:latin typeface="宋体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78" name="组合 77">
                <a:extLst>
                  <a:ext uri="{FF2B5EF4-FFF2-40B4-BE49-F238E27FC236}">
                    <a16:creationId xmlns:a16="http://schemas.microsoft.com/office/drawing/2014/main" id="{75FD147A-7DE1-CB94-014A-96E386F71D52}"/>
                  </a:ext>
                </a:extLst>
              </p:cNvPr>
              <p:cNvGrpSpPr/>
              <p:nvPr/>
            </p:nvGrpSpPr>
            <p:grpSpPr>
              <a:xfrm>
                <a:off x="3936207" y="3209925"/>
                <a:ext cx="1440656" cy="219076"/>
                <a:chOff x="3936206" y="3209924"/>
                <a:chExt cx="1440657" cy="219076"/>
              </a:xfrm>
            </p:grpSpPr>
            <p:grpSp>
              <p:nvGrpSpPr>
                <p:cNvPr id="79" name="组合 78">
                  <a:extLst>
                    <a:ext uri="{FF2B5EF4-FFF2-40B4-BE49-F238E27FC236}">
                      <a16:creationId xmlns:a16="http://schemas.microsoft.com/office/drawing/2014/main" id="{F7596B0C-AF72-7DCC-2C3B-4F713DC63764}"/>
                    </a:ext>
                  </a:extLst>
                </p:cNvPr>
                <p:cNvGrpSpPr/>
                <p:nvPr/>
              </p:nvGrpSpPr>
              <p:grpSpPr>
                <a:xfrm>
                  <a:off x="3936206" y="3209925"/>
                  <a:ext cx="1440657" cy="219075"/>
                  <a:chOff x="3936206" y="3209925"/>
                  <a:chExt cx="1440657" cy="219075"/>
                </a:xfrm>
              </p:grpSpPr>
              <p:cxnSp>
                <p:nvCxnSpPr>
                  <p:cNvPr id="81" name="直接连接符 80">
                    <a:extLst>
                      <a:ext uri="{FF2B5EF4-FFF2-40B4-BE49-F238E27FC236}">
                        <a16:creationId xmlns:a16="http://schemas.microsoft.com/office/drawing/2014/main" id="{8E789C5D-55D1-5E38-82D3-C2FA010DC99D}"/>
                      </a:ext>
                    </a:extLst>
                  </p:cNvPr>
                  <p:cNvCxnSpPr/>
                  <p:nvPr/>
                </p:nvCxnSpPr>
                <p:spPr>
                  <a:xfrm>
                    <a:off x="3936206" y="3209925"/>
                    <a:ext cx="0" cy="219075"/>
                  </a:xfrm>
                  <a:prstGeom prst="line">
                    <a:avLst/>
                  </a:prstGeom>
                  <a:ln w="25400">
                    <a:solidFill>
                      <a:schemeClr val="tx1"/>
                    </a:solidFill>
                    <a:headEnd w="med" len="lg"/>
                    <a:tailEnd w="med" len="lg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2" name="直接连接符 81">
                    <a:extLst>
                      <a:ext uri="{FF2B5EF4-FFF2-40B4-BE49-F238E27FC236}">
                        <a16:creationId xmlns:a16="http://schemas.microsoft.com/office/drawing/2014/main" id="{93724F56-673F-C571-0D26-5174BE7A716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936206" y="3429000"/>
                    <a:ext cx="1440657" cy="0"/>
                  </a:xfrm>
                  <a:prstGeom prst="line">
                    <a:avLst/>
                  </a:prstGeom>
                  <a:ln w="25400">
                    <a:solidFill>
                      <a:schemeClr val="tx1"/>
                    </a:solidFill>
                    <a:headEnd w="med" len="lg"/>
                    <a:tailEnd w="med" len="lg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80" name="直接箭头连接符 79">
                  <a:extLst>
                    <a:ext uri="{FF2B5EF4-FFF2-40B4-BE49-F238E27FC236}">
                      <a16:creationId xmlns:a16="http://schemas.microsoft.com/office/drawing/2014/main" id="{ACEEE113-3216-92C1-7BA1-BEED6A22B337}"/>
                    </a:ext>
                  </a:extLst>
                </p:cNvPr>
                <p:cNvCxnSpPr/>
                <p:nvPr/>
              </p:nvCxnSpPr>
              <p:spPr>
                <a:xfrm flipV="1">
                  <a:off x="5376863" y="3209924"/>
                  <a:ext cx="0" cy="219075"/>
                </a:xfrm>
                <a:prstGeom prst="straightConnector1">
                  <a:avLst/>
                </a:prstGeom>
                <a:ln w="25400">
                  <a:solidFill>
                    <a:schemeClr val="tx1"/>
                  </a:solidFill>
                  <a:headEnd w="med" len="lg"/>
                  <a:tailEnd type="stealth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83" name="组合 82">
                <a:extLst>
                  <a:ext uri="{FF2B5EF4-FFF2-40B4-BE49-F238E27FC236}">
                    <a16:creationId xmlns:a16="http://schemas.microsoft.com/office/drawing/2014/main" id="{7FDFFD86-429B-9F39-CBBE-7830E32819EB}"/>
                  </a:ext>
                </a:extLst>
              </p:cNvPr>
              <p:cNvGrpSpPr/>
              <p:nvPr/>
            </p:nvGrpSpPr>
            <p:grpSpPr>
              <a:xfrm>
                <a:off x="6819901" y="3226109"/>
                <a:ext cx="1440656" cy="219076"/>
                <a:chOff x="3936206" y="3209924"/>
                <a:chExt cx="1440657" cy="219076"/>
              </a:xfrm>
            </p:grpSpPr>
            <p:grpSp>
              <p:nvGrpSpPr>
                <p:cNvPr id="84" name="组合 83">
                  <a:extLst>
                    <a:ext uri="{FF2B5EF4-FFF2-40B4-BE49-F238E27FC236}">
                      <a16:creationId xmlns:a16="http://schemas.microsoft.com/office/drawing/2014/main" id="{E8691973-0582-DD63-90BA-81B6DA559F50}"/>
                    </a:ext>
                  </a:extLst>
                </p:cNvPr>
                <p:cNvGrpSpPr/>
                <p:nvPr/>
              </p:nvGrpSpPr>
              <p:grpSpPr>
                <a:xfrm>
                  <a:off x="3936206" y="3209925"/>
                  <a:ext cx="1440657" cy="219075"/>
                  <a:chOff x="3936206" y="3209925"/>
                  <a:chExt cx="1440657" cy="219075"/>
                </a:xfrm>
              </p:grpSpPr>
              <p:cxnSp>
                <p:nvCxnSpPr>
                  <p:cNvPr id="86" name="直接连接符 85">
                    <a:extLst>
                      <a:ext uri="{FF2B5EF4-FFF2-40B4-BE49-F238E27FC236}">
                        <a16:creationId xmlns:a16="http://schemas.microsoft.com/office/drawing/2014/main" id="{6F0D3EEB-A815-B44B-B6AB-5E853AFC969F}"/>
                      </a:ext>
                    </a:extLst>
                  </p:cNvPr>
                  <p:cNvCxnSpPr/>
                  <p:nvPr/>
                </p:nvCxnSpPr>
                <p:spPr>
                  <a:xfrm>
                    <a:off x="3936206" y="3209925"/>
                    <a:ext cx="0" cy="219075"/>
                  </a:xfrm>
                  <a:prstGeom prst="line">
                    <a:avLst/>
                  </a:prstGeom>
                  <a:ln w="25400">
                    <a:solidFill>
                      <a:schemeClr val="tx1"/>
                    </a:solidFill>
                    <a:headEnd w="med" len="lg"/>
                    <a:tailEnd w="med" len="lg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7" name="直接连接符 86">
                    <a:extLst>
                      <a:ext uri="{FF2B5EF4-FFF2-40B4-BE49-F238E27FC236}">
                        <a16:creationId xmlns:a16="http://schemas.microsoft.com/office/drawing/2014/main" id="{28513ED4-07CE-9933-FAFC-3B12B78FDEB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936206" y="3429000"/>
                    <a:ext cx="1440657" cy="0"/>
                  </a:xfrm>
                  <a:prstGeom prst="line">
                    <a:avLst/>
                  </a:prstGeom>
                  <a:ln w="25400">
                    <a:solidFill>
                      <a:schemeClr val="tx1"/>
                    </a:solidFill>
                    <a:headEnd w="med" len="lg"/>
                    <a:tailEnd w="med" len="lg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85" name="直接箭头连接符 84">
                  <a:extLst>
                    <a:ext uri="{FF2B5EF4-FFF2-40B4-BE49-F238E27FC236}">
                      <a16:creationId xmlns:a16="http://schemas.microsoft.com/office/drawing/2014/main" id="{56603CC8-5927-0A57-4D59-60AFFDBFAEE9}"/>
                    </a:ext>
                  </a:extLst>
                </p:cNvPr>
                <p:cNvCxnSpPr/>
                <p:nvPr/>
              </p:nvCxnSpPr>
              <p:spPr>
                <a:xfrm flipV="1">
                  <a:off x="5376863" y="3209924"/>
                  <a:ext cx="0" cy="219075"/>
                </a:xfrm>
                <a:prstGeom prst="straightConnector1">
                  <a:avLst/>
                </a:prstGeom>
                <a:ln w="25400">
                  <a:solidFill>
                    <a:schemeClr val="tx1"/>
                  </a:solidFill>
                  <a:headEnd w="med" len="lg"/>
                  <a:tailEnd type="stealth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89" name="组合 88">
                <a:extLst>
                  <a:ext uri="{FF2B5EF4-FFF2-40B4-BE49-F238E27FC236}">
                    <a16:creationId xmlns:a16="http://schemas.microsoft.com/office/drawing/2014/main" id="{A28282B1-DACA-57A6-D277-F851E7EF44F6}"/>
                  </a:ext>
                </a:extLst>
              </p:cNvPr>
              <p:cNvGrpSpPr/>
              <p:nvPr/>
            </p:nvGrpSpPr>
            <p:grpSpPr>
              <a:xfrm>
                <a:off x="2497932" y="3209921"/>
                <a:ext cx="7197000" cy="798207"/>
                <a:chOff x="2497932" y="3209921"/>
                <a:chExt cx="7197000" cy="798208"/>
              </a:xfrm>
            </p:grpSpPr>
            <p:grpSp>
              <p:nvGrpSpPr>
                <p:cNvPr id="90" name="组合 89">
                  <a:extLst>
                    <a:ext uri="{FF2B5EF4-FFF2-40B4-BE49-F238E27FC236}">
                      <a16:creationId xmlns:a16="http://schemas.microsoft.com/office/drawing/2014/main" id="{814A423F-F808-8039-4038-67CEE5857E28}"/>
                    </a:ext>
                  </a:extLst>
                </p:cNvPr>
                <p:cNvGrpSpPr/>
                <p:nvPr/>
              </p:nvGrpSpPr>
              <p:grpSpPr>
                <a:xfrm>
                  <a:off x="2497932" y="3209921"/>
                  <a:ext cx="7197000" cy="798208"/>
                  <a:chOff x="2497932" y="3209921"/>
                  <a:chExt cx="7197000" cy="798208"/>
                </a:xfrm>
              </p:grpSpPr>
              <p:cxnSp>
                <p:nvCxnSpPr>
                  <p:cNvPr id="92" name="直接连接符 91">
                    <a:extLst>
                      <a:ext uri="{FF2B5EF4-FFF2-40B4-BE49-F238E27FC236}">
                        <a16:creationId xmlns:a16="http://schemas.microsoft.com/office/drawing/2014/main" id="{42DB044E-76C3-5245-BC9E-C13DE21C40D7}"/>
                      </a:ext>
                    </a:extLst>
                  </p:cNvPr>
                  <p:cNvCxnSpPr/>
                  <p:nvPr/>
                </p:nvCxnSpPr>
                <p:spPr>
                  <a:xfrm>
                    <a:off x="2497932" y="3209924"/>
                    <a:ext cx="0" cy="798205"/>
                  </a:xfrm>
                  <a:prstGeom prst="line">
                    <a:avLst/>
                  </a:prstGeom>
                  <a:ln w="254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3" name="直接连接符 92">
                    <a:extLst>
                      <a:ext uri="{FF2B5EF4-FFF2-40B4-BE49-F238E27FC236}">
                        <a16:creationId xmlns:a16="http://schemas.microsoft.com/office/drawing/2014/main" id="{57565AC7-9F62-FF54-B232-EFD15F0E8AEA}"/>
                      </a:ext>
                    </a:extLst>
                  </p:cNvPr>
                  <p:cNvCxnSpPr/>
                  <p:nvPr/>
                </p:nvCxnSpPr>
                <p:spPr>
                  <a:xfrm>
                    <a:off x="9694932" y="3209921"/>
                    <a:ext cx="0" cy="798205"/>
                  </a:xfrm>
                  <a:prstGeom prst="line">
                    <a:avLst/>
                  </a:prstGeom>
                  <a:ln w="25400">
                    <a:solidFill>
                      <a:schemeClr val="tx1"/>
                    </a:solidFill>
                    <a:headEnd type="stealth" w="med" len="lg"/>
                    <a:tailEnd type="none" w="med" len="lg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4" name="直接连接符 93">
                    <a:extLst>
                      <a:ext uri="{FF2B5EF4-FFF2-40B4-BE49-F238E27FC236}">
                        <a16:creationId xmlns:a16="http://schemas.microsoft.com/office/drawing/2014/main" id="{894478BE-D3F9-1458-F0D3-D22122E2BCE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092886" y="3500438"/>
                    <a:ext cx="3114" cy="507689"/>
                  </a:xfrm>
                  <a:prstGeom prst="line">
                    <a:avLst/>
                  </a:prstGeom>
                  <a:ln w="254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91" name="直接连接符 90">
                  <a:extLst>
                    <a:ext uri="{FF2B5EF4-FFF2-40B4-BE49-F238E27FC236}">
                      <a16:creationId xmlns:a16="http://schemas.microsoft.com/office/drawing/2014/main" id="{C4817C0C-34DA-787C-B612-9F74BAADE823}"/>
                    </a:ext>
                  </a:extLst>
                </p:cNvPr>
                <p:cNvCxnSpPr/>
                <p:nvPr/>
              </p:nvCxnSpPr>
              <p:spPr>
                <a:xfrm>
                  <a:off x="2497932" y="4008126"/>
                  <a:ext cx="7197000" cy="0"/>
                </a:xfrm>
                <a:prstGeom prst="line">
                  <a:avLst/>
                </a:prstGeom>
                <a:ln w="254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97" name="文本框 96">
                <a:extLst>
                  <a:ext uri="{FF2B5EF4-FFF2-40B4-BE49-F238E27FC236}">
                    <a16:creationId xmlns:a16="http://schemas.microsoft.com/office/drawing/2014/main" id="{5F376DB0-0C9C-0B5E-9C6E-026DD07EFEEE}"/>
                  </a:ext>
                </a:extLst>
              </p:cNvPr>
              <p:cNvSpPr txBox="1"/>
              <p:nvPr/>
            </p:nvSpPr>
            <p:spPr>
              <a:xfrm>
                <a:off x="3152824" y="3104867"/>
                <a:ext cx="38044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(a)</a:t>
                </a:r>
                <a:endParaRPr lang="zh-CN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98" name="文本框 97">
                <a:extLst>
                  <a:ext uri="{FF2B5EF4-FFF2-40B4-BE49-F238E27FC236}">
                    <a16:creationId xmlns:a16="http://schemas.microsoft.com/office/drawing/2014/main" id="{6D5716D6-A550-FF9F-63C9-299C4D874083}"/>
                  </a:ext>
                </a:extLst>
              </p:cNvPr>
              <p:cNvSpPr txBox="1"/>
              <p:nvPr/>
            </p:nvSpPr>
            <p:spPr>
              <a:xfrm>
                <a:off x="8600955" y="3106742"/>
                <a:ext cx="38044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(c)</a:t>
                </a:r>
                <a:endParaRPr lang="zh-CN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" name="文本框 1">
                <a:extLst>
                  <a:ext uri="{FF2B5EF4-FFF2-40B4-BE49-F238E27FC236}">
                    <a16:creationId xmlns:a16="http://schemas.microsoft.com/office/drawing/2014/main" id="{61DF417E-D17F-18A7-9DF1-394C81490F89}"/>
                  </a:ext>
                </a:extLst>
              </p:cNvPr>
              <p:cNvSpPr txBox="1"/>
              <p:nvPr/>
            </p:nvSpPr>
            <p:spPr>
              <a:xfrm>
                <a:off x="5880077" y="3104076"/>
                <a:ext cx="495336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(b)</a:t>
                </a:r>
                <a:endParaRPr lang="zh-CN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" name="矩形: 圆角 2">
                <a:extLst>
                  <a:ext uri="{FF2B5EF4-FFF2-40B4-BE49-F238E27FC236}">
                    <a16:creationId xmlns:a16="http://schemas.microsoft.com/office/drawing/2014/main" id="{97009897-8F60-6E3A-6752-44BF6410296E}"/>
                  </a:ext>
                </a:extLst>
              </p:cNvPr>
              <p:cNvSpPr/>
              <p:nvPr/>
            </p:nvSpPr>
            <p:spPr>
              <a:xfrm>
                <a:off x="6252088" y="3491421"/>
                <a:ext cx="2576282" cy="361951"/>
              </a:xfrm>
              <a:prstGeom prst="roundRect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b="1" dirty="0">
                    <a:latin typeface="宋体" panose="02010600030101010101" pitchFamily="2" charset="-122"/>
                    <a:ea typeface="宋体" panose="02010600030101010101" pitchFamily="2" charset="-122"/>
                    <a:cs typeface="Times New Roman" panose="02020603050405020304" pitchFamily="18" charset="0"/>
                  </a:rPr>
                  <a:t>不确定性校准</a:t>
                </a:r>
                <a:endParaRPr lang="en-US" altLang="zh-CN" b="1" dirty="0">
                  <a:latin typeface="宋体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9859290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644</TotalTime>
  <Words>30</Words>
  <Application>Microsoft Office PowerPoint</Application>
  <PresentationFormat>宽屏</PresentationFormat>
  <Paragraphs>9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7" baseType="lpstr">
      <vt:lpstr>等线</vt:lpstr>
      <vt:lpstr>等线 Light</vt:lpstr>
      <vt:lpstr>宋体</vt:lpstr>
      <vt:lpstr>Arial</vt:lpstr>
      <vt:lpstr>Times New Roman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Xinhui Lin</dc:creator>
  <cp:lastModifiedBy>lxh</cp:lastModifiedBy>
  <cp:revision>42</cp:revision>
  <dcterms:created xsi:type="dcterms:W3CDTF">2024-09-07T03:28:54Z</dcterms:created>
  <dcterms:modified xsi:type="dcterms:W3CDTF">2026-04-08T00:54:21Z</dcterms:modified>
</cp:coreProperties>
</file>