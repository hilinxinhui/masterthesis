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DFEF"/>
    <a:srgbClr val="F4F7F5"/>
    <a:srgbClr val="FEFCE0"/>
    <a:srgbClr val="EFF3F1"/>
    <a:srgbClr val="F4CBBA"/>
    <a:srgbClr val="F7DCD1"/>
    <a:srgbClr val="F2F7EA"/>
    <a:srgbClr val="E4EED6"/>
    <a:srgbClr val="FDEAF2"/>
    <a:srgbClr val="E8E5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75601" autoAdjust="0"/>
  </p:normalViewPr>
  <p:slideViewPr>
    <p:cSldViewPr snapToGrid="0" showGuides="1">
      <p:cViewPr>
        <p:scale>
          <a:sx n="100" d="100"/>
          <a:sy n="100" d="100"/>
        </p:scale>
        <p:origin x="1758" y="864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8BE5A0-C99B-4C90-8971-7CD578376B2B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ADD7E-BDB5-499A-AC2D-E4CF0FF7F3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855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ADD7E-BDB5-499A-AC2D-E4CF0FF7F31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40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A6E184-EE0D-89CC-F27C-401444098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61DF3A1-2DF7-86CA-1396-CE9B0BD15D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B3C2F8-3953-1B34-0C8B-9DCB899C8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091C-B26D-487D-94AF-59F0AA4211B5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3497A0-6573-FC60-5E1A-F93B301F9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B7A3E2-8030-F207-7DD9-2CCFCD8A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0E70-C5F0-45E5-A0E1-17EA59A65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73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7E0680-2CB5-7B60-0DDC-00BD165A7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CAD7CF-8CF4-8923-64C7-CFB252384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E3F1B-1208-C9CC-64FD-51D3E2F91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091C-B26D-487D-94AF-59F0AA4211B5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1A9A09-CBF9-C333-52FE-B5A8C1B99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6F3362-EC96-1788-779B-C20038A6A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0E70-C5F0-45E5-A0E1-17EA59A65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37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3C943D-C4D1-DE30-19BC-3CE96CA7C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EE76C6-5DB9-849C-D8EF-C0335B44A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12D09B-2229-01D2-71EC-C991C63BB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091C-B26D-487D-94AF-59F0AA4211B5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88D4CC-5D98-A9B7-595C-DF03835F4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370FB0-0AE6-4321-6363-D094EE5C1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0E70-C5F0-45E5-A0E1-17EA59A65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326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97C1E3-7707-913A-B340-884BC576F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BD0DA4-08C4-9E09-C08E-ECAEB7DADC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74C61B-00A2-BBCB-5C0A-590331FA93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9C13FF-63F3-0D05-9D38-38AA8601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091C-B26D-487D-94AF-59F0AA4211B5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96301D-171B-E301-F096-116EF048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AE1415-FFC3-CAD7-4E37-FF22D0FB3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0E70-C5F0-45E5-A0E1-17EA59A65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527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358BF6-103A-A531-5142-6EAB27DD9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CA18DC-3412-FFFB-0D1B-1A409F544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82E6D32-3681-D4A1-4ECA-9F803B9737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5A5CB35-5992-95BB-0006-586FE6D99B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4DAF615-92C5-6D83-57CD-88E3DF0CF7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82FB1C-C63E-3F9C-A43F-0EA0FF671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091C-B26D-487D-94AF-59F0AA4211B5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0BE9A7F-06F9-D44C-C634-A0293E7B5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9EBDC4E-2B32-304B-AA81-F7DFE7583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0E70-C5F0-45E5-A0E1-17EA59A65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2660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D16337-6419-3DD7-8A4F-13D6078AC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C184FE8-5ED3-DCFB-9128-012D72B2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091C-B26D-487D-94AF-59F0AA4211B5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160ECE5-CC41-3DDA-BDBA-78488CF0A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08122B5-D10C-BD84-38D6-61F45D288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0E70-C5F0-45E5-A0E1-17EA59A65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0213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D3C847F-162E-FF0A-0946-E2EB71E46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091C-B26D-487D-94AF-59F0AA4211B5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6208582-8620-4685-F826-ABAD4D588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2C1ECF-BED7-C47F-E163-0008A7B05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0E70-C5F0-45E5-A0E1-17EA59A65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9044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6E0D8E-A4D4-5689-9921-B11F9FAB2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A55255-D054-F2F3-9A51-2E2408CC6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274E1F-D6C2-44FA-2A00-011704DBF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F6502F-95AA-25A2-7E5A-68943697D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091C-B26D-487D-94AF-59F0AA4211B5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D06EC4-2884-5D47-7713-CDF0BB647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2ED5F0-9210-D595-2332-453634B1C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0E70-C5F0-45E5-A0E1-17EA59A65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730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47D96F-D94D-6D39-927A-3592B037A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0C7153F-667B-D1B5-001D-15A36CC6BC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36EA7DE-2E81-769D-A399-C42A8A5BF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139875-FCB2-7511-D810-125AC7339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091C-B26D-487D-94AF-59F0AA4211B5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31FB34-4F5F-9111-D504-6F6993333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EE0FD5-034B-BE3B-31C0-A2CA890C9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0E70-C5F0-45E5-A0E1-17EA59A65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9310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AB8B00-DA05-5E61-7369-8580607C3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C179FF4-567B-8C67-E4B5-45D120FAB2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BDDC5C-E6B2-43CC-2A4C-74EF167B2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091C-B26D-487D-94AF-59F0AA4211B5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3698CB-9385-F43F-EEE2-C277B0F24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F83A79-BFB5-4530-1CB6-130BA0276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0E70-C5F0-45E5-A0E1-17EA59A65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5104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3FBE7FB-80DA-DBC9-A2C8-65FFD60C38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F0E075-88B5-1303-D8EB-86E3C9FAD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6DDDD5-1EC5-35A2-0D88-E64DEB1EF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091C-B26D-487D-94AF-59F0AA4211B5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EB46C7-3004-1544-1A2C-1A6AB3826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CEC07A-DF37-8664-2C53-5169B0AB9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0E70-C5F0-45E5-A0E1-17EA59A65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540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EFE8342-3B7E-82A6-A726-833D536E1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9B267D-B828-4A75-EF1A-D60A264FB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FC086D-6E3B-8E5E-3240-901F95A679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2091C-B26D-487D-94AF-59F0AA4211B5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3E7334-6FF2-C8DC-42BE-70F7103E1C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4EECE3-A027-3937-35B0-69C6359A52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70E70-C5F0-45E5-A0E1-17EA59A65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9815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image" Target="../media/image10.tif"/><Relationship Id="rId3" Type="http://schemas.openxmlformats.org/officeDocument/2006/relationships/image" Target="../media/image1.png"/><Relationship Id="rId7" Type="http://schemas.openxmlformats.org/officeDocument/2006/relationships/oleObject" Target="../embeddings/oleObject1.bin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tif"/><Relationship Id="rId11" Type="http://schemas.openxmlformats.org/officeDocument/2006/relationships/image" Target="../media/image8.png"/><Relationship Id="rId5" Type="http://schemas.openxmlformats.org/officeDocument/2006/relationships/image" Target="../media/image3.tif"/><Relationship Id="rId10" Type="http://schemas.openxmlformats.org/officeDocument/2006/relationships/image" Target="../media/image7.png"/><Relationship Id="rId4" Type="http://schemas.openxmlformats.org/officeDocument/2006/relationships/image" Target="../media/image2.tif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0.png"/><Relationship Id="rId1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90.png"/><Relationship Id="rId1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image" Target="../media/image3.tif"/><Relationship Id="rId7" Type="http://schemas.openxmlformats.org/officeDocument/2006/relationships/image" Target="../media/image80.png"/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png"/><Relationship Id="rId4" Type="http://schemas.openxmlformats.org/officeDocument/2006/relationships/image" Target="../media/image4.tif"/><Relationship Id="rId9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组合 243">
            <a:extLst>
              <a:ext uri="{FF2B5EF4-FFF2-40B4-BE49-F238E27FC236}">
                <a16:creationId xmlns:a16="http://schemas.microsoft.com/office/drawing/2014/main" id="{B51B24F4-E1E0-004C-4977-7BD2FEDA6806}"/>
              </a:ext>
            </a:extLst>
          </p:cNvPr>
          <p:cNvGrpSpPr/>
          <p:nvPr/>
        </p:nvGrpSpPr>
        <p:grpSpPr>
          <a:xfrm>
            <a:off x="340568" y="186611"/>
            <a:ext cx="11510864" cy="6347012"/>
            <a:chOff x="340568" y="186611"/>
            <a:chExt cx="11510864" cy="6347012"/>
          </a:xfrm>
        </p:grpSpPr>
        <p:sp>
          <p:nvSpPr>
            <p:cNvPr id="311" name="文本框 310">
              <a:extLst>
                <a:ext uri="{FF2B5EF4-FFF2-40B4-BE49-F238E27FC236}">
                  <a16:creationId xmlns:a16="http://schemas.microsoft.com/office/drawing/2014/main" id="{7D5FAB6A-0348-79B7-E137-D832F6DE4F84}"/>
                </a:ext>
              </a:extLst>
            </p:cNvPr>
            <p:cNvSpPr txBox="1"/>
            <p:nvPr/>
          </p:nvSpPr>
          <p:spPr>
            <a:xfrm>
              <a:off x="6791986" y="1937810"/>
              <a:ext cx="1631139" cy="340519"/>
            </a:xfrm>
            <a:prstGeom prst="round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SOH</a:t>
              </a:r>
              <a:r>
                <a: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回归器</a:t>
              </a:r>
            </a:p>
          </p:txBody>
        </p: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31E092F4-B28D-F854-B26F-641987B95F1A}"/>
                </a:ext>
              </a:extLst>
            </p:cNvPr>
            <p:cNvSpPr/>
            <p:nvPr/>
          </p:nvSpPr>
          <p:spPr>
            <a:xfrm>
              <a:off x="340568" y="186611"/>
              <a:ext cx="8527208" cy="385666"/>
            </a:xfrm>
            <a:prstGeom prst="roundRect">
              <a:avLst/>
            </a:prstGeom>
            <a:solidFill>
              <a:srgbClr val="FFE3A6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SOH</a:t>
              </a:r>
              <a:r>
                <a:rPr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估计</a:t>
              </a:r>
              <a:r>
                <a:rPr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</a:t>
              </a:r>
              <a:r>
                <a:rPr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不确定性量化</a:t>
              </a:r>
            </a:p>
          </p:txBody>
        </p: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66CB0CAE-C131-A2EE-78DC-1FBC56EB2845}"/>
                </a:ext>
              </a:extLst>
            </p:cNvPr>
            <p:cNvSpPr/>
            <p:nvPr/>
          </p:nvSpPr>
          <p:spPr>
            <a:xfrm>
              <a:off x="9025812" y="186611"/>
              <a:ext cx="2825620" cy="385666"/>
            </a:xfrm>
            <a:prstGeom prst="roundRect">
              <a:avLst/>
            </a:prstGeom>
            <a:solidFill>
              <a:srgbClr val="FFE3A6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不确定性校准</a:t>
              </a: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3B958F0C-0A51-C4CC-5005-6F1CE247C2A9}"/>
                </a:ext>
              </a:extLst>
            </p:cNvPr>
            <p:cNvSpPr/>
            <p:nvPr/>
          </p:nvSpPr>
          <p:spPr>
            <a:xfrm>
              <a:off x="340568" y="5943073"/>
              <a:ext cx="2531217" cy="590550"/>
            </a:xfrm>
            <a:prstGeom prst="roundRect">
              <a:avLst/>
            </a:prstGeom>
            <a:solidFill>
              <a:srgbClr val="FEF4EC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步骤</a:t>
              </a:r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1</a:t>
              </a:r>
            </a:p>
            <a:p>
              <a:pPr algn="ctr"/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预处理原始循环信号</a:t>
              </a:r>
              <a:endPara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F114F8F8-F091-32FC-6670-6C0A58D402CD}"/>
                </a:ext>
              </a:extLst>
            </p:cNvPr>
            <p:cNvSpPr/>
            <p:nvPr/>
          </p:nvSpPr>
          <p:spPr>
            <a:xfrm>
              <a:off x="3093445" y="5939771"/>
              <a:ext cx="3032229" cy="593270"/>
            </a:xfrm>
            <a:prstGeom prst="roundRect">
              <a:avLst/>
            </a:prstGeom>
            <a:solidFill>
              <a:srgbClr val="FEF4EC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步骤</a:t>
              </a:r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2</a:t>
              </a:r>
            </a:p>
            <a:p>
              <a:pPr algn="ctr"/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构建随机自注意力</a:t>
              </a:r>
              <a:endPara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C9710A56-232F-0694-0F8E-4C88EEE17B78}"/>
                </a:ext>
              </a:extLst>
            </p:cNvPr>
            <p:cNvSpPr/>
            <p:nvPr/>
          </p:nvSpPr>
          <p:spPr>
            <a:xfrm>
              <a:off x="6347335" y="5939772"/>
              <a:ext cx="2520441" cy="593269"/>
            </a:xfrm>
            <a:prstGeom prst="roundRect">
              <a:avLst/>
            </a:prstGeom>
            <a:solidFill>
              <a:srgbClr val="FEF4EC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步骤</a:t>
              </a:r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3</a:t>
              </a:r>
            </a:p>
            <a:p>
              <a:pPr algn="ctr"/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构建</a:t>
              </a:r>
              <a:r>
                <a:rPr lang="en-US" altLang="zh-CN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en-US" altLang="zh-CN" sz="16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HSSTT</a:t>
              </a:r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356632D2-ADFE-97B3-4D8A-FD7C31797173}"/>
                </a:ext>
              </a:extLst>
            </p:cNvPr>
            <p:cNvSpPr/>
            <p:nvPr/>
          </p:nvSpPr>
          <p:spPr>
            <a:xfrm>
              <a:off x="9025809" y="5939771"/>
              <a:ext cx="2825623" cy="593270"/>
            </a:xfrm>
            <a:prstGeom prst="roundRect">
              <a:avLst/>
            </a:prstGeom>
            <a:solidFill>
              <a:srgbClr val="FEF4EC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步骤</a:t>
              </a:r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4</a:t>
              </a:r>
            </a:p>
            <a:p>
              <a:pPr algn="ctr"/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构建后处理辅助校准模型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AC7833F0-BAA7-6CA6-E42C-142F38CD8E0B}"/>
                    </a:ext>
                  </a:extLst>
                </p:cNvPr>
                <p:cNvSpPr txBox="1"/>
                <p:nvPr/>
              </p:nvSpPr>
              <p:spPr>
                <a:xfrm>
                  <a:off x="2355660" y="851028"/>
                  <a:ext cx="349813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1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oMath>
                    </m:oMathPara>
                  </a14:m>
                  <a:endParaRPr lang="zh-CN" altLang="en-US" sz="1000" b="1" dirty="0"/>
                </a:p>
              </p:txBody>
            </p:sp>
          </mc:Choice>
          <mc:Fallback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AC7833F0-BAA7-6CA6-E42C-142F38CD8E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5660" y="851028"/>
                  <a:ext cx="349813" cy="24622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A720E180-408B-CEDC-C781-BA8EABE47CFF}"/>
                </a:ext>
              </a:extLst>
            </p:cNvPr>
            <p:cNvGrpSpPr/>
            <p:nvPr/>
          </p:nvGrpSpPr>
          <p:grpSpPr>
            <a:xfrm>
              <a:off x="551119" y="1117091"/>
              <a:ext cx="2066844" cy="543154"/>
              <a:chOff x="645959" y="671049"/>
              <a:chExt cx="2066844" cy="543154"/>
            </a:xfrm>
          </p:grpSpPr>
          <p:pic>
            <p:nvPicPr>
              <p:cNvPr id="50" name="图片 49">
                <a:extLst>
                  <a:ext uri="{FF2B5EF4-FFF2-40B4-BE49-F238E27FC236}">
                    <a16:creationId xmlns:a16="http://schemas.microsoft.com/office/drawing/2014/main" id="{DAF80482-2702-CDB6-B71A-B185138920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5959" y="671049"/>
                <a:ext cx="672998" cy="5431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  <p:pic>
            <p:nvPicPr>
              <p:cNvPr id="56" name="图片 55">
                <a:extLst>
                  <a:ext uri="{FF2B5EF4-FFF2-40B4-BE49-F238E27FC236}">
                    <a16:creationId xmlns:a16="http://schemas.microsoft.com/office/drawing/2014/main" id="{EE69C934-5EA4-63BC-557F-8007EAF974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42882" y="671049"/>
                <a:ext cx="672998" cy="5431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  <p:pic>
            <p:nvPicPr>
              <p:cNvPr id="57" name="图片 56">
                <a:extLst>
                  <a:ext uri="{FF2B5EF4-FFF2-40B4-BE49-F238E27FC236}">
                    <a16:creationId xmlns:a16="http://schemas.microsoft.com/office/drawing/2014/main" id="{771A9047-F9C6-5A16-57C9-6E6D06E4C1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39805" y="671049"/>
                <a:ext cx="672998" cy="5431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</p:grpSp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E72FD19E-9D9D-7704-92D4-223366465190}"/>
                </a:ext>
              </a:extLst>
            </p:cNvPr>
            <p:cNvSpPr/>
            <p:nvPr/>
          </p:nvSpPr>
          <p:spPr>
            <a:xfrm>
              <a:off x="453427" y="815996"/>
              <a:ext cx="2262229" cy="926001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C1DC3848-FD5D-9332-7FA7-9BACB7FB31B2}"/>
                </a:ext>
              </a:extLst>
            </p:cNvPr>
            <p:cNvSpPr txBox="1"/>
            <p:nvPr/>
          </p:nvSpPr>
          <p:spPr>
            <a:xfrm>
              <a:off x="823242" y="827021"/>
              <a:ext cx="15225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原始循环信号</a:t>
              </a:r>
            </a:p>
          </p:txBody>
        </p:sp>
        <p:sp>
          <p:nvSpPr>
            <p:cNvPr id="74" name="矩形: 圆角 73">
              <a:extLst>
                <a:ext uri="{FF2B5EF4-FFF2-40B4-BE49-F238E27FC236}">
                  <a16:creationId xmlns:a16="http://schemas.microsoft.com/office/drawing/2014/main" id="{EF8D1B9A-B28C-69B0-90AD-6BEEEA6BE154}"/>
                </a:ext>
              </a:extLst>
            </p:cNvPr>
            <p:cNvSpPr/>
            <p:nvPr/>
          </p:nvSpPr>
          <p:spPr>
            <a:xfrm>
              <a:off x="453430" y="4051883"/>
              <a:ext cx="2262222" cy="1744995"/>
            </a:xfrm>
            <a:prstGeom prst="roundRect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    </a:t>
              </a:r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特征图</a:t>
              </a:r>
              <a:endPara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endParaRPr lang="en-US" altLang="zh-CN" sz="1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zh-CN" sz="1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zh-CN" sz="1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zh-CN" altLang="en-US" sz="1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75" name="对象 74">
                  <a:extLst>
                    <a:ext uri="{FF2B5EF4-FFF2-40B4-BE49-F238E27FC236}">
                      <a16:creationId xmlns:a16="http://schemas.microsoft.com/office/drawing/2014/main" id="{0935F0EA-A127-0556-9E8B-CF8C7B21C4F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707332007"/>
                    </p:ext>
                  </p:extLst>
                </p:nvPr>
              </p:nvGraphicFramePr>
              <p:xfrm>
                <a:off x="1638476" y="4161316"/>
                <a:ext cx="660400" cy="202584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7" imgW="660240" imgH="190440" progId="Equation.DSMT4">
                        <p:embed/>
                      </p:oleObj>
                    </mc:Choice>
                    <mc:Fallback>
                      <p:oleObj name="Equation" r:id="rId7" imgW="660240" imgH="190440" progId="Equation.DSMT4">
                        <p:embed/>
                        <p:pic>
                          <p:nvPicPr>
                            <p:cNvPr id="29" name="对象 28">
                              <a:extLst>
                                <a:ext uri="{FF2B5EF4-FFF2-40B4-BE49-F238E27FC236}">
                                  <a16:creationId xmlns:a16="http://schemas.microsoft.com/office/drawing/2014/main" id="{D6EB9324-F9E6-44DD-A7DB-154757BDBF23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638476" y="4161316"/>
                              <a:ext cx="660400" cy="202584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75" name="对象 74">
                  <a:extLst>
                    <a:ext uri="{FF2B5EF4-FFF2-40B4-BE49-F238E27FC236}">
                      <a16:creationId xmlns:a16="http://schemas.microsoft.com/office/drawing/2014/main" id="{0935F0EA-A127-0556-9E8B-CF8C7B21C4F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707332007"/>
                    </p:ext>
                  </p:extLst>
                </p:nvPr>
              </p:nvGraphicFramePr>
              <p:xfrm>
                <a:off x="1638476" y="4161316"/>
                <a:ext cx="660400" cy="202584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7" imgW="660240" imgH="190440" progId="Equation.DSMT4">
                        <p:embed/>
                      </p:oleObj>
                    </mc:Choice>
                    <mc:Fallback>
                      <p:oleObj name="Equation" r:id="rId7" imgW="660240" imgH="190440" progId="Equation.DSMT4">
                        <p:embed/>
                        <p:pic>
                          <p:nvPicPr>
                            <p:cNvPr id="29" name="对象 28">
                              <a:extLst>
                                <a:ext uri="{FF2B5EF4-FFF2-40B4-BE49-F238E27FC236}">
                                  <a16:creationId xmlns:a16="http://schemas.microsoft.com/office/drawing/2014/main" id="{D6EB9324-F9E6-44DD-A7DB-154757BDBF23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638476" y="4161316"/>
                              <a:ext cx="660400" cy="202584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DB7F8E16-BC1F-CA2C-24C6-613822DFEC1E}"/>
                </a:ext>
              </a:extLst>
            </p:cNvPr>
            <p:cNvGrpSpPr/>
            <p:nvPr/>
          </p:nvGrpSpPr>
          <p:grpSpPr>
            <a:xfrm>
              <a:off x="610362" y="4478640"/>
              <a:ext cx="1839144" cy="1329983"/>
              <a:chOff x="2073378" y="4413963"/>
              <a:chExt cx="1839144" cy="1329983"/>
            </a:xfrm>
          </p:grpSpPr>
          <p:cxnSp>
            <p:nvCxnSpPr>
              <p:cNvPr id="78" name="直接箭头连接符 77">
                <a:extLst>
                  <a:ext uri="{FF2B5EF4-FFF2-40B4-BE49-F238E27FC236}">
                    <a16:creationId xmlns:a16="http://schemas.microsoft.com/office/drawing/2014/main" id="{D1E6C565-508D-4486-D7EA-812E574BD1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01208" y="5433844"/>
                <a:ext cx="1411314" cy="0"/>
              </a:xfrm>
              <a:prstGeom prst="straightConnector1">
                <a:avLst/>
              </a:prstGeom>
              <a:ln>
                <a:headEnd w="med" len="lg"/>
                <a:tailEnd type="stealth" w="med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79" name="直接箭头连接符 78">
                <a:extLst>
                  <a:ext uri="{FF2B5EF4-FFF2-40B4-BE49-F238E27FC236}">
                    <a16:creationId xmlns:a16="http://schemas.microsoft.com/office/drawing/2014/main" id="{55B13B03-5204-8478-11CA-AC38244125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60271" y="4414333"/>
                <a:ext cx="0" cy="1016859"/>
              </a:xfrm>
              <a:prstGeom prst="straightConnector1">
                <a:avLst/>
              </a:prstGeom>
              <a:ln>
                <a:tailEnd type="stealth" w="med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26F20B8C-F4CF-DA51-FAAC-17410CC2E074}"/>
                  </a:ext>
                </a:extLst>
              </p:cNvPr>
              <p:cNvSpPr txBox="1"/>
              <p:nvPr/>
            </p:nvSpPr>
            <p:spPr>
              <a:xfrm>
                <a:off x="2836137" y="5466947"/>
                <a:ext cx="900000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b="1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时间维度</a:t>
                </a:r>
              </a:p>
            </p:txBody>
          </p:sp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62B6248C-31A7-8C66-F65F-F166AD1A2F37}"/>
                  </a:ext>
                </a:extLst>
              </p:cNvPr>
              <p:cNvSpPr txBox="1"/>
              <p:nvPr/>
            </p:nvSpPr>
            <p:spPr>
              <a:xfrm rot="16200000">
                <a:off x="1793657" y="4704600"/>
                <a:ext cx="836442" cy="27699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b="1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空间维度</a:t>
                </a:r>
              </a:p>
            </p:txBody>
          </p:sp>
          <p:grpSp>
            <p:nvGrpSpPr>
              <p:cNvPr id="82" name="组合 81">
                <a:extLst>
                  <a:ext uri="{FF2B5EF4-FFF2-40B4-BE49-F238E27FC236}">
                    <a16:creationId xmlns:a16="http://schemas.microsoft.com/office/drawing/2014/main" id="{AF06076B-0296-8F8C-A9CE-A9ABBFC6C297}"/>
                  </a:ext>
                </a:extLst>
              </p:cNvPr>
              <p:cNvGrpSpPr/>
              <p:nvPr/>
            </p:nvGrpSpPr>
            <p:grpSpPr>
              <a:xfrm>
                <a:off x="2460210" y="4413963"/>
                <a:ext cx="1452312" cy="952296"/>
                <a:chOff x="1893781" y="4654762"/>
                <a:chExt cx="1452312" cy="952296"/>
              </a:xfrm>
            </p:grpSpPr>
            <p:sp>
              <p:nvSpPr>
                <p:cNvPr id="83" name="矩形: 圆角 82">
                  <a:extLst>
                    <a:ext uri="{FF2B5EF4-FFF2-40B4-BE49-F238E27FC236}">
                      <a16:creationId xmlns:a16="http://schemas.microsoft.com/office/drawing/2014/main" id="{9DAE2A47-4FA7-D824-9D04-724C6EB51168}"/>
                    </a:ext>
                  </a:extLst>
                </p:cNvPr>
                <p:cNvSpPr/>
                <p:nvPr/>
              </p:nvSpPr>
              <p:spPr>
                <a:xfrm>
                  <a:off x="2145174" y="4654762"/>
                  <a:ext cx="109758" cy="685622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A46423EE-C906-43A2-6A95-A7DCCC0C4DBF}"/>
                    </a:ext>
                  </a:extLst>
                </p:cNvPr>
                <p:cNvSpPr txBox="1"/>
                <p:nvPr/>
              </p:nvSpPr>
              <p:spPr>
                <a:xfrm>
                  <a:off x="2308445" y="4752476"/>
                  <a:ext cx="304800" cy="3693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pPr algn="ctr"/>
                  <a:r>
                    <a:rPr lang="en" altLang="zh-CN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...</a:t>
                  </a:r>
                  <a:endPara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3B86AD56-BA3A-29D8-1F1B-AA6C89AA14C8}"/>
                    </a:ext>
                  </a:extLst>
                </p:cNvPr>
                <p:cNvSpPr txBox="1"/>
                <p:nvPr/>
              </p:nvSpPr>
              <p:spPr>
                <a:xfrm>
                  <a:off x="2101854" y="5360837"/>
                  <a:ext cx="1963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zh-CN" altLang="en-US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2BD681C4-0538-D44D-1ED9-B2A5F58DC982}"/>
                    </a:ext>
                  </a:extLst>
                </p:cNvPr>
                <p:cNvSpPr txBox="1"/>
                <p:nvPr/>
              </p:nvSpPr>
              <p:spPr>
                <a:xfrm>
                  <a:off x="2625144" y="5360837"/>
                  <a:ext cx="1963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</a:t>
                  </a:r>
                  <a:endParaRPr lang="zh-CN" altLang="en-US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2753A125-9302-B4EE-8BD1-586EF605FACA}"/>
                    </a:ext>
                  </a:extLst>
                </p:cNvPr>
                <p:cNvSpPr txBox="1"/>
                <p:nvPr/>
              </p:nvSpPr>
              <p:spPr>
                <a:xfrm>
                  <a:off x="3149696" y="5360837"/>
                  <a:ext cx="1963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</a:t>
                  </a:r>
                  <a:endParaRPr lang="zh-CN" altLang="en-US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0" name="矩形: 圆角 89">
                  <a:extLst>
                    <a:ext uri="{FF2B5EF4-FFF2-40B4-BE49-F238E27FC236}">
                      <a16:creationId xmlns:a16="http://schemas.microsoft.com/office/drawing/2014/main" id="{04A14DC8-0138-F79D-0795-03130E0EEE95}"/>
                    </a:ext>
                  </a:extLst>
                </p:cNvPr>
                <p:cNvSpPr/>
                <p:nvPr/>
              </p:nvSpPr>
              <p:spPr>
                <a:xfrm>
                  <a:off x="2666758" y="4654762"/>
                  <a:ext cx="109758" cy="685622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F56B2D01-6E67-461A-7E99-39D90A3E6F80}"/>
                    </a:ext>
                  </a:extLst>
                </p:cNvPr>
                <p:cNvSpPr txBox="1"/>
                <p:nvPr/>
              </p:nvSpPr>
              <p:spPr>
                <a:xfrm>
                  <a:off x="2833145" y="4752476"/>
                  <a:ext cx="304800" cy="3693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pPr algn="ctr"/>
                  <a:r>
                    <a:rPr lang="en" altLang="zh-CN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...</a:t>
                  </a:r>
                  <a:endPara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2" name="矩形: 圆角 91">
                  <a:extLst>
                    <a:ext uri="{FF2B5EF4-FFF2-40B4-BE49-F238E27FC236}">
                      <a16:creationId xmlns:a16="http://schemas.microsoft.com/office/drawing/2014/main" id="{F06445A8-BD75-66D2-157D-D61C2744B99D}"/>
                    </a:ext>
                  </a:extLst>
                </p:cNvPr>
                <p:cNvSpPr/>
                <p:nvPr/>
              </p:nvSpPr>
              <p:spPr>
                <a:xfrm>
                  <a:off x="3194574" y="4655132"/>
                  <a:ext cx="109758" cy="679484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3" name="矩形: 圆角 102">
                  <a:extLst>
                    <a:ext uri="{FF2B5EF4-FFF2-40B4-BE49-F238E27FC236}">
                      <a16:creationId xmlns:a16="http://schemas.microsoft.com/office/drawing/2014/main" id="{C8558011-C021-0ED4-A858-1103A090B268}"/>
                    </a:ext>
                  </a:extLst>
                </p:cNvPr>
                <p:cNvSpPr/>
                <p:nvPr/>
              </p:nvSpPr>
              <p:spPr>
                <a:xfrm>
                  <a:off x="1934779" y="4655132"/>
                  <a:ext cx="109758" cy="685622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0473863F-0EA2-644B-525C-D23A9C3944C6}"/>
                    </a:ext>
                  </a:extLst>
                </p:cNvPr>
                <p:cNvSpPr txBox="1"/>
                <p:nvPr/>
              </p:nvSpPr>
              <p:spPr>
                <a:xfrm>
                  <a:off x="1893781" y="5360836"/>
                  <a:ext cx="1963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zh-CN" altLang="en-US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EE4D8041-7DD7-D242-0BDF-0218B48DD79C}"/>
                </a:ext>
              </a:extLst>
            </p:cNvPr>
            <p:cNvSpPr/>
            <p:nvPr/>
          </p:nvSpPr>
          <p:spPr>
            <a:xfrm>
              <a:off x="452056" y="2649876"/>
              <a:ext cx="2262229" cy="742595"/>
            </a:xfrm>
            <a:prstGeom prst="roundRect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包含空间依赖信息</a:t>
              </a:r>
              <a:endPara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的卷积特征图</a:t>
              </a:r>
              <a:endParaRPr lang="en-US" altLang="zh-CN" sz="1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F71D3FD4-E038-2E19-2A6B-1FFDB62CF585}"/>
                </a:ext>
              </a:extLst>
            </p:cNvPr>
            <p:cNvGrpSpPr/>
            <p:nvPr/>
          </p:nvGrpSpPr>
          <p:grpSpPr>
            <a:xfrm>
              <a:off x="958366" y="3012924"/>
              <a:ext cx="1209675" cy="369332"/>
              <a:chOff x="4443015" y="2106097"/>
              <a:chExt cx="1209675" cy="369332"/>
            </a:xfrm>
          </p:grpSpPr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DD4C8F5F-E616-6008-E874-8DB9673156D2}"/>
                  </a:ext>
                </a:extLst>
              </p:cNvPr>
              <p:cNvSpPr/>
              <p:nvPr/>
            </p:nvSpPr>
            <p:spPr>
              <a:xfrm>
                <a:off x="4443015" y="2291885"/>
                <a:ext cx="1209675" cy="133350"/>
              </a:xfrm>
              <a:prstGeom prst="roundRect">
                <a:avLst/>
              </a:prstGeom>
              <a:solidFill>
                <a:srgbClr val="C6DBF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p:sp>
            <p:nvSpPr>
              <p:cNvPr id="67" name="椭圆 66">
                <a:extLst>
                  <a:ext uri="{FF2B5EF4-FFF2-40B4-BE49-F238E27FC236}">
                    <a16:creationId xmlns:a16="http://schemas.microsoft.com/office/drawing/2014/main" id="{ED4BC3E0-DD75-5208-6268-9847BA7785D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560095" y="2324102"/>
                <a:ext cx="68149" cy="68917"/>
              </a:xfrm>
              <a:prstGeom prst="ellipse">
                <a:avLst/>
              </a:prstGeom>
              <a:solidFill>
                <a:srgbClr val="FFD97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/>
              </a:p>
            </p:txBody>
          </p:sp>
          <p:sp>
            <p:nvSpPr>
              <p:cNvPr id="68" name="椭圆 67">
                <a:extLst>
                  <a:ext uri="{FF2B5EF4-FFF2-40B4-BE49-F238E27FC236}">
                    <a16:creationId xmlns:a16="http://schemas.microsoft.com/office/drawing/2014/main" id="{6DD0D93B-27D2-663E-211C-826AF84D0C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23663" y="2324102"/>
                <a:ext cx="68149" cy="68917"/>
              </a:xfrm>
              <a:prstGeom prst="ellipse">
                <a:avLst/>
              </a:prstGeom>
              <a:solidFill>
                <a:srgbClr val="FFD97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p:sp>
            <p:nvSpPr>
              <p:cNvPr id="69" name="椭圆 68">
                <a:extLst>
                  <a:ext uri="{FF2B5EF4-FFF2-40B4-BE49-F238E27FC236}">
                    <a16:creationId xmlns:a16="http://schemas.microsoft.com/office/drawing/2014/main" id="{21B86AE9-9239-A81A-1DCE-05591F4970D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70526" y="2324102"/>
                <a:ext cx="68149" cy="68917"/>
              </a:xfrm>
              <a:prstGeom prst="ellipse">
                <a:avLst/>
              </a:prstGeom>
              <a:solidFill>
                <a:srgbClr val="FFD97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BEE695A6-37AA-57C6-6CD5-B0AC18582250}"/>
                  </a:ext>
                </a:extLst>
              </p:cNvPr>
              <p:cNvSpPr txBox="1"/>
              <p:nvPr/>
            </p:nvSpPr>
            <p:spPr>
              <a:xfrm>
                <a:off x="5047853" y="2106097"/>
                <a:ext cx="330199" cy="36933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/>
              <a:p>
                <a:pPr algn="ctr"/>
                <a:r>
                  <a:rPr lang="en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...</a:t>
                </a:r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A4421418-09B0-88DC-7F4F-E84127B723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5083" y="3230928"/>
              <a:ext cx="68149" cy="68917"/>
            </a:xfrm>
            <a:prstGeom prst="ellipse">
              <a:avLst/>
            </a:prstGeom>
            <a:solidFill>
              <a:srgbClr val="FFD97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F7305A37-F5B5-3B62-B376-737227EBA77B}"/>
                    </a:ext>
                  </a:extLst>
                </p:cNvPr>
                <p:cNvSpPr txBox="1"/>
                <p:nvPr/>
              </p:nvSpPr>
              <p:spPr>
                <a:xfrm>
                  <a:off x="2367213" y="2820975"/>
                  <a:ext cx="349813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1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oMath>
                    </m:oMathPara>
                  </a14:m>
                  <a:endParaRPr lang="zh-CN" altLang="en-US" sz="1000" b="1" dirty="0"/>
                </a:p>
              </p:txBody>
            </p:sp>
          </mc:Choice>
          <mc:Fallback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F7305A37-F5B5-3B62-B376-737227EBA7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7213" y="2820975"/>
                  <a:ext cx="349813" cy="24622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9" name="矩形: 圆角 108">
              <a:extLst>
                <a:ext uri="{FF2B5EF4-FFF2-40B4-BE49-F238E27FC236}">
                  <a16:creationId xmlns:a16="http://schemas.microsoft.com/office/drawing/2014/main" id="{26996E60-ADEF-23FD-6A03-46D97D2127BD}"/>
                </a:ext>
              </a:extLst>
            </p:cNvPr>
            <p:cNvSpPr/>
            <p:nvPr/>
          </p:nvSpPr>
          <p:spPr>
            <a:xfrm>
              <a:off x="9704611" y="2657925"/>
              <a:ext cx="1468016" cy="385666"/>
            </a:xfrm>
            <a:prstGeom prst="roundRect">
              <a:avLst/>
            </a:prstGeom>
            <a:solidFill>
              <a:schemeClr val="bg2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保序回归器</a:t>
              </a:r>
              <a:endPara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0" name="矩形: 圆角 109">
              <a:extLst>
                <a:ext uri="{FF2B5EF4-FFF2-40B4-BE49-F238E27FC236}">
                  <a16:creationId xmlns:a16="http://schemas.microsoft.com/office/drawing/2014/main" id="{E707E7DE-4645-5F0D-5571-9BBE311C495C}"/>
                </a:ext>
              </a:extLst>
            </p:cNvPr>
            <p:cNvSpPr/>
            <p:nvPr/>
          </p:nvSpPr>
          <p:spPr>
            <a:xfrm>
              <a:off x="9025810" y="3467624"/>
              <a:ext cx="2825619" cy="2323576"/>
            </a:xfrm>
            <a:prstGeom prst="roundRect">
              <a:avLst/>
            </a:prstGeom>
            <a:ln>
              <a:solidFill>
                <a:schemeClr val="dk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可信</a:t>
              </a:r>
              <a:r>
                <a: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1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SOH</a:t>
              </a:r>
              <a:r>
                <a: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估计</a:t>
              </a:r>
              <a:endPara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`</a:t>
              </a:r>
              <a:endParaRPr lang="zh-CN" alt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3" name="矩形: 圆角 112">
                  <a:extLst>
                    <a:ext uri="{FF2B5EF4-FFF2-40B4-BE49-F238E27FC236}">
                      <a16:creationId xmlns:a16="http://schemas.microsoft.com/office/drawing/2014/main" id="{5E43AEA8-9711-F759-94FC-4CB1344E8470}"/>
                    </a:ext>
                  </a:extLst>
                </p:cNvPr>
                <p:cNvSpPr/>
                <p:nvPr/>
              </p:nvSpPr>
              <p:spPr>
                <a:xfrm>
                  <a:off x="9025810" y="902337"/>
                  <a:ext cx="2825619" cy="1331555"/>
                </a:xfrm>
                <a:prstGeom prst="roundRect">
                  <a:avLst/>
                </a:prstGeom>
                <a:ln>
                  <a:prstDash val="dash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b="1" dirty="0">
                      <a:latin typeface="宋体" panose="02010600030101010101" pitchFamily="2" charset="-122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校准数据集</a:t>
                  </a:r>
                  <a:r>
                    <a:rPr lang="en-US" altLang="zh-CN" sz="1400" b="1" dirty="0">
                      <a:latin typeface="宋体" panose="02010600030101010101" pitchFamily="2" charset="-122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14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𝑺</m:t>
                      </m:r>
                    </m:oMath>
                  </a14:m>
                  <a:endParaRPr lang="en-US" altLang="zh-CN" sz="1400" b="1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3" name="矩形: 圆角 112">
                  <a:extLst>
                    <a:ext uri="{FF2B5EF4-FFF2-40B4-BE49-F238E27FC236}">
                      <a16:creationId xmlns:a16="http://schemas.microsoft.com/office/drawing/2014/main" id="{5E43AEA8-9711-F759-94FC-4CB1344E847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25810" y="902337"/>
                  <a:ext cx="2825619" cy="1331555"/>
                </a:xfrm>
                <a:prstGeom prst="round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prstDash val="dash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4" name="组合 113">
              <a:extLst>
                <a:ext uri="{FF2B5EF4-FFF2-40B4-BE49-F238E27FC236}">
                  <a16:creationId xmlns:a16="http://schemas.microsoft.com/office/drawing/2014/main" id="{1EA5ED4D-53E7-970F-5C9D-237A211C3BB5}"/>
                </a:ext>
              </a:extLst>
            </p:cNvPr>
            <p:cNvGrpSpPr/>
            <p:nvPr/>
          </p:nvGrpSpPr>
          <p:grpSpPr>
            <a:xfrm>
              <a:off x="9364199" y="1330009"/>
              <a:ext cx="2148840" cy="855303"/>
              <a:chOff x="2232660" y="3299460"/>
              <a:chExt cx="2148840" cy="855303"/>
            </a:xfrm>
          </p:grpSpPr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9E36F1DC-0911-EC20-D4B8-514490B0EC83}"/>
                  </a:ext>
                </a:extLst>
              </p:cNvPr>
              <p:cNvSpPr txBox="1"/>
              <p:nvPr/>
            </p:nvSpPr>
            <p:spPr>
              <a:xfrm>
                <a:off x="2265932" y="3846986"/>
                <a:ext cx="102209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b="1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预测</a:t>
                </a:r>
                <a:r>
                  <a:rPr lang="en-US" altLang="zh-CN" sz="1400" b="1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4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CDF</a:t>
                </a:r>
              </a:p>
            </p:txBody>
          </p:sp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64A7E712-CEF8-A1BC-C78B-A51B0D65CF2E}"/>
                  </a:ext>
                </a:extLst>
              </p:cNvPr>
              <p:cNvSpPr txBox="1"/>
              <p:nvPr/>
            </p:nvSpPr>
            <p:spPr>
              <a:xfrm>
                <a:off x="3326132" y="3846986"/>
                <a:ext cx="102209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b="1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经验</a:t>
                </a:r>
                <a:r>
                  <a:rPr lang="en-US" altLang="zh-CN" sz="1400" b="1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4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CDF</a:t>
                </a:r>
              </a:p>
            </p:txBody>
          </p:sp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A6DA6038-8CD1-D04C-65F1-F30EE5E719F6}"/>
                  </a:ext>
                </a:extLst>
              </p:cNvPr>
              <p:cNvSpPr txBox="1"/>
              <p:nvPr/>
            </p:nvSpPr>
            <p:spPr>
              <a:xfrm>
                <a:off x="2284985" y="3327067"/>
                <a:ext cx="102209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b="1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特征</a:t>
                </a:r>
                <a:endPara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1C730DC0-7A13-32ED-FEBB-6D78BAE5A80F}"/>
                  </a:ext>
                </a:extLst>
              </p:cNvPr>
              <p:cNvSpPr txBox="1"/>
              <p:nvPr/>
            </p:nvSpPr>
            <p:spPr>
              <a:xfrm>
                <a:off x="3307080" y="3327067"/>
                <a:ext cx="102209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b="1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标签</a:t>
                </a:r>
                <a:endPara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9" name="矩形: 圆角 118">
                <a:extLst>
                  <a:ext uri="{FF2B5EF4-FFF2-40B4-BE49-F238E27FC236}">
                    <a16:creationId xmlns:a16="http://schemas.microsoft.com/office/drawing/2014/main" id="{6C51CCD6-8DCC-CA2F-6A1B-8A39D2FA9D38}"/>
                  </a:ext>
                </a:extLst>
              </p:cNvPr>
              <p:cNvSpPr/>
              <p:nvPr/>
            </p:nvSpPr>
            <p:spPr>
              <a:xfrm>
                <a:off x="2232660" y="3299460"/>
                <a:ext cx="2148840" cy="358140"/>
              </a:xfrm>
              <a:prstGeom prst="round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p:cxnSp>
            <p:nvCxnSpPr>
              <p:cNvPr id="120" name="直接连接符 119">
                <a:extLst>
                  <a:ext uri="{FF2B5EF4-FFF2-40B4-BE49-F238E27FC236}">
                    <a16:creationId xmlns:a16="http://schemas.microsoft.com/office/drawing/2014/main" id="{0C6C7317-DD99-CB44-FA2A-3CF995553C38}"/>
                  </a:ext>
                </a:extLst>
              </p:cNvPr>
              <p:cNvCxnSpPr>
                <a:cxnSpLocks/>
                <a:stCxn id="119" idx="0"/>
                <a:endCxn id="119" idx="2"/>
              </p:cNvCxnSpPr>
              <p:nvPr/>
            </p:nvCxnSpPr>
            <p:spPr>
              <a:xfrm>
                <a:off x="3307080" y="3299460"/>
                <a:ext cx="0" cy="3581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接箭头连接符 120">
                <a:extLst>
                  <a:ext uri="{FF2B5EF4-FFF2-40B4-BE49-F238E27FC236}">
                    <a16:creationId xmlns:a16="http://schemas.microsoft.com/office/drawing/2014/main" id="{ABB0EE53-E224-2C28-1992-EC4177D5E0D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776979" y="3689349"/>
                <a:ext cx="1" cy="18938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/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直接箭头连接符 121">
                <a:extLst>
                  <a:ext uri="{FF2B5EF4-FFF2-40B4-BE49-F238E27FC236}">
                    <a16:creationId xmlns:a16="http://schemas.microsoft.com/office/drawing/2014/main" id="{250B0D3D-65DE-0A80-B943-C2DA16862D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832345" y="3689349"/>
                <a:ext cx="1" cy="18938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/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3" name="直接箭头连接符 122">
              <a:extLst>
                <a:ext uri="{FF2B5EF4-FFF2-40B4-BE49-F238E27FC236}">
                  <a16:creationId xmlns:a16="http://schemas.microsoft.com/office/drawing/2014/main" id="{E7503C4E-269B-8456-1EFE-7F7955E21670}"/>
                </a:ext>
              </a:extLst>
            </p:cNvPr>
            <p:cNvCxnSpPr>
              <a:cxnSpLocks/>
              <a:stCxn id="113" idx="2"/>
              <a:endCxn id="109" idx="0"/>
            </p:cNvCxnSpPr>
            <p:nvPr/>
          </p:nvCxnSpPr>
          <p:spPr>
            <a:xfrm flipH="1">
              <a:off x="10438619" y="2233892"/>
              <a:ext cx="1" cy="42403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w="med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E245ADCC-363D-F4BB-F71F-F795111671F0}"/>
                </a:ext>
              </a:extLst>
            </p:cNvPr>
            <p:cNvCxnSpPr>
              <a:cxnSpLocks/>
              <a:stCxn id="109" idx="2"/>
              <a:endCxn id="110" idx="0"/>
            </p:cNvCxnSpPr>
            <p:nvPr/>
          </p:nvCxnSpPr>
          <p:spPr>
            <a:xfrm>
              <a:off x="10438619" y="3043591"/>
              <a:ext cx="1" cy="42403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w="med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连接符: 肘形 133">
              <a:extLst>
                <a:ext uri="{FF2B5EF4-FFF2-40B4-BE49-F238E27FC236}">
                  <a16:creationId xmlns:a16="http://schemas.microsoft.com/office/drawing/2014/main" id="{5278127D-A0D0-668E-D13B-043829C9E214}"/>
                </a:ext>
              </a:extLst>
            </p:cNvPr>
            <p:cNvCxnSpPr>
              <a:cxnSpLocks/>
              <a:endCxn id="116" idx="3"/>
            </p:cNvCxnSpPr>
            <p:nvPr/>
          </p:nvCxnSpPr>
          <p:spPr>
            <a:xfrm>
              <a:off x="1573362" y="676270"/>
              <a:ext cx="9906404" cy="1355154"/>
            </a:xfrm>
            <a:prstGeom prst="bentConnector3">
              <a:avLst>
                <a:gd name="adj1" fmla="val 102308"/>
              </a:avLst>
            </a:prstGeom>
            <a:ln w="19050">
              <a:solidFill>
                <a:srgbClr val="C0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>
              <a:extLst>
                <a:ext uri="{FF2B5EF4-FFF2-40B4-BE49-F238E27FC236}">
                  <a16:creationId xmlns:a16="http://schemas.microsoft.com/office/drawing/2014/main" id="{9C4CBC98-FC12-522F-2499-AE5D0F960D41}"/>
                </a:ext>
              </a:extLst>
            </p:cNvPr>
            <p:cNvCxnSpPr>
              <a:cxnSpLocks/>
              <a:stCxn id="48" idx="0"/>
            </p:cNvCxnSpPr>
            <p:nvPr/>
          </p:nvCxnSpPr>
          <p:spPr>
            <a:xfrm flipH="1" flipV="1">
              <a:off x="1579600" y="683359"/>
              <a:ext cx="4942" cy="132637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8" name="矩形: 圆角 197">
              <a:extLst>
                <a:ext uri="{FF2B5EF4-FFF2-40B4-BE49-F238E27FC236}">
                  <a16:creationId xmlns:a16="http://schemas.microsoft.com/office/drawing/2014/main" id="{0EA79159-8438-78EB-DD41-7346621E260C}"/>
                </a:ext>
              </a:extLst>
            </p:cNvPr>
            <p:cNvSpPr/>
            <p:nvPr/>
          </p:nvSpPr>
          <p:spPr>
            <a:xfrm>
              <a:off x="3060187" y="960464"/>
              <a:ext cx="3035813" cy="4502151"/>
            </a:xfrm>
            <a:prstGeom prst="roundRect">
              <a:avLst/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200" name="矩形: 圆角 199">
              <a:extLst>
                <a:ext uri="{FF2B5EF4-FFF2-40B4-BE49-F238E27FC236}">
                  <a16:creationId xmlns:a16="http://schemas.microsoft.com/office/drawing/2014/main" id="{B3FA41CE-F181-0A29-526D-C13381DAE16F}"/>
                </a:ext>
              </a:extLst>
            </p:cNvPr>
            <p:cNvSpPr/>
            <p:nvPr/>
          </p:nvSpPr>
          <p:spPr>
            <a:xfrm>
              <a:off x="3471537" y="3619824"/>
              <a:ext cx="1286239" cy="288000"/>
            </a:xfrm>
            <a:prstGeom prst="roundRect">
              <a:avLst/>
            </a:prstGeom>
            <a:solidFill>
              <a:srgbClr val="E8E5F2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矩阵乘法</a:t>
              </a:r>
            </a:p>
          </p:txBody>
        </p:sp>
        <p:sp>
          <p:nvSpPr>
            <p:cNvPr id="201" name="矩形: 圆角 200">
              <a:extLst>
                <a:ext uri="{FF2B5EF4-FFF2-40B4-BE49-F238E27FC236}">
                  <a16:creationId xmlns:a16="http://schemas.microsoft.com/office/drawing/2014/main" id="{5DF9ACF0-9AB9-FFB4-2CC2-C891E09F7B39}"/>
                </a:ext>
              </a:extLst>
            </p:cNvPr>
            <p:cNvSpPr/>
            <p:nvPr/>
          </p:nvSpPr>
          <p:spPr>
            <a:xfrm>
              <a:off x="3901714" y="2111134"/>
              <a:ext cx="1507994" cy="504000"/>
            </a:xfrm>
            <a:prstGeom prst="roundRect">
              <a:avLst/>
            </a:prstGeom>
            <a:solidFill>
              <a:srgbClr val="FDEAF2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基于 </a:t>
              </a:r>
              <a:r>
                <a:rPr lang="en-US" altLang="zh-CN" sz="1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GSR</a:t>
              </a:r>
              <a:r>
                <a: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的随机注意力表征</a:t>
              </a:r>
            </a:p>
          </p:txBody>
        </p:sp>
        <p:sp>
          <p:nvSpPr>
            <p:cNvPr id="202" name="矩形: 圆角 201">
              <a:extLst>
                <a:ext uri="{FF2B5EF4-FFF2-40B4-BE49-F238E27FC236}">
                  <a16:creationId xmlns:a16="http://schemas.microsoft.com/office/drawing/2014/main" id="{4A82914F-A84F-CAB8-A20A-260885B362A1}"/>
                </a:ext>
              </a:extLst>
            </p:cNvPr>
            <p:cNvSpPr/>
            <p:nvPr/>
          </p:nvSpPr>
          <p:spPr>
            <a:xfrm>
              <a:off x="3954208" y="2865479"/>
              <a:ext cx="1406956" cy="504000"/>
            </a:xfrm>
            <a:prstGeom prst="roundRect">
              <a:avLst/>
            </a:prstGeom>
            <a:solidFill>
              <a:srgbClr val="F2F7EA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距离敏感</a:t>
              </a:r>
              <a:endPara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的信号编码</a:t>
              </a:r>
            </a:p>
          </p:txBody>
        </p:sp>
        <p:sp>
          <p:nvSpPr>
            <p:cNvPr id="203" name="矩形: 圆角 202">
              <a:extLst>
                <a:ext uri="{FF2B5EF4-FFF2-40B4-BE49-F238E27FC236}">
                  <a16:creationId xmlns:a16="http://schemas.microsoft.com/office/drawing/2014/main" id="{CF3B7D57-A2C0-77C0-4396-AAB47691784E}"/>
                </a:ext>
              </a:extLst>
            </p:cNvPr>
            <p:cNvSpPr/>
            <p:nvPr/>
          </p:nvSpPr>
          <p:spPr>
            <a:xfrm>
              <a:off x="4554523" y="1572789"/>
              <a:ext cx="1286239" cy="288000"/>
            </a:xfrm>
            <a:prstGeom prst="roundRect">
              <a:avLst/>
            </a:prstGeom>
            <a:solidFill>
              <a:srgbClr val="E8E5F2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矩阵乘法</a:t>
              </a:r>
            </a:p>
          </p:txBody>
        </p:sp>
        <p:sp>
          <p:nvSpPr>
            <p:cNvPr id="204" name="文本框 203">
              <a:extLst>
                <a:ext uri="{FF2B5EF4-FFF2-40B4-BE49-F238E27FC236}">
                  <a16:creationId xmlns:a16="http://schemas.microsoft.com/office/drawing/2014/main" id="{58666BD7-AD61-CD2C-B3AF-435D5C4BD23A}"/>
                </a:ext>
              </a:extLst>
            </p:cNvPr>
            <p:cNvSpPr txBox="1"/>
            <p:nvPr/>
          </p:nvSpPr>
          <p:spPr>
            <a:xfrm>
              <a:off x="5005567" y="5027874"/>
              <a:ext cx="403860" cy="27699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5" name="文本框 204">
              <a:extLst>
                <a:ext uri="{FF2B5EF4-FFF2-40B4-BE49-F238E27FC236}">
                  <a16:creationId xmlns:a16="http://schemas.microsoft.com/office/drawing/2014/main" id="{DC80C9FB-082F-BFAF-4FE9-A95AD3169D60}"/>
                </a:ext>
              </a:extLst>
            </p:cNvPr>
            <p:cNvSpPr txBox="1"/>
            <p:nvPr/>
          </p:nvSpPr>
          <p:spPr>
            <a:xfrm>
              <a:off x="5522033" y="5032637"/>
              <a:ext cx="403860" cy="27699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endPara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06" name="组合 205">
              <a:extLst>
                <a:ext uri="{FF2B5EF4-FFF2-40B4-BE49-F238E27FC236}">
                  <a16:creationId xmlns:a16="http://schemas.microsoft.com/office/drawing/2014/main" id="{E9A17076-3041-9805-D093-8AAEAF7DBCC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087791" y="3641667"/>
              <a:ext cx="241130" cy="241130"/>
              <a:chOff x="4801552" y="2902268"/>
              <a:chExt cx="365760" cy="365760"/>
            </a:xfrm>
          </p:grpSpPr>
          <p:sp>
            <p:nvSpPr>
              <p:cNvPr id="222" name="流程图: 接点 221">
                <a:extLst>
                  <a:ext uri="{FF2B5EF4-FFF2-40B4-BE49-F238E27FC236}">
                    <a16:creationId xmlns:a16="http://schemas.microsoft.com/office/drawing/2014/main" id="{1D202A7B-10F4-9064-5509-F8F500C0544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01552" y="2902268"/>
                <a:ext cx="365760" cy="365760"/>
              </a:xfrm>
              <a:prstGeom prst="flowChartConnector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23" name="连接符: 曲线 222">
                <a:extLst>
                  <a:ext uri="{FF2B5EF4-FFF2-40B4-BE49-F238E27FC236}">
                    <a16:creationId xmlns:a16="http://schemas.microsoft.com/office/drawing/2014/main" id="{0DCCE04E-D4A3-63B2-BFBA-868FC7E600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00680" y="2997058"/>
                <a:ext cx="177028" cy="177005"/>
              </a:xfrm>
              <a:prstGeom prst="curvedConnector3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sp>
          <p:nvSpPr>
            <p:cNvPr id="207" name="矩形: 圆角 206">
              <a:extLst>
                <a:ext uri="{FF2B5EF4-FFF2-40B4-BE49-F238E27FC236}">
                  <a16:creationId xmlns:a16="http://schemas.microsoft.com/office/drawing/2014/main" id="{C2D9E2DC-F6E6-4BC0-779B-C20CBABEFFEE}"/>
                </a:ext>
              </a:extLst>
            </p:cNvPr>
            <p:cNvSpPr/>
            <p:nvPr/>
          </p:nvSpPr>
          <p:spPr>
            <a:xfrm>
              <a:off x="3230292" y="4158169"/>
              <a:ext cx="1131300" cy="504000"/>
            </a:xfrm>
            <a:prstGeom prst="roundRect">
              <a:avLst/>
            </a:prstGeom>
            <a:solidFill>
              <a:srgbClr val="FDEAF2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基于 </a:t>
              </a:r>
              <a:r>
                <a:rPr lang="en-US" altLang="zh-CN" sz="1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GSR</a:t>
              </a:r>
              <a:r>
                <a: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的聚类</a:t>
              </a:r>
            </a:p>
          </p:txBody>
        </p:sp>
        <p:sp>
          <p:nvSpPr>
            <p:cNvPr id="208" name="文本框 207">
              <a:extLst>
                <a:ext uri="{FF2B5EF4-FFF2-40B4-BE49-F238E27FC236}">
                  <a16:creationId xmlns:a16="http://schemas.microsoft.com/office/drawing/2014/main" id="{3A1FBF21-CB9E-2B37-262E-3678ABFEC5F5}"/>
                </a:ext>
              </a:extLst>
            </p:cNvPr>
            <p:cNvSpPr txBox="1"/>
            <p:nvPr/>
          </p:nvSpPr>
          <p:spPr>
            <a:xfrm>
              <a:off x="3272029" y="5027874"/>
              <a:ext cx="403860" cy="27699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9" name="文本框 208">
              <a:extLst>
                <a:ext uri="{FF2B5EF4-FFF2-40B4-BE49-F238E27FC236}">
                  <a16:creationId xmlns:a16="http://schemas.microsoft.com/office/drawing/2014/main" id="{21EBBF7C-3157-A1B3-37B9-889687BA9D4A}"/>
                </a:ext>
              </a:extLst>
            </p:cNvPr>
            <p:cNvSpPr txBox="1"/>
            <p:nvPr/>
          </p:nvSpPr>
          <p:spPr>
            <a:xfrm>
              <a:off x="3847532" y="5027874"/>
              <a:ext cx="403860" cy="27699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10" name="直接箭头连接符 209">
              <a:extLst>
                <a:ext uri="{FF2B5EF4-FFF2-40B4-BE49-F238E27FC236}">
                  <a16:creationId xmlns:a16="http://schemas.microsoft.com/office/drawing/2014/main" id="{0772963A-2857-2AA9-CD80-41A241A7C6DA}"/>
                </a:ext>
              </a:extLst>
            </p:cNvPr>
            <p:cNvCxnSpPr>
              <a:cxnSpLocks/>
              <a:stCxn id="208" idx="0"/>
            </p:cNvCxnSpPr>
            <p:nvPr/>
          </p:nvCxnSpPr>
          <p:spPr>
            <a:xfrm flipV="1">
              <a:off x="3473959" y="4669002"/>
              <a:ext cx="0" cy="358872"/>
            </a:xfrm>
            <a:prstGeom prst="straightConnector1">
              <a:avLst/>
            </a:prstGeom>
            <a:ln w="19050">
              <a:tailEnd type="triangle" w="sm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11" name="直接箭头连接符 210">
              <a:extLst>
                <a:ext uri="{FF2B5EF4-FFF2-40B4-BE49-F238E27FC236}">
                  <a16:creationId xmlns:a16="http://schemas.microsoft.com/office/drawing/2014/main" id="{6144BF2E-945F-E04C-0548-5FA23393DE49}"/>
                </a:ext>
              </a:extLst>
            </p:cNvPr>
            <p:cNvCxnSpPr>
              <a:cxnSpLocks/>
              <a:stCxn id="209" idx="0"/>
            </p:cNvCxnSpPr>
            <p:nvPr/>
          </p:nvCxnSpPr>
          <p:spPr>
            <a:xfrm flipV="1">
              <a:off x="4049462" y="4662213"/>
              <a:ext cx="0" cy="365661"/>
            </a:xfrm>
            <a:prstGeom prst="straightConnector1">
              <a:avLst/>
            </a:prstGeom>
            <a:ln w="19050">
              <a:tailEnd type="triangle" w="sm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12" name="直接箭头连接符 211">
              <a:extLst>
                <a:ext uri="{FF2B5EF4-FFF2-40B4-BE49-F238E27FC236}">
                  <a16:creationId xmlns:a16="http://schemas.microsoft.com/office/drawing/2014/main" id="{1AC64DD0-2D9C-17E4-899D-EC6FC0C637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4084" y="3950546"/>
              <a:ext cx="0" cy="207623"/>
            </a:xfrm>
            <a:prstGeom prst="straightConnector1">
              <a:avLst/>
            </a:prstGeom>
            <a:ln w="19050">
              <a:tailEnd type="triangle" w="sm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13" name="文本框 212">
              <a:extLst>
                <a:ext uri="{FF2B5EF4-FFF2-40B4-BE49-F238E27FC236}">
                  <a16:creationId xmlns:a16="http://schemas.microsoft.com/office/drawing/2014/main" id="{F029463E-BDBD-4674-0489-16D0E1A38BBD}"/>
                </a:ext>
              </a:extLst>
            </p:cNvPr>
            <p:cNvSpPr txBox="1"/>
            <p:nvPr/>
          </p:nvSpPr>
          <p:spPr>
            <a:xfrm>
              <a:off x="4321014" y="5027874"/>
              <a:ext cx="403860" cy="27699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14" name="直接箭头连接符 213">
              <a:extLst>
                <a:ext uri="{FF2B5EF4-FFF2-40B4-BE49-F238E27FC236}">
                  <a16:creationId xmlns:a16="http://schemas.microsoft.com/office/drawing/2014/main" id="{DD799DED-3CAE-4A74-7AF5-FD1E60FCEE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2944" y="3950546"/>
              <a:ext cx="0" cy="1006448"/>
            </a:xfrm>
            <a:prstGeom prst="straightConnector1">
              <a:avLst/>
            </a:prstGeom>
            <a:ln w="19050">
              <a:tailEnd type="triangle" w="sm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15" name="直接箭头连接符 214">
              <a:extLst>
                <a:ext uri="{FF2B5EF4-FFF2-40B4-BE49-F238E27FC236}">
                  <a16:creationId xmlns:a16="http://schemas.microsoft.com/office/drawing/2014/main" id="{81EDC9EA-65F8-3482-9860-F9B7974F08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97642" y="1328612"/>
              <a:ext cx="14" cy="218858"/>
            </a:xfrm>
            <a:prstGeom prst="straightConnector1">
              <a:avLst/>
            </a:prstGeom>
            <a:ln w="19050">
              <a:tailEnd type="triangle" w="sm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16" name="直接箭头连接符 215">
              <a:extLst>
                <a:ext uri="{FF2B5EF4-FFF2-40B4-BE49-F238E27FC236}">
                  <a16:creationId xmlns:a16="http://schemas.microsoft.com/office/drawing/2014/main" id="{71747305-58F6-8B7E-05B3-C91AF19892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6511" y="3392488"/>
              <a:ext cx="0" cy="227093"/>
            </a:xfrm>
            <a:prstGeom prst="straightConnector1">
              <a:avLst/>
            </a:prstGeom>
            <a:ln w="19050">
              <a:tailEnd type="triangle" w="sm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17" name="直接箭头连接符 216">
              <a:extLst>
                <a:ext uri="{FF2B5EF4-FFF2-40B4-BE49-F238E27FC236}">
                  <a16:creationId xmlns:a16="http://schemas.microsoft.com/office/drawing/2014/main" id="{509FD3E5-8D62-CFCE-8D93-21DDA4F007C9}"/>
                </a:ext>
              </a:extLst>
            </p:cNvPr>
            <p:cNvCxnSpPr>
              <a:cxnSpLocks/>
              <a:endCxn id="201" idx="2"/>
            </p:cNvCxnSpPr>
            <p:nvPr/>
          </p:nvCxnSpPr>
          <p:spPr>
            <a:xfrm flipV="1">
              <a:off x="4655711" y="2615134"/>
              <a:ext cx="0" cy="240154"/>
            </a:xfrm>
            <a:prstGeom prst="straightConnector1">
              <a:avLst/>
            </a:prstGeom>
            <a:ln w="19050">
              <a:tailEnd type="triangle" w="sm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18" name="直接箭头连接符 217">
              <a:extLst>
                <a:ext uri="{FF2B5EF4-FFF2-40B4-BE49-F238E27FC236}">
                  <a16:creationId xmlns:a16="http://schemas.microsoft.com/office/drawing/2014/main" id="{AD5D3411-5EB2-C756-0F46-A5AFFB67A69D}"/>
                </a:ext>
              </a:extLst>
            </p:cNvPr>
            <p:cNvCxnSpPr>
              <a:cxnSpLocks/>
              <a:stCxn id="205" idx="0"/>
            </p:cNvCxnSpPr>
            <p:nvPr/>
          </p:nvCxnSpPr>
          <p:spPr>
            <a:xfrm flipV="1">
              <a:off x="5723963" y="1888227"/>
              <a:ext cx="0" cy="3144410"/>
            </a:xfrm>
            <a:prstGeom prst="straightConnector1">
              <a:avLst/>
            </a:prstGeom>
            <a:ln w="19050">
              <a:headEnd w="med" len="lg"/>
              <a:tailEnd type="triangle" w="sm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19" name="直接箭头连接符 218">
              <a:extLst>
                <a:ext uri="{FF2B5EF4-FFF2-40B4-BE49-F238E27FC236}">
                  <a16:creationId xmlns:a16="http://schemas.microsoft.com/office/drawing/2014/main" id="{C6BD1E04-583D-DDB7-8227-B0AC33CC2B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49695" y="1888227"/>
              <a:ext cx="0" cy="212043"/>
            </a:xfrm>
            <a:prstGeom prst="straightConnector1">
              <a:avLst/>
            </a:prstGeom>
            <a:ln w="19050">
              <a:tailEnd type="triangle" w="sm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20" name="直接箭头连接符 219">
              <a:extLst>
                <a:ext uri="{FF2B5EF4-FFF2-40B4-BE49-F238E27FC236}">
                  <a16:creationId xmlns:a16="http://schemas.microsoft.com/office/drawing/2014/main" id="{F631416F-82F0-19EB-3768-5882645BF2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08356" y="3882797"/>
              <a:ext cx="0" cy="1080104"/>
            </a:xfrm>
            <a:prstGeom prst="straightConnector1">
              <a:avLst/>
            </a:prstGeom>
            <a:ln w="19050">
              <a:tailEnd type="triangle" w="sm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21" name="直接箭头连接符 220">
              <a:extLst>
                <a:ext uri="{FF2B5EF4-FFF2-40B4-BE49-F238E27FC236}">
                  <a16:creationId xmlns:a16="http://schemas.microsoft.com/office/drawing/2014/main" id="{38CD5BBD-D1CA-CEF7-1F2C-DC712986B25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04763" y="3392488"/>
              <a:ext cx="2406" cy="249179"/>
            </a:xfrm>
            <a:prstGeom prst="straightConnector1">
              <a:avLst/>
            </a:prstGeom>
            <a:ln w="19050">
              <a:tailEnd type="triangle" w="sm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26" name="直接箭头连接符 225">
              <a:extLst>
                <a:ext uri="{FF2B5EF4-FFF2-40B4-BE49-F238E27FC236}">
                  <a16:creationId xmlns:a16="http://schemas.microsoft.com/office/drawing/2014/main" id="{3E927B19-6453-0EEF-CF6B-DE0EBFF155F2}"/>
                </a:ext>
              </a:extLst>
            </p:cNvPr>
            <p:cNvCxnSpPr>
              <a:cxnSpLocks/>
            </p:cNvCxnSpPr>
            <p:nvPr/>
          </p:nvCxnSpPr>
          <p:spPr>
            <a:xfrm>
              <a:off x="1579599" y="1741965"/>
              <a:ext cx="3954" cy="22856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箭头连接符 228">
              <a:extLst>
                <a:ext uri="{FF2B5EF4-FFF2-40B4-BE49-F238E27FC236}">
                  <a16:creationId xmlns:a16="http://schemas.microsoft.com/office/drawing/2014/main" id="{BB90A141-994D-C31D-397D-AC0F6D493DFD}"/>
                </a:ext>
              </a:extLst>
            </p:cNvPr>
            <p:cNvCxnSpPr>
              <a:cxnSpLocks/>
            </p:cNvCxnSpPr>
            <p:nvPr/>
          </p:nvCxnSpPr>
          <p:spPr>
            <a:xfrm>
              <a:off x="1585177" y="2456888"/>
              <a:ext cx="0" cy="21646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直接箭头连接符 234">
              <a:extLst>
                <a:ext uri="{FF2B5EF4-FFF2-40B4-BE49-F238E27FC236}">
                  <a16:creationId xmlns:a16="http://schemas.microsoft.com/office/drawing/2014/main" id="{9A72AC96-A588-026E-4895-CF8AB8499D48}"/>
                </a:ext>
              </a:extLst>
            </p:cNvPr>
            <p:cNvCxnSpPr>
              <a:cxnSpLocks/>
            </p:cNvCxnSpPr>
            <p:nvPr/>
          </p:nvCxnSpPr>
          <p:spPr>
            <a:xfrm>
              <a:off x="1586407" y="3856346"/>
              <a:ext cx="0" cy="18840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直接箭头连接符 240">
              <a:extLst>
                <a:ext uri="{FF2B5EF4-FFF2-40B4-BE49-F238E27FC236}">
                  <a16:creationId xmlns:a16="http://schemas.microsoft.com/office/drawing/2014/main" id="{D83E77CD-6E3D-3993-B602-BC09B4D30ED9}"/>
                </a:ext>
              </a:extLst>
            </p:cNvPr>
            <p:cNvCxnSpPr>
              <a:cxnSpLocks/>
              <a:stCxn id="59" idx="2"/>
              <a:endCxn id="7" idx="0"/>
            </p:cNvCxnSpPr>
            <p:nvPr/>
          </p:nvCxnSpPr>
          <p:spPr>
            <a:xfrm>
              <a:off x="1583171" y="3392471"/>
              <a:ext cx="6983" cy="20370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0" name="文本框 279">
              <a:extLst>
                <a:ext uri="{FF2B5EF4-FFF2-40B4-BE49-F238E27FC236}">
                  <a16:creationId xmlns:a16="http://schemas.microsoft.com/office/drawing/2014/main" id="{47A11836-649F-5D0A-0BB7-D46328C90971}"/>
                </a:ext>
              </a:extLst>
            </p:cNvPr>
            <p:cNvSpPr txBox="1"/>
            <p:nvPr/>
          </p:nvSpPr>
          <p:spPr>
            <a:xfrm>
              <a:off x="7555758" y="5525077"/>
              <a:ext cx="214954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1" name="文本框 280">
              <a:extLst>
                <a:ext uri="{FF2B5EF4-FFF2-40B4-BE49-F238E27FC236}">
                  <a16:creationId xmlns:a16="http://schemas.microsoft.com/office/drawing/2014/main" id="{8184A3B1-2FE5-2889-C38F-B9CDA04B1EAD}"/>
                </a:ext>
              </a:extLst>
            </p:cNvPr>
            <p:cNvSpPr txBox="1"/>
            <p:nvPr/>
          </p:nvSpPr>
          <p:spPr>
            <a:xfrm>
              <a:off x="6752258" y="1473867"/>
              <a:ext cx="695335" cy="27699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训练</a:t>
              </a:r>
            </a:p>
          </p:txBody>
        </p:sp>
        <p:sp>
          <p:nvSpPr>
            <p:cNvPr id="282" name="文本框 281">
              <a:extLst>
                <a:ext uri="{FF2B5EF4-FFF2-40B4-BE49-F238E27FC236}">
                  <a16:creationId xmlns:a16="http://schemas.microsoft.com/office/drawing/2014/main" id="{511535AA-91EF-4890-4B4F-E19FC7DDF45A}"/>
                </a:ext>
              </a:extLst>
            </p:cNvPr>
            <p:cNvSpPr txBox="1"/>
            <p:nvPr/>
          </p:nvSpPr>
          <p:spPr>
            <a:xfrm>
              <a:off x="7780124" y="1473866"/>
              <a:ext cx="695336" cy="27699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推理</a:t>
              </a:r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EE73852E-48C6-4749-2863-1F6056409CFC}"/>
                </a:ext>
              </a:extLst>
            </p:cNvPr>
            <p:cNvGrpSpPr/>
            <p:nvPr/>
          </p:nvGrpSpPr>
          <p:grpSpPr>
            <a:xfrm>
              <a:off x="6509239" y="755537"/>
              <a:ext cx="2196633" cy="523220"/>
              <a:chOff x="6468171" y="783889"/>
              <a:chExt cx="2196633" cy="52322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83" name="文本框 282">
                    <a:extLst>
                      <a:ext uri="{FF2B5EF4-FFF2-40B4-BE49-F238E27FC236}">
                        <a16:creationId xmlns:a16="http://schemas.microsoft.com/office/drawing/2014/main" id="{F2963604-B82E-E254-ECE3-4C80B6686904}"/>
                      </a:ext>
                    </a:extLst>
                  </p:cNvPr>
                  <p:cNvSpPr txBox="1"/>
                  <p:nvPr/>
                </p:nvSpPr>
                <p:spPr>
                  <a:xfrm>
                    <a:off x="6468171" y="783889"/>
                    <a:ext cx="1080000" cy="52322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SOH</a:t>
                    </a:r>
                    <a:r>
                      <a:rPr lang="en-US" altLang="zh-CN" sz="14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 </a:t>
                    </a:r>
                    <a:r>
                      <a:rPr lang="zh-CN" altLang="en-US" sz="14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点</a:t>
                    </a:r>
                    <a:endParaRPr lang="en-US" altLang="zh-CN" sz="1400" b="1" dirty="0">
                      <a:latin typeface="宋体" panose="02010600030101010101" pitchFamily="2" charset="-122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  <a:p>
                    <a:pPr algn="ctr"/>
                    <a:r>
                      <a:rPr lang="zh-CN" altLang="en-US" sz="14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估计</a:t>
                    </a:r>
                    <a:r>
                      <a:rPr lang="en-US" altLang="zh-CN" sz="14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altLang="zh-CN" sz="1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oMath>
                    </a14:m>
                    <a:endParaRPr lang="zh-CN" altLang="en-US" sz="1400" b="1" dirty="0">
                      <a:latin typeface="宋体" panose="02010600030101010101" pitchFamily="2" charset="-122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283" name="文本框 282">
                    <a:extLst>
                      <a:ext uri="{FF2B5EF4-FFF2-40B4-BE49-F238E27FC236}">
                        <a16:creationId xmlns:a16="http://schemas.microsoft.com/office/drawing/2014/main" id="{F2963604-B82E-E254-ECE3-4C80B668690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68171" y="783889"/>
                    <a:ext cx="1080000" cy="5232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t="-3488" b="-9302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84" name="文本框 283">
                    <a:extLst>
                      <a:ext uri="{FF2B5EF4-FFF2-40B4-BE49-F238E27FC236}">
                        <a16:creationId xmlns:a16="http://schemas.microsoft.com/office/drawing/2014/main" id="{AF635A8D-7783-2028-D9F3-0CABE8DC20D4}"/>
                      </a:ext>
                    </a:extLst>
                  </p:cNvPr>
                  <p:cNvSpPr txBox="1"/>
                  <p:nvPr/>
                </p:nvSpPr>
                <p:spPr>
                  <a:xfrm>
                    <a:off x="7584804" y="783889"/>
                    <a:ext cx="1080000" cy="52322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SOH</a:t>
                    </a:r>
                    <a:r>
                      <a:rPr lang="en-US" altLang="zh-CN" sz="14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 </a:t>
                    </a:r>
                    <a:r>
                      <a:rPr lang="zh-CN" altLang="en-US" sz="14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后验</a:t>
                    </a:r>
                    <a:endParaRPr lang="en-US" altLang="zh-CN" sz="1400" b="1" dirty="0">
                      <a:latin typeface="宋体" panose="02010600030101010101" pitchFamily="2" charset="-122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d>
                            <m:dPr>
                              <m:endChr m:val="|"/>
                              <m:ctrlPr>
                                <a:rPr lang="en-US" altLang="zh-CN" sz="14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4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𝒚</m:t>
                              </m:r>
                              <m:r>
                                <a:rPr lang="en-US" altLang="zh-CN" sz="14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CN" altLang="en-US" sz="1400" b="1" dirty="0">
                      <a:latin typeface="宋体" panose="02010600030101010101" pitchFamily="2" charset="-122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284" name="文本框 283">
                    <a:extLst>
                      <a:ext uri="{FF2B5EF4-FFF2-40B4-BE49-F238E27FC236}">
                        <a16:creationId xmlns:a16="http://schemas.microsoft.com/office/drawing/2014/main" id="{AF635A8D-7783-2028-D9F3-0CABE8DC20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84804" y="783889"/>
                    <a:ext cx="1080000" cy="52322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t="-3488" b="-5814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09" name="组合 308">
              <a:extLst>
                <a:ext uri="{FF2B5EF4-FFF2-40B4-BE49-F238E27FC236}">
                  <a16:creationId xmlns:a16="http://schemas.microsoft.com/office/drawing/2014/main" id="{133EAF8D-8110-274B-3B96-0DF6BDB81D34}"/>
                </a:ext>
              </a:extLst>
            </p:cNvPr>
            <p:cNvGrpSpPr/>
            <p:nvPr/>
          </p:nvGrpSpPr>
          <p:grpSpPr>
            <a:xfrm>
              <a:off x="6908177" y="2266560"/>
              <a:ext cx="1398756" cy="742047"/>
              <a:chOff x="1349743" y="2359562"/>
              <a:chExt cx="1203977" cy="741804"/>
            </a:xfrm>
          </p:grpSpPr>
          <p:sp>
            <p:nvSpPr>
              <p:cNvPr id="312" name="矩形: 圆角 311">
                <a:extLst>
                  <a:ext uri="{FF2B5EF4-FFF2-40B4-BE49-F238E27FC236}">
                    <a16:creationId xmlns:a16="http://schemas.microsoft.com/office/drawing/2014/main" id="{B071ACDE-F69A-907F-8C93-4BE70F2B5EA1}"/>
                  </a:ext>
                </a:extLst>
              </p:cNvPr>
              <p:cNvSpPr/>
              <p:nvPr/>
            </p:nvSpPr>
            <p:spPr>
              <a:xfrm>
                <a:off x="1349743" y="2904388"/>
                <a:ext cx="1203977" cy="196978"/>
              </a:xfrm>
              <a:prstGeom prst="roundRect">
                <a:avLst/>
              </a:prstGeom>
              <a:solidFill>
                <a:srgbClr val="F4CBBA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线性</a:t>
                </a:r>
              </a:p>
            </p:txBody>
          </p:sp>
          <p:sp>
            <p:nvSpPr>
              <p:cNvPr id="313" name="矩形: 圆角 312">
                <a:extLst>
                  <a:ext uri="{FF2B5EF4-FFF2-40B4-BE49-F238E27FC236}">
                    <a16:creationId xmlns:a16="http://schemas.microsoft.com/office/drawing/2014/main" id="{FD06E299-448B-B829-9537-F13BB6EB2A7A}"/>
                  </a:ext>
                </a:extLst>
              </p:cNvPr>
              <p:cNvSpPr/>
              <p:nvPr/>
            </p:nvSpPr>
            <p:spPr>
              <a:xfrm>
                <a:off x="1456786" y="2631975"/>
                <a:ext cx="989893" cy="196977"/>
              </a:xfrm>
              <a:prstGeom prst="roundRect">
                <a:avLst/>
              </a:prstGeom>
              <a:solidFill>
                <a:srgbClr val="F4CBBA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线性</a:t>
                </a:r>
              </a:p>
            </p:txBody>
          </p:sp>
          <p:sp>
            <p:nvSpPr>
              <p:cNvPr id="314" name="矩形: 圆角 313">
                <a:extLst>
                  <a:ext uri="{FF2B5EF4-FFF2-40B4-BE49-F238E27FC236}">
                    <a16:creationId xmlns:a16="http://schemas.microsoft.com/office/drawing/2014/main" id="{5E06230A-BC6F-862C-9A43-515813C4998B}"/>
                  </a:ext>
                </a:extLst>
              </p:cNvPr>
              <p:cNvSpPr/>
              <p:nvPr/>
            </p:nvSpPr>
            <p:spPr>
              <a:xfrm>
                <a:off x="1560591" y="2359562"/>
                <a:ext cx="782285" cy="196978"/>
              </a:xfrm>
              <a:prstGeom prst="roundRect">
                <a:avLst/>
              </a:prstGeom>
              <a:solidFill>
                <a:srgbClr val="F4CBBA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线性</a:t>
                </a:r>
              </a:p>
            </p:txBody>
          </p:sp>
        </p:grpSp>
        <p:sp>
          <p:nvSpPr>
            <p:cNvPr id="310" name="矩形 309">
              <a:extLst>
                <a:ext uri="{FF2B5EF4-FFF2-40B4-BE49-F238E27FC236}">
                  <a16:creationId xmlns:a16="http://schemas.microsoft.com/office/drawing/2014/main" id="{A4B3C9B4-DACC-DFF1-AD40-E464A36598A0}"/>
                </a:ext>
              </a:extLst>
            </p:cNvPr>
            <p:cNvSpPr/>
            <p:nvPr/>
          </p:nvSpPr>
          <p:spPr>
            <a:xfrm>
              <a:off x="6840316" y="1980538"/>
              <a:ext cx="1534478" cy="1098911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cxnSp>
          <p:nvCxnSpPr>
            <p:cNvPr id="287" name="直接连接符 286">
              <a:extLst>
                <a:ext uri="{FF2B5EF4-FFF2-40B4-BE49-F238E27FC236}">
                  <a16:creationId xmlns:a16="http://schemas.microsoft.com/office/drawing/2014/main" id="{FA62D3D5-D64B-5124-62CF-B72CA818DC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27789" y="1264251"/>
              <a:ext cx="1" cy="209616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med" len="lg"/>
              <a:tailEnd type="non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连接符: 肘形 306">
              <a:extLst>
                <a:ext uri="{FF2B5EF4-FFF2-40B4-BE49-F238E27FC236}">
                  <a16:creationId xmlns:a16="http://schemas.microsoft.com/office/drawing/2014/main" id="{556D992E-940D-CE9C-BC34-5BD01DF5084B}"/>
                </a:ext>
              </a:extLst>
            </p:cNvPr>
            <p:cNvCxnSpPr>
              <a:cxnSpLocks/>
              <a:stCxn id="281" idx="2"/>
            </p:cNvCxnSpPr>
            <p:nvPr/>
          </p:nvCxnSpPr>
          <p:spPr>
            <a:xfrm rot="16200000" flipH="1">
              <a:off x="7559406" y="1257476"/>
              <a:ext cx="96297" cy="1027864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直接连接符 307">
              <a:extLst>
                <a:ext uri="{FF2B5EF4-FFF2-40B4-BE49-F238E27FC236}">
                  <a16:creationId xmlns:a16="http://schemas.microsoft.com/office/drawing/2014/main" id="{212F77E8-A0F0-3CF7-6A40-907F9A3720E4}"/>
                </a:ext>
              </a:extLst>
            </p:cNvPr>
            <p:cNvCxnSpPr>
              <a:cxnSpLocks/>
            </p:cNvCxnSpPr>
            <p:nvPr/>
          </p:nvCxnSpPr>
          <p:spPr>
            <a:xfrm>
              <a:off x="8121485" y="1720837"/>
              <a:ext cx="2" cy="9871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直接连接符 305">
              <a:extLst>
                <a:ext uri="{FF2B5EF4-FFF2-40B4-BE49-F238E27FC236}">
                  <a16:creationId xmlns:a16="http://schemas.microsoft.com/office/drawing/2014/main" id="{9FE90D3B-B02D-5F3C-6C6F-13F4013377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12653" y="1819556"/>
              <a:ext cx="0" cy="1073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9" name="矩形: 圆角 288">
              <a:extLst>
                <a:ext uri="{FF2B5EF4-FFF2-40B4-BE49-F238E27FC236}">
                  <a16:creationId xmlns:a16="http://schemas.microsoft.com/office/drawing/2014/main" id="{7BE10DE3-C5CE-91B2-7A7C-56341373F4F6}"/>
                </a:ext>
              </a:extLst>
            </p:cNvPr>
            <p:cNvSpPr/>
            <p:nvPr/>
          </p:nvSpPr>
          <p:spPr>
            <a:xfrm>
              <a:off x="6958556" y="3631568"/>
              <a:ext cx="1320800" cy="245755"/>
            </a:xfrm>
            <a:prstGeom prst="roundRect">
              <a:avLst/>
            </a:prstGeom>
            <a:solidFill>
              <a:srgbClr val="F4F7F5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加</a:t>
              </a:r>
              <a:r>
                <a: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1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</a:t>
              </a:r>
              <a:r>
                <a: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归一化</a:t>
              </a:r>
            </a:p>
          </p:txBody>
        </p:sp>
        <p:sp>
          <p:nvSpPr>
            <p:cNvPr id="290" name="矩形: 圆角 289">
              <a:extLst>
                <a:ext uri="{FF2B5EF4-FFF2-40B4-BE49-F238E27FC236}">
                  <a16:creationId xmlns:a16="http://schemas.microsoft.com/office/drawing/2014/main" id="{AA90AB08-DFA2-DD68-69C4-E84AA549B638}"/>
                </a:ext>
              </a:extLst>
            </p:cNvPr>
            <p:cNvSpPr/>
            <p:nvPr/>
          </p:nvSpPr>
          <p:spPr>
            <a:xfrm>
              <a:off x="6953458" y="4058356"/>
              <a:ext cx="1320800" cy="245755"/>
            </a:xfrm>
            <a:prstGeom prst="roundRect">
              <a:avLst/>
            </a:prstGeom>
            <a:solidFill>
              <a:srgbClr val="FEFCE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拼接</a:t>
              </a:r>
              <a:r>
                <a: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1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</a:t>
              </a:r>
              <a:r>
                <a: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投影</a:t>
              </a:r>
            </a:p>
          </p:txBody>
        </p:sp>
        <p:grpSp>
          <p:nvGrpSpPr>
            <p:cNvPr id="291" name="组合 290">
              <a:extLst>
                <a:ext uri="{FF2B5EF4-FFF2-40B4-BE49-F238E27FC236}">
                  <a16:creationId xmlns:a16="http://schemas.microsoft.com/office/drawing/2014/main" id="{5514029A-FE4F-ABA8-08F8-C5CD2B39135E}"/>
                </a:ext>
              </a:extLst>
            </p:cNvPr>
            <p:cNvGrpSpPr/>
            <p:nvPr/>
          </p:nvGrpSpPr>
          <p:grpSpPr>
            <a:xfrm>
              <a:off x="6630994" y="4461648"/>
              <a:ext cx="1932105" cy="672335"/>
              <a:chOff x="6405445" y="4509265"/>
              <a:chExt cx="2224342" cy="842178"/>
            </a:xfrm>
            <a:solidFill>
              <a:schemeClr val="bg1"/>
            </a:solidFill>
          </p:grpSpPr>
          <p:sp>
            <p:nvSpPr>
              <p:cNvPr id="301" name="矩形: 圆角 300">
                <a:extLst>
                  <a:ext uri="{FF2B5EF4-FFF2-40B4-BE49-F238E27FC236}">
                    <a16:creationId xmlns:a16="http://schemas.microsoft.com/office/drawing/2014/main" id="{D8C2005D-B50A-5155-C2E1-301C9ABE20EA}"/>
                  </a:ext>
                </a:extLst>
              </p:cNvPr>
              <p:cNvSpPr/>
              <p:nvPr/>
            </p:nvSpPr>
            <p:spPr>
              <a:xfrm>
                <a:off x="6405445" y="4509265"/>
                <a:ext cx="1767142" cy="384978"/>
              </a:xfrm>
              <a:prstGeom prst="roundRect">
                <a:avLst/>
              </a:prstGeom>
              <a:solidFill>
                <a:srgbClr val="E2DFEF"/>
              </a:solidFill>
              <a:ln>
                <a:solidFill>
                  <a:schemeClr val="dk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2" name="矩形: 圆角 301">
                <a:extLst>
                  <a:ext uri="{FF2B5EF4-FFF2-40B4-BE49-F238E27FC236}">
                    <a16:creationId xmlns:a16="http://schemas.microsoft.com/office/drawing/2014/main" id="{7B3B7CD3-9B26-09BE-555C-8A15306A8BAA}"/>
                  </a:ext>
                </a:extLst>
              </p:cNvPr>
              <p:cNvSpPr/>
              <p:nvPr/>
            </p:nvSpPr>
            <p:spPr>
              <a:xfrm>
                <a:off x="6557845" y="4661665"/>
                <a:ext cx="1767142" cy="384978"/>
              </a:xfrm>
              <a:prstGeom prst="roundRect">
                <a:avLst/>
              </a:prstGeom>
              <a:solidFill>
                <a:srgbClr val="E2DFEF"/>
              </a:solidFill>
              <a:ln>
                <a:solidFill>
                  <a:schemeClr val="dk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3" name="矩形: 圆角 302">
                <a:extLst>
                  <a:ext uri="{FF2B5EF4-FFF2-40B4-BE49-F238E27FC236}">
                    <a16:creationId xmlns:a16="http://schemas.microsoft.com/office/drawing/2014/main" id="{950004A9-54F5-6AE3-404E-46CC2BD271B7}"/>
                  </a:ext>
                </a:extLst>
              </p:cNvPr>
              <p:cNvSpPr/>
              <p:nvPr/>
            </p:nvSpPr>
            <p:spPr>
              <a:xfrm>
                <a:off x="6710245" y="4814065"/>
                <a:ext cx="1767142" cy="384978"/>
              </a:xfrm>
              <a:prstGeom prst="roundRect">
                <a:avLst/>
              </a:prstGeom>
              <a:solidFill>
                <a:srgbClr val="E2DFEF"/>
              </a:solidFill>
              <a:ln>
                <a:solidFill>
                  <a:schemeClr val="dk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4" name="矩形: 圆角 303">
                <a:extLst>
                  <a:ext uri="{FF2B5EF4-FFF2-40B4-BE49-F238E27FC236}">
                    <a16:creationId xmlns:a16="http://schemas.microsoft.com/office/drawing/2014/main" id="{C366EB9C-34F8-E771-9713-9B69259D0DBC}"/>
                  </a:ext>
                </a:extLst>
              </p:cNvPr>
              <p:cNvSpPr/>
              <p:nvPr/>
            </p:nvSpPr>
            <p:spPr>
              <a:xfrm>
                <a:off x="6862645" y="4966465"/>
                <a:ext cx="1767142" cy="384978"/>
              </a:xfrm>
              <a:prstGeom prst="roundRect">
                <a:avLst/>
              </a:prstGeom>
              <a:solidFill>
                <a:srgbClr val="E2DFEF"/>
              </a:solidFill>
              <a:ln>
                <a:solidFill>
                  <a:schemeClr val="dk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随机自注意力</a:t>
                </a:r>
                <a:endPara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92" name="矩形: 圆角 291">
              <a:extLst>
                <a:ext uri="{FF2B5EF4-FFF2-40B4-BE49-F238E27FC236}">
                  <a16:creationId xmlns:a16="http://schemas.microsoft.com/office/drawing/2014/main" id="{8A471CF1-D14A-DE94-F284-D8022141F86E}"/>
                </a:ext>
              </a:extLst>
            </p:cNvPr>
            <p:cNvSpPr/>
            <p:nvPr/>
          </p:nvSpPr>
          <p:spPr>
            <a:xfrm>
              <a:off x="6429204" y="3289462"/>
              <a:ext cx="2356702" cy="2206047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HSSTT</a:t>
              </a:r>
              <a:r>
                <a: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模块</a:t>
              </a:r>
              <a:endPara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zh-CN" alt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93" name="直接箭头连接符 292">
              <a:extLst>
                <a:ext uri="{FF2B5EF4-FFF2-40B4-BE49-F238E27FC236}">
                  <a16:creationId xmlns:a16="http://schemas.microsoft.com/office/drawing/2014/main" id="{01772227-747B-70CE-62B2-29C864111B86}"/>
                </a:ext>
              </a:extLst>
            </p:cNvPr>
            <p:cNvCxnSpPr>
              <a:cxnSpLocks/>
              <a:stCxn id="292" idx="0"/>
              <a:endCxn id="310" idx="2"/>
            </p:cNvCxnSpPr>
            <p:nvPr/>
          </p:nvCxnSpPr>
          <p:spPr>
            <a:xfrm flipV="1">
              <a:off x="7607555" y="3079449"/>
              <a:ext cx="0" cy="21001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w="med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直接箭头连接符 293">
              <a:extLst>
                <a:ext uri="{FF2B5EF4-FFF2-40B4-BE49-F238E27FC236}">
                  <a16:creationId xmlns:a16="http://schemas.microsoft.com/office/drawing/2014/main" id="{3DD4515B-3B41-66A8-34A9-DB11D4FD2FE4}"/>
                </a:ext>
              </a:extLst>
            </p:cNvPr>
            <p:cNvCxnSpPr>
              <a:cxnSpLocks/>
              <a:stCxn id="280" idx="0"/>
            </p:cNvCxnSpPr>
            <p:nvPr/>
          </p:nvCxnSpPr>
          <p:spPr>
            <a:xfrm flipV="1">
              <a:off x="7663235" y="5141933"/>
              <a:ext cx="0" cy="383144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w="med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接箭头连接符 294">
              <a:extLst>
                <a:ext uri="{FF2B5EF4-FFF2-40B4-BE49-F238E27FC236}">
                  <a16:creationId xmlns:a16="http://schemas.microsoft.com/office/drawing/2014/main" id="{4129C8E6-FBEB-5877-E5C3-9B7CB4BF1DA7}"/>
                </a:ext>
              </a:extLst>
            </p:cNvPr>
            <p:cNvCxnSpPr/>
            <p:nvPr/>
          </p:nvCxnSpPr>
          <p:spPr>
            <a:xfrm flipV="1">
              <a:off x="7128120" y="4299396"/>
              <a:ext cx="0" cy="16225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接箭头连接符 295">
              <a:extLst>
                <a:ext uri="{FF2B5EF4-FFF2-40B4-BE49-F238E27FC236}">
                  <a16:creationId xmlns:a16="http://schemas.microsoft.com/office/drawing/2014/main" id="{81881CA0-A79E-A7F6-A277-09392A728C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34493" y="4299396"/>
              <a:ext cx="0" cy="28391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接箭头连接符 296">
              <a:extLst>
                <a:ext uri="{FF2B5EF4-FFF2-40B4-BE49-F238E27FC236}">
                  <a16:creationId xmlns:a16="http://schemas.microsoft.com/office/drawing/2014/main" id="{26B56607-6F3F-DFE7-4CC4-030C432015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8485" y="4299396"/>
              <a:ext cx="0" cy="40011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直接箭头连接符 297">
              <a:extLst>
                <a:ext uri="{FF2B5EF4-FFF2-40B4-BE49-F238E27FC236}">
                  <a16:creationId xmlns:a16="http://schemas.microsoft.com/office/drawing/2014/main" id="{E5467B98-351B-5FB3-55B6-FC9199F95E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43559" y="4299396"/>
              <a:ext cx="0" cy="52724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接箭头连接符 298">
              <a:extLst>
                <a:ext uri="{FF2B5EF4-FFF2-40B4-BE49-F238E27FC236}">
                  <a16:creationId xmlns:a16="http://schemas.microsoft.com/office/drawing/2014/main" id="{9DF84099-362A-283B-8803-18138237BA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35905" y="3877323"/>
              <a:ext cx="0" cy="18103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w="med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连接符: 肘形 299">
              <a:extLst>
                <a:ext uri="{FF2B5EF4-FFF2-40B4-BE49-F238E27FC236}">
                  <a16:creationId xmlns:a16="http://schemas.microsoft.com/office/drawing/2014/main" id="{6B94FBD8-4D1E-ED1D-B581-96553EE9ECA1}"/>
                </a:ext>
              </a:extLst>
            </p:cNvPr>
            <p:cNvCxnSpPr>
              <a:cxnSpLocks/>
              <a:endCxn id="289" idx="3"/>
            </p:cNvCxnSpPr>
            <p:nvPr/>
          </p:nvCxnSpPr>
          <p:spPr>
            <a:xfrm rot="5400000" flipH="1" flipV="1">
              <a:off x="7191210" y="4226471"/>
              <a:ext cx="1560170" cy="616121"/>
            </a:xfrm>
            <a:prstGeom prst="bentConnector4">
              <a:avLst>
                <a:gd name="adj1" fmla="val -1711"/>
                <a:gd name="adj2" fmla="val 161838"/>
              </a:avLst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连接符: 肘形 315">
              <a:extLst>
                <a:ext uri="{FF2B5EF4-FFF2-40B4-BE49-F238E27FC236}">
                  <a16:creationId xmlns:a16="http://schemas.microsoft.com/office/drawing/2014/main" id="{57E944E8-1953-A910-B51D-C331806CB9F6}"/>
                </a:ext>
              </a:extLst>
            </p:cNvPr>
            <p:cNvCxnSpPr>
              <a:stCxn id="284" idx="3"/>
              <a:endCxn id="115" idx="1"/>
            </p:cNvCxnSpPr>
            <p:nvPr/>
          </p:nvCxnSpPr>
          <p:spPr>
            <a:xfrm>
              <a:off x="8705872" y="1017147"/>
              <a:ext cx="691599" cy="1014277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C0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连接符: 肘形 318">
              <a:extLst>
                <a:ext uri="{FF2B5EF4-FFF2-40B4-BE49-F238E27FC236}">
                  <a16:creationId xmlns:a16="http://schemas.microsoft.com/office/drawing/2014/main" id="{19C7C448-4311-BAB9-7215-F1E6954E5A53}"/>
                </a:ext>
              </a:extLst>
            </p:cNvPr>
            <p:cNvCxnSpPr>
              <a:endCxn id="280" idx="1"/>
            </p:cNvCxnSpPr>
            <p:nvPr/>
          </p:nvCxnSpPr>
          <p:spPr>
            <a:xfrm>
              <a:off x="2717857" y="4931511"/>
              <a:ext cx="4837901" cy="747455"/>
            </a:xfrm>
            <a:prstGeom prst="bentConnector3">
              <a:avLst>
                <a:gd name="adj1" fmla="val 3798"/>
              </a:avLst>
            </a:prstGeom>
            <a:ln w="19050">
              <a:solidFill>
                <a:srgbClr val="C0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直接连接符 321">
              <a:extLst>
                <a:ext uri="{FF2B5EF4-FFF2-40B4-BE49-F238E27FC236}">
                  <a16:creationId xmlns:a16="http://schemas.microsoft.com/office/drawing/2014/main" id="{C644CEBD-6348-B0EE-551D-1F9F8C1D2669}"/>
                </a:ext>
              </a:extLst>
            </p:cNvPr>
            <p:cNvCxnSpPr/>
            <p:nvPr/>
          </p:nvCxnSpPr>
          <p:spPr>
            <a:xfrm flipH="1" flipV="1">
              <a:off x="6125674" y="1441238"/>
              <a:ext cx="902452" cy="3328256"/>
            </a:xfrm>
            <a:prstGeom prst="line">
              <a:avLst/>
            </a:prstGeom>
            <a:ln w="19050">
              <a:solidFill>
                <a:schemeClr val="accent3"/>
              </a:solidFill>
              <a:prstDash val="lgDashDot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直接连接符 323">
              <a:extLst>
                <a:ext uri="{FF2B5EF4-FFF2-40B4-BE49-F238E27FC236}">
                  <a16:creationId xmlns:a16="http://schemas.microsoft.com/office/drawing/2014/main" id="{69F44849-105C-6B68-FE49-6E0B6C1196B5}"/>
                </a:ext>
              </a:extLst>
            </p:cNvPr>
            <p:cNvCxnSpPr/>
            <p:nvPr/>
          </p:nvCxnSpPr>
          <p:spPr>
            <a:xfrm flipH="1">
              <a:off x="5925893" y="5079204"/>
              <a:ext cx="1102233" cy="288593"/>
            </a:xfrm>
            <a:prstGeom prst="line">
              <a:avLst/>
            </a:prstGeom>
            <a:ln w="19050">
              <a:solidFill>
                <a:schemeClr val="accent3"/>
              </a:solidFill>
              <a:prstDash val="lgDashDot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1" name="文本框 360">
                  <a:extLst>
                    <a:ext uri="{FF2B5EF4-FFF2-40B4-BE49-F238E27FC236}">
                      <a16:creationId xmlns:a16="http://schemas.microsoft.com/office/drawing/2014/main" id="{2789ED3E-19CD-434B-4AC8-678D58B835F9}"/>
                    </a:ext>
                  </a:extLst>
                </p:cNvPr>
                <p:cNvSpPr txBox="1"/>
                <p:nvPr/>
              </p:nvSpPr>
              <p:spPr>
                <a:xfrm>
                  <a:off x="8280408" y="3366767"/>
                  <a:ext cx="349813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1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𝑵</m:t>
                        </m:r>
                      </m:oMath>
                    </m:oMathPara>
                  </a14:m>
                  <a:endParaRPr lang="zh-CN" altLang="en-US" sz="1000" b="1" dirty="0"/>
                </a:p>
              </p:txBody>
            </p:sp>
          </mc:Choice>
          <mc:Fallback>
            <p:sp>
              <p:nvSpPr>
                <p:cNvPr id="361" name="文本框 360">
                  <a:extLst>
                    <a:ext uri="{FF2B5EF4-FFF2-40B4-BE49-F238E27FC236}">
                      <a16:creationId xmlns:a16="http://schemas.microsoft.com/office/drawing/2014/main" id="{2789ED3E-19CD-434B-4AC8-678D58B835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0408" y="3366767"/>
                  <a:ext cx="349813" cy="24622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2" name="文本框 361">
              <a:extLst>
                <a:ext uri="{FF2B5EF4-FFF2-40B4-BE49-F238E27FC236}">
                  <a16:creationId xmlns:a16="http://schemas.microsoft.com/office/drawing/2014/main" id="{4C28AAFE-CE8E-31F2-3AF8-0D16AC19957C}"/>
                </a:ext>
              </a:extLst>
            </p:cNvPr>
            <p:cNvSpPr txBox="1"/>
            <p:nvPr/>
          </p:nvSpPr>
          <p:spPr>
            <a:xfrm>
              <a:off x="4377240" y="1014667"/>
              <a:ext cx="1649887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注意力权重</a:t>
              </a: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7995B429-18B3-C679-9B7C-13C2FFA8C725}"/>
                </a:ext>
              </a:extLst>
            </p:cNvPr>
            <p:cNvSpPr/>
            <p:nvPr/>
          </p:nvSpPr>
          <p:spPr>
            <a:xfrm>
              <a:off x="564154" y="3596176"/>
              <a:ext cx="2052000" cy="252000"/>
            </a:xfrm>
            <a:prstGeom prst="roundRect">
              <a:avLst/>
            </a:prstGeom>
            <a:solidFill>
              <a:schemeClr val="bg2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展平（可选）</a:t>
              </a:r>
              <a:r>
                <a: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1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</a:t>
              </a:r>
              <a:r>
                <a: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堆叠</a:t>
              </a: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D0BAC6CA-309A-BA61-2794-A6BD0C436E3A}"/>
                </a:ext>
              </a:extLst>
            </p:cNvPr>
            <p:cNvSpPr/>
            <p:nvPr/>
          </p:nvSpPr>
          <p:spPr>
            <a:xfrm>
              <a:off x="620859" y="1945702"/>
              <a:ext cx="1927365" cy="500469"/>
            </a:xfrm>
            <a:prstGeom prst="roundRect">
              <a:avLst/>
            </a:prstGeom>
            <a:solidFill>
              <a:schemeClr val="bg2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感知跨传感器</a:t>
              </a:r>
              <a:endPara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依赖的膨胀卷积</a:t>
              </a: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B7A785A6-B0F8-0113-05E5-C68A569E7C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81609" y="1268823"/>
              <a:ext cx="1" cy="209616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med" len="lg"/>
              <a:tailEnd type="non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62686BA7-88CE-6B6B-484C-967D7F5696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2094" y="3753581"/>
              <a:ext cx="2373051" cy="1952183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2293773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F9F66870-99AD-EE83-853E-3F003702441A}"/>
              </a:ext>
            </a:extLst>
          </p:cNvPr>
          <p:cNvSpPr/>
          <p:nvPr/>
        </p:nvSpPr>
        <p:spPr>
          <a:xfrm>
            <a:off x="340568" y="186611"/>
            <a:ext cx="8527208" cy="385666"/>
          </a:xfrm>
          <a:prstGeom prst="roundRect">
            <a:avLst/>
          </a:prstGeom>
          <a:solidFill>
            <a:srgbClr val="FFE3A6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State-of-Health Estimation &amp; Model Uncertainty Quantification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2A3BCB4-E528-7708-590E-3344C1AF7DD2}"/>
              </a:ext>
            </a:extLst>
          </p:cNvPr>
          <p:cNvSpPr/>
          <p:nvPr/>
        </p:nvSpPr>
        <p:spPr>
          <a:xfrm>
            <a:off x="9025812" y="186611"/>
            <a:ext cx="2825620" cy="385666"/>
          </a:xfrm>
          <a:prstGeom prst="roundRect">
            <a:avLst/>
          </a:prstGeom>
          <a:solidFill>
            <a:srgbClr val="FFE3A6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Uncertainty Calibration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95C39E1-79A0-25A7-B12A-725A0CCEACCA}"/>
              </a:ext>
            </a:extLst>
          </p:cNvPr>
          <p:cNvSpPr/>
          <p:nvPr/>
        </p:nvSpPr>
        <p:spPr>
          <a:xfrm>
            <a:off x="340568" y="6184179"/>
            <a:ext cx="3032229" cy="524348"/>
          </a:xfrm>
          <a:prstGeom prst="roundRect">
            <a:avLst/>
          </a:prstGeom>
          <a:solidFill>
            <a:srgbClr val="FEF4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of Stochastic Self-Attention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1D2788B-F274-3ED6-13FA-C52E5BAA0F40}"/>
              </a:ext>
            </a:extLst>
          </p:cNvPr>
          <p:cNvSpPr/>
          <p:nvPr/>
        </p:nvSpPr>
        <p:spPr>
          <a:xfrm>
            <a:off x="3498347" y="6181384"/>
            <a:ext cx="5172902" cy="525753"/>
          </a:xfrm>
          <a:prstGeom prst="roundRect">
            <a:avLst/>
          </a:prstGeom>
          <a:solidFill>
            <a:srgbClr val="FEF4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of Hierarchical Stochastic Spatial-Temporal Transformer (HSSTT)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33972CB-E1CB-5D32-BBAB-A6FD77E53005}"/>
              </a:ext>
            </a:extLst>
          </p:cNvPr>
          <p:cNvSpPr/>
          <p:nvPr/>
        </p:nvSpPr>
        <p:spPr>
          <a:xfrm>
            <a:off x="9025809" y="5939771"/>
            <a:ext cx="2825623" cy="593270"/>
          </a:xfrm>
          <a:prstGeom prst="roundRect">
            <a:avLst/>
          </a:prstGeom>
          <a:solidFill>
            <a:srgbClr val="FEF4E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</a:t>
            </a: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</a:t>
            </a:r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of Post-Hoc </a:t>
            </a:r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Auxiliary Calibration Model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696A2FF8-EAD1-7F97-058E-D24441FDB11B}"/>
              </a:ext>
            </a:extLst>
          </p:cNvPr>
          <p:cNvSpPr/>
          <p:nvPr/>
        </p:nvSpPr>
        <p:spPr>
          <a:xfrm>
            <a:off x="9679851" y="2763477"/>
            <a:ext cx="1468016" cy="385666"/>
          </a:xfrm>
          <a:prstGeom prst="round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Isotonic Regressor</a:t>
            </a:r>
            <a:endParaRPr lang="en-US" altLang="zh-CN" sz="1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94F97A9D-A1BF-9A81-04C4-0176B87FF534}"/>
              </a:ext>
            </a:extLst>
          </p:cNvPr>
          <p:cNvSpPr/>
          <p:nvPr/>
        </p:nvSpPr>
        <p:spPr>
          <a:xfrm>
            <a:off x="9050570" y="3467624"/>
            <a:ext cx="2825619" cy="2297247"/>
          </a:xfrm>
          <a:prstGeom prst="roundRect">
            <a:avLst/>
          </a:prstGeom>
          <a:ln>
            <a:solidFill>
              <a:schemeClr val="dk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Trustworthy SOH Estimation</a:t>
            </a: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0762B8E1-F7F8-A273-21BD-F90BAEF69685}"/>
              </a:ext>
            </a:extLst>
          </p:cNvPr>
          <p:cNvGrpSpPr/>
          <p:nvPr/>
        </p:nvGrpSpPr>
        <p:grpSpPr>
          <a:xfrm>
            <a:off x="9001050" y="1100809"/>
            <a:ext cx="2825619" cy="1331555"/>
            <a:chOff x="1964240" y="1466850"/>
            <a:chExt cx="2825619" cy="13315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矩形: 圆角 51">
                  <a:extLst>
                    <a:ext uri="{FF2B5EF4-FFF2-40B4-BE49-F238E27FC236}">
                      <a16:creationId xmlns:a16="http://schemas.microsoft.com/office/drawing/2014/main" id="{11BE2A56-C31C-430A-7DB5-81084D1EFC73}"/>
                    </a:ext>
                  </a:extLst>
                </p:cNvPr>
                <p:cNvSpPr/>
                <p:nvPr/>
              </p:nvSpPr>
              <p:spPr>
                <a:xfrm>
                  <a:off x="1964240" y="1466850"/>
                  <a:ext cx="2825619" cy="1331555"/>
                </a:xfrm>
                <a:prstGeom prst="roundRect">
                  <a:avLst/>
                </a:prstGeom>
                <a:ln>
                  <a:prstDash val="dash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Calibration Dataset </a:t>
                  </a:r>
                  <a14:m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</m:t>
                      </m:r>
                    </m:oMath>
                  </a14:m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3" name="矩形: 圆角 112">
                  <a:extLst>
                    <a:ext uri="{FF2B5EF4-FFF2-40B4-BE49-F238E27FC236}">
                      <a16:creationId xmlns:a16="http://schemas.microsoft.com/office/drawing/2014/main" id="{5E43AEA8-9711-F759-94FC-4CB1344E847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4240" y="1466850"/>
                  <a:ext cx="2825619" cy="1331555"/>
                </a:xfrm>
                <a:prstGeom prst="round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prstDash val="dash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0E0C453D-1CF0-8DF9-F865-D0A6B3F08474}"/>
                </a:ext>
              </a:extLst>
            </p:cNvPr>
            <p:cNvGrpSpPr/>
            <p:nvPr/>
          </p:nvGrpSpPr>
          <p:grpSpPr>
            <a:xfrm>
              <a:off x="2302629" y="1894522"/>
              <a:ext cx="2148840" cy="793747"/>
              <a:chOff x="2232660" y="3299460"/>
              <a:chExt cx="2148840" cy="793747"/>
            </a:xfrm>
          </p:grpSpPr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38D9125D-937B-AF16-1AB4-18BD841E7FB6}"/>
                  </a:ext>
                </a:extLst>
              </p:cNvPr>
              <p:cNvSpPr txBox="1"/>
              <p:nvPr/>
            </p:nvSpPr>
            <p:spPr>
              <a:xfrm>
                <a:off x="2265932" y="3846986"/>
                <a:ext cx="102209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Predictive CDF</a:t>
                </a:r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9849C471-362D-4D67-7DF5-7F77D753BE97}"/>
                  </a:ext>
                </a:extLst>
              </p:cNvPr>
              <p:cNvSpPr txBox="1"/>
              <p:nvPr/>
            </p:nvSpPr>
            <p:spPr>
              <a:xfrm>
                <a:off x="3326132" y="3846986"/>
                <a:ext cx="102209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Empirical CDF</a:t>
                </a:r>
              </a:p>
            </p:txBody>
          </p:sp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52A90896-B118-9A7E-07A4-B2CC2F677978}"/>
                  </a:ext>
                </a:extLst>
              </p:cNvPr>
              <p:cNvSpPr txBox="1"/>
              <p:nvPr/>
            </p:nvSpPr>
            <p:spPr>
              <a:xfrm>
                <a:off x="2284985" y="3355419"/>
                <a:ext cx="102209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</a:t>
                </a:r>
              </a:p>
            </p:txBody>
          </p: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341D9998-6913-2A8D-D465-AEF723329435}"/>
                  </a:ext>
                </a:extLst>
              </p:cNvPr>
              <p:cNvSpPr txBox="1"/>
              <p:nvPr/>
            </p:nvSpPr>
            <p:spPr>
              <a:xfrm>
                <a:off x="3307080" y="3355419"/>
                <a:ext cx="102209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Label</a:t>
                </a:r>
              </a:p>
            </p:txBody>
          </p:sp>
          <p:sp>
            <p:nvSpPr>
              <p:cNvPr id="58" name="矩形: 圆角 57">
                <a:extLst>
                  <a:ext uri="{FF2B5EF4-FFF2-40B4-BE49-F238E27FC236}">
                    <a16:creationId xmlns:a16="http://schemas.microsoft.com/office/drawing/2014/main" id="{F59296BD-D14A-E6CE-0D44-3E99A3887EE2}"/>
                  </a:ext>
                </a:extLst>
              </p:cNvPr>
              <p:cNvSpPr/>
              <p:nvPr/>
            </p:nvSpPr>
            <p:spPr>
              <a:xfrm>
                <a:off x="2232660" y="3299460"/>
                <a:ext cx="2148840" cy="358140"/>
              </a:xfrm>
              <a:prstGeom prst="round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9F654B80-A17C-C684-444C-2412D606E6BF}"/>
                  </a:ext>
                </a:extLst>
              </p:cNvPr>
              <p:cNvCxnSpPr>
                <a:cxnSpLocks/>
                <a:stCxn id="58" idx="0"/>
                <a:endCxn id="58" idx="2"/>
              </p:cNvCxnSpPr>
              <p:nvPr/>
            </p:nvCxnSpPr>
            <p:spPr>
              <a:xfrm>
                <a:off x="3307080" y="3299460"/>
                <a:ext cx="0" cy="3581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箭头连接符 59">
                <a:extLst>
                  <a:ext uri="{FF2B5EF4-FFF2-40B4-BE49-F238E27FC236}">
                    <a16:creationId xmlns:a16="http://schemas.microsoft.com/office/drawing/2014/main" id="{3541C9A7-F253-5CCE-42B5-C7CA5AA5397B}"/>
                  </a:ext>
                </a:extLst>
              </p:cNvPr>
              <p:cNvCxnSpPr>
                <a:cxnSpLocks/>
                <a:stCxn id="54" idx="0"/>
              </p:cNvCxnSpPr>
              <p:nvPr/>
            </p:nvCxnSpPr>
            <p:spPr>
              <a:xfrm flipH="1" flipV="1">
                <a:off x="2776979" y="3657599"/>
                <a:ext cx="1" cy="18938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/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箭头连接符 60">
                <a:extLst>
                  <a:ext uri="{FF2B5EF4-FFF2-40B4-BE49-F238E27FC236}">
                    <a16:creationId xmlns:a16="http://schemas.microsoft.com/office/drawing/2014/main" id="{ED4BA3B8-5BAD-0A70-04EC-E3CB47DBD2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832345" y="3657599"/>
                <a:ext cx="1" cy="18938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/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840392B7-D519-ABD9-4399-C8C97EB38093}"/>
              </a:ext>
            </a:extLst>
          </p:cNvPr>
          <p:cNvCxnSpPr>
            <a:stCxn id="52" idx="2"/>
          </p:cNvCxnSpPr>
          <p:nvPr/>
        </p:nvCxnSpPr>
        <p:spPr>
          <a:xfrm flipH="1">
            <a:off x="10413859" y="2432364"/>
            <a:ext cx="1" cy="331113"/>
          </a:xfrm>
          <a:prstGeom prst="straightConnector1">
            <a:avLst/>
          </a:prstGeom>
          <a:ln w="19050">
            <a:solidFill>
              <a:schemeClr val="tx1"/>
            </a:solidFill>
            <a:headEnd w="med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2BACA920-16A9-DC1C-3E5A-4A5BCDDBCB50}"/>
              </a:ext>
            </a:extLst>
          </p:cNvPr>
          <p:cNvCxnSpPr/>
          <p:nvPr/>
        </p:nvCxnSpPr>
        <p:spPr>
          <a:xfrm flipH="1">
            <a:off x="10413858" y="3143564"/>
            <a:ext cx="1" cy="331113"/>
          </a:xfrm>
          <a:prstGeom prst="straightConnector1">
            <a:avLst/>
          </a:prstGeom>
          <a:ln w="19050">
            <a:solidFill>
              <a:schemeClr val="tx1"/>
            </a:solidFill>
            <a:headEnd w="med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7DAB3DBB-D0FF-73A6-2BD2-9022BACD7335}"/>
              </a:ext>
            </a:extLst>
          </p:cNvPr>
          <p:cNvGrpSpPr/>
          <p:nvPr/>
        </p:nvGrpSpPr>
        <p:grpSpPr>
          <a:xfrm>
            <a:off x="315811" y="1075126"/>
            <a:ext cx="3056985" cy="4502151"/>
            <a:chOff x="3892010" y="1028700"/>
            <a:chExt cx="3035813" cy="4502151"/>
          </a:xfrm>
        </p:grpSpPr>
        <p:sp>
          <p:nvSpPr>
            <p:cNvPr id="68" name="矩形: 圆角 67">
              <a:extLst>
                <a:ext uri="{FF2B5EF4-FFF2-40B4-BE49-F238E27FC236}">
                  <a16:creationId xmlns:a16="http://schemas.microsoft.com/office/drawing/2014/main" id="{F070F537-917A-6338-F863-1B5F681567E4}"/>
                </a:ext>
              </a:extLst>
            </p:cNvPr>
            <p:cNvSpPr/>
            <p:nvPr/>
          </p:nvSpPr>
          <p:spPr>
            <a:xfrm>
              <a:off x="3892010" y="1028700"/>
              <a:ext cx="3035813" cy="4502151"/>
            </a:xfrm>
            <a:prstGeom prst="roundRect">
              <a:avLst/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7EC313CC-C6A8-C7C4-5C4F-4DE99A9E73E0}"/>
                </a:ext>
              </a:extLst>
            </p:cNvPr>
            <p:cNvGrpSpPr/>
            <p:nvPr/>
          </p:nvGrpSpPr>
          <p:grpSpPr>
            <a:xfrm>
              <a:off x="4062115" y="1347232"/>
              <a:ext cx="2695601" cy="3959760"/>
              <a:chOff x="6492573" y="1069660"/>
              <a:chExt cx="2695601" cy="3959760"/>
            </a:xfrm>
          </p:grpSpPr>
          <p:sp>
            <p:nvSpPr>
              <p:cNvPr id="70" name="矩形: 圆角 69">
                <a:extLst>
                  <a:ext uri="{FF2B5EF4-FFF2-40B4-BE49-F238E27FC236}">
                    <a16:creationId xmlns:a16="http://schemas.microsoft.com/office/drawing/2014/main" id="{FA2C8858-AE08-BCCF-3D17-18674E7212F7}"/>
                  </a:ext>
                </a:extLst>
              </p:cNvPr>
              <p:cNvSpPr/>
              <p:nvPr/>
            </p:nvSpPr>
            <p:spPr>
              <a:xfrm>
                <a:off x="6733818" y="3442869"/>
                <a:ext cx="1286239" cy="220055"/>
              </a:xfrm>
              <a:prstGeom prst="roundRect">
                <a:avLst/>
              </a:prstGeom>
              <a:solidFill>
                <a:srgbClr val="E8E5F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MatMul</a:t>
                </a:r>
                <a:endParaRPr lang="zh-CN" alt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" name="矩形: 圆角 70">
                <a:extLst>
                  <a:ext uri="{FF2B5EF4-FFF2-40B4-BE49-F238E27FC236}">
                    <a16:creationId xmlns:a16="http://schemas.microsoft.com/office/drawing/2014/main" id="{67DA603C-BA14-79B6-9FCD-58096C9A01BC}"/>
                  </a:ext>
                </a:extLst>
              </p:cNvPr>
              <p:cNvSpPr/>
              <p:nvPr/>
            </p:nvSpPr>
            <p:spPr>
              <a:xfrm>
                <a:off x="6885328" y="1857594"/>
                <a:ext cx="1786661" cy="433164"/>
              </a:xfrm>
              <a:prstGeom prst="roundRect">
                <a:avLst/>
              </a:prstGeom>
              <a:solidFill>
                <a:srgbClr val="FDEAF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GSR-based Stochastic</a:t>
                </a:r>
              </a:p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Attention Representation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2" name="矩形: 圆角 71">
                <a:extLst>
                  <a:ext uri="{FF2B5EF4-FFF2-40B4-BE49-F238E27FC236}">
                    <a16:creationId xmlns:a16="http://schemas.microsoft.com/office/drawing/2014/main" id="{577A725C-DBA6-9718-38B2-3E2D55DB42C2}"/>
                  </a:ext>
                </a:extLst>
              </p:cNvPr>
              <p:cNvSpPr/>
              <p:nvPr/>
            </p:nvSpPr>
            <p:spPr>
              <a:xfrm>
                <a:off x="6861461" y="2643949"/>
                <a:ext cx="1761984" cy="433164"/>
              </a:xfrm>
              <a:prstGeom prst="roundRect">
                <a:avLst/>
              </a:prstGeom>
              <a:solidFill>
                <a:srgbClr val="F2F7EA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Distance-Sensitive</a:t>
                </a:r>
              </a:p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Re-embedding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3" name="矩形: 圆角 72">
                <a:extLst>
                  <a:ext uri="{FF2B5EF4-FFF2-40B4-BE49-F238E27FC236}">
                    <a16:creationId xmlns:a16="http://schemas.microsoft.com/office/drawing/2014/main" id="{71F6442D-0F3F-C171-47ED-05673BE4711C}"/>
                  </a:ext>
                </a:extLst>
              </p:cNvPr>
              <p:cNvSpPr/>
              <p:nvPr/>
            </p:nvSpPr>
            <p:spPr>
              <a:xfrm>
                <a:off x="7816804" y="1288518"/>
                <a:ext cx="1286239" cy="220055"/>
              </a:xfrm>
              <a:prstGeom prst="roundRect">
                <a:avLst/>
              </a:prstGeom>
              <a:solidFill>
                <a:srgbClr val="E8E5F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MatMul</a:t>
                </a:r>
                <a:endParaRPr lang="zh-CN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04325070-FFBD-4C3F-C3D1-1D407EA44439}"/>
                  </a:ext>
                </a:extLst>
              </p:cNvPr>
              <p:cNvSpPr txBox="1"/>
              <p:nvPr/>
            </p:nvSpPr>
            <p:spPr>
              <a:xfrm>
                <a:off x="8267848" y="4747658"/>
                <a:ext cx="403860" cy="27699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BC461A87-281E-8325-BFE9-7D4B4F935F03}"/>
                  </a:ext>
                </a:extLst>
              </p:cNvPr>
              <p:cNvSpPr txBox="1"/>
              <p:nvPr/>
            </p:nvSpPr>
            <p:spPr>
              <a:xfrm>
                <a:off x="8784314" y="4752421"/>
                <a:ext cx="403860" cy="27699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76" name="组合 75">
                <a:extLst>
                  <a:ext uri="{FF2B5EF4-FFF2-40B4-BE49-F238E27FC236}">
                    <a16:creationId xmlns:a16="http://schemas.microsoft.com/office/drawing/2014/main" id="{3FD6F631-7782-8408-C69F-F127A7A903B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350072" y="3432331"/>
                <a:ext cx="241130" cy="241130"/>
                <a:chOff x="4801552" y="2902268"/>
                <a:chExt cx="365760" cy="365760"/>
              </a:xfrm>
            </p:grpSpPr>
            <p:sp>
              <p:nvSpPr>
                <p:cNvPr id="92" name="流程图: 接点 91">
                  <a:extLst>
                    <a:ext uri="{FF2B5EF4-FFF2-40B4-BE49-F238E27FC236}">
                      <a16:creationId xmlns:a16="http://schemas.microsoft.com/office/drawing/2014/main" id="{3A83983C-39B3-18B8-6A8A-8E16A0C2695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01552" y="2902268"/>
                  <a:ext cx="365760" cy="365760"/>
                </a:xfrm>
                <a:prstGeom prst="flowChartConnector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93" name="连接符: 曲线 92">
                  <a:extLst>
                    <a:ext uri="{FF2B5EF4-FFF2-40B4-BE49-F238E27FC236}">
                      <a16:creationId xmlns:a16="http://schemas.microsoft.com/office/drawing/2014/main" id="{BE3F084C-3677-B0F2-48CD-EE00DE4204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00680" y="2997058"/>
                  <a:ext cx="177028" cy="177005"/>
                </a:xfrm>
                <a:prstGeom prst="curvedConnector3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</p:grpSp>
          <p:sp>
            <p:nvSpPr>
              <p:cNvPr id="77" name="矩形: 圆角 76">
                <a:extLst>
                  <a:ext uri="{FF2B5EF4-FFF2-40B4-BE49-F238E27FC236}">
                    <a16:creationId xmlns:a16="http://schemas.microsoft.com/office/drawing/2014/main" id="{672B2D62-AA49-6E7F-6B4C-8A11F7633A2B}"/>
                  </a:ext>
                </a:extLst>
              </p:cNvPr>
              <p:cNvSpPr/>
              <p:nvPr/>
            </p:nvSpPr>
            <p:spPr>
              <a:xfrm>
                <a:off x="6492573" y="3948833"/>
                <a:ext cx="967584" cy="433164"/>
              </a:xfrm>
              <a:prstGeom prst="roundRect">
                <a:avLst/>
              </a:prstGeom>
              <a:solidFill>
                <a:srgbClr val="FDEAF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GSR-based</a:t>
                </a:r>
              </a:p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Clustering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23A3B2E8-25F3-5B54-034E-0C17A9897AB8}"/>
                  </a:ext>
                </a:extLst>
              </p:cNvPr>
              <p:cNvSpPr txBox="1"/>
              <p:nvPr/>
            </p:nvSpPr>
            <p:spPr>
              <a:xfrm>
                <a:off x="6534310" y="4747658"/>
                <a:ext cx="403860" cy="27699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7C277B75-BC84-A5D4-3055-0B07D9C1B0A0}"/>
                  </a:ext>
                </a:extLst>
              </p:cNvPr>
              <p:cNvSpPr txBox="1"/>
              <p:nvPr/>
            </p:nvSpPr>
            <p:spPr>
              <a:xfrm>
                <a:off x="7014559" y="4747658"/>
                <a:ext cx="403860" cy="27699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80" name="直接箭头连接符 79">
                <a:extLst>
                  <a:ext uri="{FF2B5EF4-FFF2-40B4-BE49-F238E27FC236}">
                    <a16:creationId xmlns:a16="http://schemas.microsoft.com/office/drawing/2014/main" id="{05CA13ED-626A-CF21-2E3B-0748E89D9839}"/>
                  </a:ext>
                </a:extLst>
              </p:cNvPr>
              <p:cNvCxnSpPr>
                <a:cxnSpLocks/>
                <a:stCxn id="78" idx="0"/>
              </p:cNvCxnSpPr>
              <p:nvPr/>
            </p:nvCxnSpPr>
            <p:spPr>
              <a:xfrm flipV="1">
                <a:off x="6736240" y="4388786"/>
                <a:ext cx="0" cy="358872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1" name="直接箭头连接符 80">
                <a:extLst>
                  <a:ext uri="{FF2B5EF4-FFF2-40B4-BE49-F238E27FC236}">
                    <a16:creationId xmlns:a16="http://schemas.microsoft.com/office/drawing/2014/main" id="{B4C3AB38-8BD2-FA54-C9CD-BC0F5A7FAA1D}"/>
                  </a:ext>
                </a:extLst>
              </p:cNvPr>
              <p:cNvCxnSpPr>
                <a:cxnSpLocks/>
                <a:stCxn id="79" idx="0"/>
              </p:cNvCxnSpPr>
              <p:nvPr/>
            </p:nvCxnSpPr>
            <p:spPr>
              <a:xfrm flipV="1">
                <a:off x="7216489" y="4381997"/>
                <a:ext cx="0" cy="365661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2" name="直接箭头连接符 81">
                <a:extLst>
                  <a:ext uri="{FF2B5EF4-FFF2-40B4-BE49-F238E27FC236}">
                    <a16:creationId xmlns:a16="http://schemas.microsoft.com/office/drawing/2014/main" id="{E6AF896D-ABFA-1508-D238-91373C089CA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76365" y="3667554"/>
                <a:ext cx="0" cy="281279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05A22151-74A2-F6E4-7D5D-C76E14247BB3}"/>
                  </a:ext>
                </a:extLst>
              </p:cNvPr>
              <p:cNvSpPr txBox="1"/>
              <p:nvPr/>
            </p:nvSpPr>
            <p:spPr>
              <a:xfrm>
                <a:off x="7583295" y="4747658"/>
                <a:ext cx="403860" cy="27699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84" name="直接箭头连接符 83">
                <a:extLst>
                  <a:ext uri="{FF2B5EF4-FFF2-40B4-BE49-F238E27FC236}">
                    <a16:creationId xmlns:a16="http://schemas.microsoft.com/office/drawing/2014/main" id="{1892D054-4D98-51A3-EB6D-F75B2C6EBC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85225" y="3667554"/>
                <a:ext cx="0" cy="1080104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5" name="直接箭头连接符 84">
                <a:extLst>
                  <a:ext uri="{FF2B5EF4-FFF2-40B4-BE49-F238E27FC236}">
                    <a16:creationId xmlns:a16="http://schemas.microsoft.com/office/drawing/2014/main" id="{DB90C549-9445-5155-2547-F366022E53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459923" y="1069660"/>
                <a:ext cx="14" cy="218858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6" name="直接箭头连接符 85">
                <a:extLst>
                  <a:ext uri="{FF2B5EF4-FFF2-40B4-BE49-F238E27FC236}">
                    <a16:creationId xmlns:a16="http://schemas.microsoft.com/office/drawing/2014/main" id="{F147C81E-E557-5C7E-EF65-7218468D56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98792" y="3079951"/>
                <a:ext cx="0" cy="358872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7" name="直接箭头连接符 86">
                <a:extLst>
                  <a:ext uri="{FF2B5EF4-FFF2-40B4-BE49-F238E27FC236}">
                    <a16:creationId xmlns:a16="http://schemas.microsoft.com/office/drawing/2014/main" id="{60329EE0-F47C-5CE6-B40A-FEEA2B951A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17992" y="2298700"/>
                <a:ext cx="0" cy="337726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8" name="直接箭头连接符 87">
                <a:extLst>
                  <a:ext uri="{FF2B5EF4-FFF2-40B4-BE49-F238E27FC236}">
                    <a16:creationId xmlns:a16="http://schemas.microsoft.com/office/drawing/2014/main" id="{BDAFD212-A72E-40F8-3511-F3ED221EF8A2}"/>
                  </a:ext>
                </a:extLst>
              </p:cNvPr>
              <p:cNvCxnSpPr>
                <a:cxnSpLocks/>
                <a:stCxn id="75" idx="0"/>
              </p:cNvCxnSpPr>
              <p:nvPr/>
            </p:nvCxnSpPr>
            <p:spPr>
              <a:xfrm flipV="1">
                <a:off x="8986244" y="1504951"/>
                <a:ext cx="0" cy="3247470"/>
              </a:xfrm>
              <a:prstGeom prst="straightConnector1">
                <a:avLst/>
              </a:prstGeom>
              <a:ln w="19050">
                <a:headEnd w="med" len="lg"/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9" name="直接箭头连接符 88">
                <a:extLst>
                  <a:ext uri="{FF2B5EF4-FFF2-40B4-BE49-F238E27FC236}">
                    <a16:creationId xmlns:a16="http://schemas.microsoft.com/office/drawing/2014/main" id="{ED16E337-2E50-CA4A-F658-6DD810468D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11976" y="1500188"/>
                <a:ext cx="6016" cy="357406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90" name="直接箭头连接符 89">
                <a:extLst>
                  <a:ext uri="{FF2B5EF4-FFF2-40B4-BE49-F238E27FC236}">
                    <a16:creationId xmlns:a16="http://schemas.microsoft.com/office/drawing/2014/main" id="{B1890165-C163-32D1-E093-97C250A2120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70637" y="3673461"/>
                <a:ext cx="0" cy="1080104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91" name="直接箭头连接符 90">
                <a:extLst>
                  <a:ext uri="{FF2B5EF4-FFF2-40B4-BE49-F238E27FC236}">
                    <a16:creationId xmlns:a16="http://schemas.microsoft.com/office/drawing/2014/main" id="{72318A43-2C1D-B7DB-71E1-9E47560CE3C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9450" y="3073459"/>
                <a:ext cx="0" cy="358872"/>
              </a:xfrm>
              <a:prstGeom prst="straightConnector1">
                <a:avLst/>
              </a:prstGeom>
              <a:ln w="19050">
                <a:tailEnd type="triangle" w="sm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CCBDE0E0-477D-7883-8FFB-6FEF861BE339}"/>
              </a:ext>
            </a:extLst>
          </p:cNvPr>
          <p:cNvGrpSpPr/>
          <p:nvPr/>
        </p:nvGrpSpPr>
        <p:grpSpPr>
          <a:xfrm>
            <a:off x="6435506" y="981398"/>
            <a:ext cx="2356702" cy="4780573"/>
            <a:chOff x="6435506" y="981398"/>
            <a:chExt cx="2356702" cy="4780573"/>
          </a:xfrm>
        </p:grpSpPr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CFF3C296-0867-3F1C-773F-367EFC7676B1}"/>
                </a:ext>
              </a:extLst>
            </p:cNvPr>
            <p:cNvSpPr txBox="1"/>
            <p:nvPr/>
          </p:nvSpPr>
          <p:spPr>
            <a:xfrm>
              <a:off x="7555758" y="5454194"/>
              <a:ext cx="214954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EF7E4B11-9705-8F9B-0CED-0DED9AF54CEB}"/>
                </a:ext>
              </a:extLst>
            </p:cNvPr>
            <p:cNvSpPr txBox="1"/>
            <p:nvPr/>
          </p:nvSpPr>
          <p:spPr>
            <a:xfrm>
              <a:off x="6752258" y="1559374"/>
              <a:ext cx="695335" cy="24622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4ED4A061-26E6-10DA-733B-B7BFC3D7A1FD}"/>
                </a:ext>
              </a:extLst>
            </p:cNvPr>
            <p:cNvSpPr txBox="1"/>
            <p:nvPr/>
          </p:nvSpPr>
          <p:spPr>
            <a:xfrm>
              <a:off x="7780124" y="1559373"/>
              <a:ext cx="695336" cy="24622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inference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C8F5EAE3-5364-F51E-8E7E-ADBF13F00266}"/>
                    </a:ext>
                  </a:extLst>
                </p:cNvPr>
                <p:cNvSpPr txBox="1"/>
                <p:nvPr/>
              </p:nvSpPr>
              <p:spPr>
                <a:xfrm>
                  <a:off x="6620884" y="981398"/>
                  <a:ext cx="958085" cy="40011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SOH Point</a:t>
                  </a:r>
                </a:p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Estimation </a:t>
                  </a:r>
                  <a14:m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a14:m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83" name="文本框 282">
                  <a:extLst>
                    <a:ext uri="{FF2B5EF4-FFF2-40B4-BE49-F238E27FC236}">
                      <a16:creationId xmlns:a16="http://schemas.microsoft.com/office/drawing/2014/main" id="{F2963604-B82E-E254-ECE3-4C80B66869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0884" y="981398"/>
                  <a:ext cx="958085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606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C30439B1-4248-A07E-6123-72AC3BAC0A2A}"/>
                    </a:ext>
                  </a:extLst>
                </p:cNvPr>
                <p:cNvSpPr txBox="1"/>
                <p:nvPr/>
              </p:nvSpPr>
              <p:spPr>
                <a:xfrm>
                  <a:off x="7648750" y="981398"/>
                  <a:ext cx="958085" cy="40011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SOH Posterior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altLang="zh-CN" sz="1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84" name="文本框 283">
                  <a:extLst>
                    <a:ext uri="{FF2B5EF4-FFF2-40B4-BE49-F238E27FC236}">
                      <a16:creationId xmlns:a16="http://schemas.microsoft.com/office/drawing/2014/main" id="{AF635A8D-7783-2028-D9F3-0CABE8DC20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8750" y="981398"/>
                  <a:ext cx="958085" cy="400110"/>
                </a:xfrm>
                <a:prstGeom prst="rect">
                  <a:avLst/>
                </a:prstGeom>
                <a:blipFill>
                  <a:blip r:embed="rId13"/>
                  <a:stretch>
                    <a:fillRect b="-303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4" name="组合 103">
              <a:extLst>
                <a:ext uri="{FF2B5EF4-FFF2-40B4-BE49-F238E27FC236}">
                  <a16:creationId xmlns:a16="http://schemas.microsoft.com/office/drawing/2014/main" id="{1CCE24C7-C599-5B02-F822-765A3F398F44}"/>
                </a:ext>
              </a:extLst>
            </p:cNvPr>
            <p:cNvGrpSpPr/>
            <p:nvPr/>
          </p:nvGrpSpPr>
          <p:grpSpPr>
            <a:xfrm>
              <a:off x="6953458" y="2039831"/>
              <a:ext cx="1320800" cy="1003866"/>
              <a:chOff x="1362075" y="2827673"/>
              <a:chExt cx="1320800" cy="1098550"/>
            </a:xfrm>
          </p:grpSpPr>
          <p:grpSp>
            <p:nvGrpSpPr>
              <p:cNvPr id="127" name="组合 126">
                <a:extLst>
                  <a:ext uri="{FF2B5EF4-FFF2-40B4-BE49-F238E27FC236}">
                    <a16:creationId xmlns:a16="http://schemas.microsoft.com/office/drawing/2014/main" id="{E3715373-6CB9-E0C5-EE04-FFA5201D02BC}"/>
                  </a:ext>
                </a:extLst>
              </p:cNvPr>
              <p:cNvGrpSpPr/>
              <p:nvPr/>
            </p:nvGrpSpPr>
            <p:grpSpPr>
              <a:xfrm>
                <a:off x="1420486" y="3248841"/>
                <a:ext cx="1203977" cy="567554"/>
                <a:chOff x="1349743" y="2463800"/>
                <a:chExt cx="1203977" cy="567554"/>
              </a:xfrm>
            </p:grpSpPr>
            <p:sp>
              <p:nvSpPr>
                <p:cNvPr id="130" name="矩形: 圆角 129">
                  <a:extLst>
                    <a:ext uri="{FF2B5EF4-FFF2-40B4-BE49-F238E27FC236}">
                      <a16:creationId xmlns:a16="http://schemas.microsoft.com/office/drawing/2014/main" id="{AF4905AA-4418-6F53-8AB3-58C3CBE48C7A}"/>
                    </a:ext>
                  </a:extLst>
                </p:cNvPr>
                <p:cNvSpPr/>
                <p:nvPr/>
              </p:nvSpPr>
              <p:spPr>
                <a:xfrm>
                  <a:off x="1349743" y="2873118"/>
                  <a:ext cx="1203977" cy="158236"/>
                </a:xfrm>
                <a:prstGeom prst="roundRect">
                  <a:avLst/>
                </a:prstGeom>
                <a:solidFill>
                  <a:srgbClr val="F4CBB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Linear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1" name="矩形: 圆角 130">
                  <a:extLst>
                    <a:ext uri="{FF2B5EF4-FFF2-40B4-BE49-F238E27FC236}">
                      <a16:creationId xmlns:a16="http://schemas.microsoft.com/office/drawing/2014/main" id="{A0B5B93E-8E03-7CF2-210C-E75E8CCA28F4}"/>
                    </a:ext>
                  </a:extLst>
                </p:cNvPr>
                <p:cNvSpPr/>
                <p:nvPr/>
              </p:nvSpPr>
              <p:spPr>
                <a:xfrm>
                  <a:off x="1456786" y="2667000"/>
                  <a:ext cx="989893" cy="158236"/>
                </a:xfrm>
                <a:prstGeom prst="roundRect">
                  <a:avLst/>
                </a:prstGeom>
                <a:solidFill>
                  <a:srgbClr val="F4CBB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Linear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2" name="矩形: 圆角 131">
                  <a:extLst>
                    <a:ext uri="{FF2B5EF4-FFF2-40B4-BE49-F238E27FC236}">
                      <a16:creationId xmlns:a16="http://schemas.microsoft.com/office/drawing/2014/main" id="{6C337C28-9799-D149-0571-EDCC662EF340}"/>
                    </a:ext>
                  </a:extLst>
                </p:cNvPr>
                <p:cNvSpPr/>
                <p:nvPr/>
              </p:nvSpPr>
              <p:spPr>
                <a:xfrm>
                  <a:off x="1560591" y="2463800"/>
                  <a:ext cx="782285" cy="158236"/>
                </a:xfrm>
                <a:prstGeom prst="roundRect">
                  <a:avLst/>
                </a:prstGeom>
                <a:solidFill>
                  <a:srgbClr val="F4CBB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Linear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37B6D192-5E5D-B740-6F40-6C4297A4B657}"/>
                  </a:ext>
                </a:extLst>
              </p:cNvPr>
              <p:cNvSpPr/>
              <p:nvPr/>
            </p:nvSpPr>
            <p:spPr>
              <a:xfrm>
                <a:off x="1362075" y="2827673"/>
                <a:ext cx="1320800" cy="10985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539B5FA5-BCF0-3E20-38E6-6E219AC85FB6}"/>
                  </a:ext>
                </a:extLst>
              </p:cNvPr>
              <p:cNvSpPr txBox="1"/>
              <p:nvPr/>
            </p:nvSpPr>
            <p:spPr>
              <a:xfrm>
                <a:off x="1501774" y="2881511"/>
                <a:ext cx="1041400" cy="269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SOH Regressor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4ECE03C5-B0F3-093C-DBCC-EA34D83AB7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27789" y="1349758"/>
              <a:ext cx="1" cy="209616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med" len="lg"/>
              <a:tailEnd type="non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CEBDD7D8-464C-6DF9-243C-C35E27D7A98A}"/>
                </a:ext>
              </a:extLst>
            </p:cNvPr>
            <p:cNvGrpSpPr/>
            <p:nvPr/>
          </p:nvGrpSpPr>
          <p:grpSpPr>
            <a:xfrm>
              <a:off x="7099926" y="1805597"/>
              <a:ext cx="1027865" cy="234234"/>
              <a:chOff x="3721481" y="1975000"/>
              <a:chExt cx="1027865" cy="234234"/>
            </a:xfrm>
          </p:grpSpPr>
          <p:grpSp>
            <p:nvGrpSpPr>
              <p:cNvPr id="123" name="组合 122">
                <a:extLst>
                  <a:ext uri="{FF2B5EF4-FFF2-40B4-BE49-F238E27FC236}">
                    <a16:creationId xmlns:a16="http://schemas.microsoft.com/office/drawing/2014/main" id="{724E49A0-1C43-B62E-F850-451343AA3C0D}"/>
                  </a:ext>
                </a:extLst>
              </p:cNvPr>
              <p:cNvGrpSpPr/>
              <p:nvPr/>
            </p:nvGrpSpPr>
            <p:grpSpPr>
              <a:xfrm>
                <a:off x="3721481" y="1975000"/>
                <a:ext cx="1027865" cy="127075"/>
                <a:chOff x="3721481" y="1974995"/>
                <a:chExt cx="1027865" cy="153893"/>
              </a:xfrm>
            </p:grpSpPr>
            <p:cxnSp>
              <p:nvCxnSpPr>
                <p:cNvPr id="125" name="连接符: 肘形 124">
                  <a:extLst>
                    <a:ext uri="{FF2B5EF4-FFF2-40B4-BE49-F238E27FC236}">
                      <a16:creationId xmlns:a16="http://schemas.microsoft.com/office/drawing/2014/main" id="{AFDB1A20-9E44-62AD-4144-DEBACEAECA8F}"/>
                    </a:ext>
                  </a:extLst>
                </p:cNvPr>
                <p:cNvCxnSpPr>
                  <a:cxnSpLocks/>
                  <a:stCxn id="100" idx="2"/>
                </p:cNvCxnSpPr>
                <p:nvPr/>
              </p:nvCxnSpPr>
              <p:spPr>
                <a:xfrm rot="16200000" flipH="1">
                  <a:off x="4158468" y="1538008"/>
                  <a:ext cx="153891" cy="1027865"/>
                </a:xfrm>
                <a:prstGeom prst="bentConnector2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直接连接符 125">
                  <a:extLst>
                    <a:ext uri="{FF2B5EF4-FFF2-40B4-BE49-F238E27FC236}">
                      <a16:creationId xmlns:a16="http://schemas.microsoft.com/office/drawing/2014/main" id="{61875D29-DCC7-DB63-8EE7-9BBDB0C00E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49344" y="1974997"/>
                  <a:ext cx="0" cy="15389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4" name="直接连接符 123">
                <a:extLst>
                  <a:ext uri="{FF2B5EF4-FFF2-40B4-BE49-F238E27FC236}">
                    <a16:creationId xmlns:a16="http://schemas.microsoft.com/office/drawing/2014/main" id="{CF248710-C32E-9424-1556-DD9F7B6F48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240511" y="2099254"/>
                <a:ext cx="1" cy="10998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7" name="矩形: 圆角 106">
              <a:extLst>
                <a:ext uri="{FF2B5EF4-FFF2-40B4-BE49-F238E27FC236}">
                  <a16:creationId xmlns:a16="http://schemas.microsoft.com/office/drawing/2014/main" id="{E82B1D51-57B3-4D45-7428-ED5606805A56}"/>
                </a:ext>
              </a:extLst>
            </p:cNvPr>
            <p:cNvSpPr/>
            <p:nvPr/>
          </p:nvSpPr>
          <p:spPr>
            <a:xfrm>
              <a:off x="6958556" y="3574418"/>
              <a:ext cx="1320800" cy="245755"/>
            </a:xfrm>
            <a:prstGeom prst="roundRect">
              <a:avLst/>
            </a:prstGeom>
            <a:solidFill>
              <a:srgbClr val="F4F7F5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Add &amp; Norm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" name="矩形: 圆角 107">
              <a:extLst>
                <a:ext uri="{FF2B5EF4-FFF2-40B4-BE49-F238E27FC236}">
                  <a16:creationId xmlns:a16="http://schemas.microsoft.com/office/drawing/2014/main" id="{F92346B5-FC03-0A16-9825-87ACC0FD1658}"/>
                </a:ext>
              </a:extLst>
            </p:cNvPr>
            <p:cNvSpPr/>
            <p:nvPr/>
          </p:nvSpPr>
          <p:spPr>
            <a:xfrm>
              <a:off x="6953458" y="4001206"/>
              <a:ext cx="1320800" cy="245755"/>
            </a:xfrm>
            <a:prstGeom prst="roundRect">
              <a:avLst/>
            </a:prstGeom>
            <a:solidFill>
              <a:srgbClr val="FEFCE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</a:t>
              </a:r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&amp; Project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09" name="组合 108">
              <a:extLst>
                <a:ext uri="{FF2B5EF4-FFF2-40B4-BE49-F238E27FC236}">
                  <a16:creationId xmlns:a16="http://schemas.microsoft.com/office/drawing/2014/main" id="{824E9E01-AFEB-6705-86C3-027DBC446C95}"/>
                </a:ext>
              </a:extLst>
            </p:cNvPr>
            <p:cNvGrpSpPr/>
            <p:nvPr/>
          </p:nvGrpSpPr>
          <p:grpSpPr>
            <a:xfrm>
              <a:off x="6630994" y="4404498"/>
              <a:ext cx="1932105" cy="672335"/>
              <a:chOff x="6405445" y="4509265"/>
              <a:chExt cx="2224342" cy="842178"/>
            </a:xfrm>
            <a:solidFill>
              <a:schemeClr val="bg1"/>
            </a:solidFill>
          </p:grpSpPr>
          <p:sp>
            <p:nvSpPr>
              <p:cNvPr id="119" name="矩形: 圆角 118">
                <a:extLst>
                  <a:ext uri="{FF2B5EF4-FFF2-40B4-BE49-F238E27FC236}">
                    <a16:creationId xmlns:a16="http://schemas.microsoft.com/office/drawing/2014/main" id="{839BAB4F-E324-3732-EA25-27BBC63C106A}"/>
                  </a:ext>
                </a:extLst>
              </p:cNvPr>
              <p:cNvSpPr/>
              <p:nvPr/>
            </p:nvSpPr>
            <p:spPr>
              <a:xfrm>
                <a:off x="6405445" y="4509265"/>
                <a:ext cx="1767142" cy="384978"/>
              </a:xfrm>
              <a:prstGeom prst="roundRect">
                <a:avLst/>
              </a:prstGeom>
              <a:solidFill>
                <a:srgbClr val="E2DFEF"/>
              </a:solidFill>
              <a:ln>
                <a:solidFill>
                  <a:schemeClr val="dk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0" name="矩形: 圆角 119">
                <a:extLst>
                  <a:ext uri="{FF2B5EF4-FFF2-40B4-BE49-F238E27FC236}">
                    <a16:creationId xmlns:a16="http://schemas.microsoft.com/office/drawing/2014/main" id="{C4C29A01-0089-B1DA-696C-2382CF3DDBC8}"/>
                  </a:ext>
                </a:extLst>
              </p:cNvPr>
              <p:cNvSpPr/>
              <p:nvPr/>
            </p:nvSpPr>
            <p:spPr>
              <a:xfrm>
                <a:off x="6557845" y="4661665"/>
                <a:ext cx="1767142" cy="384978"/>
              </a:xfrm>
              <a:prstGeom prst="roundRect">
                <a:avLst/>
              </a:prstGeom>
              <a:solidFill>
                <a:srgbClr val="E2DFEF"/>
              </a:solidFill>
              <a:ln>
                <a:solidFill>
                  <a:schemeClr val="dk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1" name="矩形: 圆角 120">
                <a:extLst>
                  <a:ext uri="{FF2B5EF4-FFF2-40B4-BE49-F238E27FC236}">
                    <a16:creationId xmlns:a16="http://schemas.microsoft.com/office/drawing/2014/main" id="{94D08DC0-C75A-C3ED-F081-AE3D3A6FF4C4}"/>
                  </a:ext>
                </a:extLst>
              </p:cNvPr>
              <p:cNvSpPr/>
              <p:nvPr/>
            </p:nvSpPr>
            <p:spPr>
              <a:xfrm>
                <a:off x="6710245" y="4814065"/>
                <a:ext cx="1767142" cy="384978"/>
              </a:xfrm>
              <a:prstGeom prst="roundRect">
                <a:avLst/>
              </a:prstGeom>
              <a:solidFill>
                <a:srgbClr val="E2DFEF"/>
              </a:solidFill>
              <a:ln>
                <a:solidFill>
                  <a:schemeClr val="dk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2" name="矩形: 圆角 121">
                <a:extLst>
                  <a:ext uri="{FF2B5EF4-FFF2-40B4-BE49-F238E27FC236}">
                    <a16:creationId xmlns:a16="http://schemas.microsoft.com/office/drawing/2014/main" id="{CAC99321-FF45-2DA2-0B67-56F15D0A55D8}"/>
                  </a:ext>
                </a:extLst>
              </p:cNvPr>
              <p:cNvSpPr/>
              <p:nvPr/>
            </p:nvSpPr>
            <p:spPr>
              <a:xfrm>
                <a:off x="6862645" y="4966465"/>
                <a:ext cx="1767142" cy="384978"/>
              </a:xfrm>
              <a:prstGeom prst="roundRect">
                <a:avLst/>
              </a:prstGeom>
              <a:solidFill>
                <a:srgbClr val="E2DFEF"/>
              </a:solidFill>
              <a:ln>
                <a:solidFill>
                  <a:schemeClr val="dk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Stochastic Self-Attention</a:t>
                </a:r>
              </a:p>
            </p:txBody>
          </p:sp>
        </p:grp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53A27FE3-7AB0-99FA-CBD6-FFF13672BACA}"/>
                </a:ext>
              </a:extLst>
            </p:cNvPr>
            <p:cNvSpPr/>
            <p:nvPr/>
          </p:nvSpPr>
          <p:spPr>
            <a:xfrm>
              <a:off x="6435506" y="3275286"/>
              <a:ext cx="2356702" cy="2092511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HSSTT Block</a:t>
              </a: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1" name="直接箭头连接符 110">
              <a:extLst>
                <a:ext uri="{FF2B5EF4-FFF2-40B4-BE49-F238E27FC236}">
                  <a16:creationId xmlns:a16="http://schemas.microsoft.com/office/drawing/2014/main" id="{4A98C7FE-1606-6030-67DC-696EC62516BD}"/>
                </a:ext>
              </a:extLst>
            </p:cNvPr>
            <p:cNvCxnSpPr>
              <a:cxnSpLocks/>
              <a:stCxn id="110" idx="0"/>
              <a:endCxn id="128" idx="2"/>
            </p:cNvCxnSpPr>
            <p:nvPr/>
          </p:nvCxnSpPr>
          <p:spPr>
            <a:xfrm flipV="1">
              <a:off x="7613857" y="3043697"/>
              <a:ext cx="1" cy="231589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w="med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2F8D9103-818E-A4C0-F60F-6CC6EBE1792E}"/>
                </a:ext>
              </a:extLst>
            </p:cNvPr>
            <p:cNvCxnSpPr>
              <a:cxnSpLocks/>
              <a:stCxn id="99" idx="0"/>
            </p:cNvCxnSpPr>
            <p:nvPr/>
          </p:nvCxnSpPr>
          <p:spPr>
            <a:xfrm flipV="1">
              <a:off x="7663235" y="5071050"/>
              <a:ext cx="0" cy="383144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w="med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箭头连接符 112">
              <a:extLst>
                <a:ext uri="{FF2B5EF4-FFF2-40B4-BE49-F238E27FC236}">
                  <a16:creationId xmlns:a16="http://schemas.microsoft.com/office/drawing/2014/main" id="{DCD47B9C-B17B-E150-0333-7939C3F25AD1}"/>
                </a:ext>
              </a:extLst>
            </p:cNvPr>
            <p:cNvCxnSpPr/>
            <p:nvPr/>
          </p:nvCxnSpPr>
          <p:spPr>
            <a:xfrm flipV="1">
              <a:off x="7128120" y="4242246"/>
              <a:ext cx="0" cy="16225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箭头连接符 113">
              <a:extLst>
                <a:ext uri="{FF2B5EF4-FFF2-40B4-BE49-F238E27FC236}">
                  <a16:creationId xmlns:a16="http://schemas.microsoft.com/office/drawing/2014/main" id="{1B7C87BF-23CC-D49F-C6A1-7FDDC999BA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34493" y="4242246"/>
              <a:ext cx="0" cy="28391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B42DB6F7-9C65-2B6C-16D6-B431B05FAA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8485" y="4242246"/>
              <a:ext cx="0" cy="40011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箭头连接符 115">
              <a:extLst>
                <a:ext uri="{FF2B5EF4-FFF2-40B4-BE49-F238E27FC236}">
                  <a16:creationId xmlns:a16="http://schemas.microsoft.com/office/drawing/2014/main" id="{0A39C430-BA8B-860A-9818-A5ACD3ED27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43559" y="4242246"/>
              <a:ext cx="0" cy="52724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箭头连接符 116">
              <a:extLst>
                <a:ext uri="{FF2B5EF4-FFF2-40B4-BE49-F238E27FC236}">
                  <a16:creationId xmlns:a16="http://schemas.microsoft.com/office/drawing/2014/main" id="{20FE0418-F7A6-B1AC-968A-E00B5BDEDB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35905" y="3820173"/>
              <a:ext cx="0" cy="18103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w="med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连接符: 肘形 117">
              <a:extLst>
                <a:ext uri="{FF2B5EF4-FFF2-40B4-BE49-F238E27FC236}">
                  <a16:creationId xmlns:a16="http://schemas.microsoft.com/office/drawing/2014/main" id="{30247DA6-1E28-9543-1AA3-5BDCE377DE89}"/>
                </a:ext>
              </a:extLst>
            </p:cNvPr>
            <p:cNvCxnSpPr>
              <a:cxnSpLocks/>
              <a:endCxn id="107" idx="3"/>
            </p:cNvCxnSpPr>
            <p:nvPr/>
          </p:nvCxnSpPr>
          <p:spPr>
            <a:xfrm rot="5400000" flipH="1" flipV="1">
              <a:off x="7191210" y="4169321"/>
              <a:ext cx="1560170" cy="616121"/>
            </a:xfrm>
            <a:prstGeom prst="bentConnector4">
              <a:avLst>
                <a:gd name="adj1" fmla="val -1711"/>
                <a:gd name="adj2" fmla="val 161838"/>
              </a:avLst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3" name="连接符: 肘形 132">
            <a:extLst>
              <a:ext uri="{FF2B5EF4-FFF2-40B4-BE49-F238E27FC236}">
                <a16:creationId xmlns:a16="http://schemas.microsoft.com/office/drawing/2014/main" id="{3A20236D-4D35-4F8B-83BF-2CEE8DB40BBE}"/>
              </a:ext>
            </a:extLst>
          </p:cNvPr>
          <p:cNvCxnSpPr>
            <a:stCxn id="103" idx="3"/>
            <a:endCxn id="54" idx="1"/>
          </p:cNvCxnSpPr>
          <p:nvPr/>
        </p:nvCxnSpPr>
        <p:spPr>
          <a:xfrm>
            <a:off x="8606835" y="1181453"/>
            <a:ext cx="765876" cy="1017665"/>
          </a:xfrm>
          <a:prstGeom prst="bentConnector3">
            <a:avLst>
              <a:gd name="adj1" fmla="val 21810"/>
            </a:avLst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565953F2-61D8-764B-9B3F-8745DE5FECD8}"/>
                  </a:ext>
                </a:extLst>
              </p:cNvPr>
              <p:cNvSpPr txBox="1"/>
              <p:nvPr/>
            </p:nvSpPr>
            <p:spPr>
              <a:xfrm>
                <a:off x="8443434" y="3279787"/>
                <a:ext cx="34981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565953F2-61D8-764B-9B3F-8745DE5FE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3434" y="3279787"/>
                <a:ext cx="349813" cy="24622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文本框 137">
            <a:extLst>
              <a:ext uri="{FF2B5EF4-FFF2-40B4-BE49-F238E27FC236}">
                <a16:creationId xmlns:a16="http://schemas.microsoft.com/office/drawing/2014/main" id="{81C8A844-55A4-42C6-EAB8-3A85F3C42661}"/>
              </a:ext>
            </a:extLst>
          </p:cNvPr>
          <p:cNvSpPr txBox="1"/>
          <p:nvPr/>
        </p:nvSpPr>
        <p:spPr>
          <a:xfrm>
            <a:off x="3751652" y="1014667"/>
            <a:ext cx="1380931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 </a:t>
            </a:r>
          </a:p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Weights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1" name="直接连接符 140">
            <a:extLst>
              <a:ext uri="{FF2B5EF4-FFF2-40B4-BE49-F238E27FC236}">
                <a16:creationId xmlns:a16="http://schemas.microsoft.com/office/drawing/2014/main" id="{02165486-3950-4CA6-4010-3C433F5AE631}"/>
              </a:ext>
            </a:extLst>
          </p:cNvPr>
          <p:cNvCxnSpPr>
            <a:cxnSpLocks/>
          </p:cNvCxnSpPr>
          <p:nvPr/>
        </p:nvCxnSpPr>
        <p:spPr>
          <a:xfrm flipH="1">
            <a:off x="7081609" y="1354330"/>
            <a:ext cx="1" cy="209616"/>
          </a:xfrm>
          <a:prstGeom prst="line">
            <a:avLst/>
          </a:prstGeom>
          <a:ln w="19050">
            <a:solidFill>
              <a:schemeClr val="tx1"/>
            </a:solidFill>
            <a:headEnd type="triangle" w="med" len="lg"/>
            <a:tailEnd type="non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8309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>
            <a:extLst>
              <a:ext uri="{FF2B5EF4-FFF2-40B4-BE49-F238E27FC236}">
                <a16:creationId xmlns:a16="http://schemas.microsoft.com/office/drawing/2014/main" id="{F2D53FF0-0139-FE7D-E2B2-C235B2656468}"/>
              </a:ext>
            </a:extLst>
          </p:cNvPr>
          <p:cNvSpPr/>
          <p:nvPr/>
        </p:nvSpPr>
        <p:spPr>
          <a:xfrm>
            <a:off x="6257195" y="1918437"/>
            <a:ext cx="1927365" cy="5004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Cross-Sensor-Dependency-Aware</a:t>
            </a: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Dilated Convolution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D612850-D5F2-AD5C-90B0-7952AF8B5784}"/>
              </a:ext>
            </a:extLst>
          </p:cNvPr>
          <p:cNvSpPr/>
          <p:nvPr/>
        </p:nvSpPr>
        <p:spPr>
          <a:xfrm>
            <a:off x="6243464" y="3413143"/>
            <a:ext cx="1927365" cy="2040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 (opt.) &amp; Stack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C1DD679-0D26-DF2E-1FD4-B4F3E2BC363F}"/>
              </a:ext>
            </a:extLst>
          </p:cNvPr>
          <p:cNvGrpSpPr/>
          <p:nvPr/>
        </p:nvGrpSpPr>
        <p:grpSpPr>
          <a:xfrm>
            <a:off x="6096000" y="859799"/>
            <a:ext cx="2262229" cy="926001"/>
            <a:chOff x="1575880" y="676906"/>
            <a:chExt cx="2262229" cy="926001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A055DA67-A204-0492-C711-5502B07C4627}"/>
                </a:ext>
              </a:extLst>
            </p:cNvPr>
            <p:cNvGrpSpPr/>
            <p:nvPr/>
          </p:nvGrpSpPr>
          <p:grpSpPr>
            <a:xfrm>
              <a:off x="1667336" y="939901"/>
              <a:ext cx="2066844" cy="543154"/>
              <a:chOff x="645959" y="671049"/>
              <a:chExt cx="2066844" cy="543154"/>
            </a:xfrm>
          </p:grpSpPr>
          <p:pic>
            <p:nvPicPr>
              <p:cNvPr id="19" name="图片 18">
                <a:extLst>
                  <a:ext uri="{FF2B5EF4-FFF2-40B4-BE49-F238E27FC236}">
                    <a16:creationId xmlns:a16="http://schemas.microsoft.com/office/drawing/2014/main" id="{931D5509-76A2-643D-BB81-B7F9D03C72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5959" y="671049"/>
                <a:ext cx="672998" cy="5431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5EF4BFDE-C164-4D69-EE35-8556C26B68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42882" y="671049"/>
                <a:ext cx="672998" cy="5431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  <p:pic>
            <p:nvPicPr>
              <p:cNvPr id="26" name="图片 25">
                <a:extLst>
                  <a:ext uri="{FF2B5EF4-FFF2-40B4-BE49-F238E27FC236}">
                    <a16:creationId xmlns:a16="http://schemas.microsoft.com/office/drawing/2014/main" id="{A413A472-333C-75C7-3F96-663DC59A24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39805" y="671049"/>
                <a:ext cx="672998" cy="5431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</p:grp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44923B12-30F5-1410-90A9-F716AB913086}"/>
                </a:ext>
              </a:extLst>
            </p:cNvPr>
            <p:cNvSpPr/>
            <p:nvPr/>
          </p:nvSpPr>
          <p:spPr>
            <a:xfrm>
              <a:off x="1575880" y="676906"/>
              <a:ext cx="2262229" cy="926001"/>
            </a:xfrm>
            <a:prstGeom prst="roundRect">
              <a:avLst/>
            </a:prstGeom>
            <a:noFill/>
            <a:ln>
              <a:prstDash val="sys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D8CAB548-9CA6-7279-4546-CA946105EBE9}"/>
                </a:ext>
              </a:extLst>
            </p:cNvPr>
            <p:cNvSpPr txBox="1"/>
            <p:nvPr/>
          </p:nvSpPr>
          <p:spPr>
            <a:xfrm>
              <a:off x="2070285" y="687931"/>
              <a:ext cx="12334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Raw Cyclic Signals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49349584-B595-79DE-FE67-E8E098879191}"/>
              </a:ext>
            </a:extLst>
          </p:cNvPr>
          <p:cNvGrpSpPr/>
          <p:nvPr/>
        </p:nvGrpSpPr>
        <p:grpSpPr>
          <a:xfrm>
            <a:off x="6096000" y="2541365"/>
            <a:ext cx="2262229" cy="742595"/>
            <a:chOff x="6096000" y="2096865"/>
            <a:chExt cx="2262229" cy="742595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3C2DBF35-4D31-94D3-D5BB-263A3A8CE850}"/>
                </a:ext>
              </a:extLst>
            </p:cNvPr>
            <p:cNvSpPr/>
            <p:nvPr/>
          </p:nvSpPr>
          <p:spPr>
            <a:xfrm>
              <a:off x="6096000" y="2096865"/>
              <a:ext cx="2262229" cy="742595"/>
            </a:xfrm>
            <a:prstGeom prst="roundRect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C</a:t>
              </a:r>
              <a:r>
                <a:rPr lang="en-US" altLang="zh-CN" sz="1000" b="0" i="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onvolved </a:t>
              </a:r>
              <a:r>
                <a:rPr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1000" b="0" i="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eature Map </a:t>
              </a:r>
            </a:p>
            <a:p>
              <a:pPr algn="ctr"/>
              <a:r>
                <a:rPr lang="en-US" altLang="zh-CN" sz="1000" b="0" i="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Containing </a:t>
              </a:r>
              <a:r>
                <a:rPr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Spatial Information</a:t>
              </a:r>
            </a:p>
            <a:p>
              <a:pPr algn="ctr"/>
              <a:endPara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148F6592-9ED6-7F42-104E-323A7E805EB4}"/>
                </a:ext>
              </a:extLst>
            </p:cNvPr>
            <p:cNvGrpSpPr/>
            <p:nvPr/>
          </p:nvGrpSpPr>
          <p:grpSpPr>
            <a:xfrm>
              <a:off x="6602310" y="2371013"/>
              <a:ext cx="1209675" cy="369332"/>
              <a:chOff x="4443015" y="2106097"/>
              <a:chExt cx="1209675" cy="369332"/>
            </a:xfrm>
          </p:grpSpPr>
          <p:sp>
            <p:nvSpPr>
              <p:cNvPr id="6" name="矩形: 圆角 5">
                <a:extLst>
                  <a:ext uri="{FF2B5EF4-FFF2-40B4-BE49-F238E27FC236}">
                    <a16:creationId xmlns:a16="http://schemas.microsoft.com/office/drawing/2014/main" id="{39E027D9-8C41-F417-CCC5-BF1F30A66927}"/>
                  </a:ext>
                </a:extLst>
              </p:cNvPr>
              <p:cNvSpPr/>
              <p:nvPr/>
            </p:nvSpPr>
            <p:spPr>
              <a:xfrm>
                <a:off x="4443015" y="2291885"/>
                <a:ext cx="1209675" cy="13335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732FDCD7-4B7B-4E4F-D923-3DA4ED3535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560095" y="2324102"/>
                <a:ext cx="68149" cy="6891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C99BEC87-5657-C74E-8E81-F32D3422233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23663" y="2324102"/>
                <a:ext cx="68149" cy="6891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2283A05A-B479-92CC-B2D6-78EFEBEAA22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70526" y="2324102"/>
                <a:ext cx="68149" cy="6891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7A8FA47-8978-05F6-68F1-B0D918B273F9}"/>
                  </a:ext>
                </a:extLst>
              </p:cNvPr>
              <p:cNvSpPr txBox="1"/>
              <p:nvPr/>
            </p:nvSpPr>
            <p:spPr>
              <a:xfrm>
                <a:off x="5047853" y="2106097"/>
                <a:ext cx="330199" cy="36933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/>
              <a:p>
                <a:pPr algn="ctr"/>
                <a:r>
                  <a:rPr lang="e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...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D67CA1AF-3DB6-AFC4-6B76-4CA2A1233F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39027" y="2589017"/>
              <a:ext cx="68149" cy="6891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0538EE2E-55D7-7C23-8829-5EA50F728E10}"/>
              </a:ext>
            </a:extLst>
          </p:cNvPr>
          <p:cNvSpPr/>
          <p:nvPr/>
        </p:nvSpPr>
        <p:spPr>
          <a:xfrm>
            <a:off x="6096007" y="3743896"/>
            <a:ext cx="2262222" cy="1640904"/>
          </a:xfrm>
          <a:prstGeom prst="round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Feature Map</a:t>
            </a:r>
          </a:p>
          <a:p>
            <a:endParaRPr lang="en-US" altLang="zh-CN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zh-CN" altLang="en-US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D6EB9324-F9E6-44DD-A7DB-154757BDBF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353187"/>
              </p:ext>
            </p:extLst>
          </p:nvPr>
        </p:nvGraphicFramePr>
        <p:xfrm>
          <a:off x="7273933" y="3793318"/>
          <a:ext cx="6731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72840" imgH="190440" progId="Equation.DSMT4">
                  <p:embed/>
                </p:oleObj>
              </mc:Choice>
              <mc:Fallback>
                <p:oleObj name="Equation" r:id="rId5" imgW="67284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73933" y="3793318"/>
                        <a:ext cx="6731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" name="组合 48">
            <a:extLst>
              <a:ext uri="{FF2B5EF4-FFF2-40B4-BE49-F238E27FC236}">
                <a16:creationId xmlns:a16="http://schemas.microsoft.com/office/drawing/2014/main" id="{578965F1-61AF-3251-0582-7AEB58C978A8}"/>
              </a:ext>
            </a:extLst>
          </p:cNvPr>
          <p:cNvGrpSpPr/>
          <p:nvPr/>
        </p:nvGrpSpPr>
        <p:grpSpPr>
          <a:xfrm>
            <a:off x="6195298" y="4085965"/>
            <a:ext cx="1823755" cy="1298835"/>
            <a:chOff x="2088767" y="4414333"/>
            <a:chExt cx="1823755" cy="1298835"/>
          </a:xfrm>
        </p:grpSpPr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D261473D-3C8B-09EB-94A0-F9C83591024B}"/>
                </a:ext>
              </a:extLst>
            </p:cNvPr>
            <p:cNvCxnSpPr>
              <a:cxnSpLocks/>
            </p:cNvCxnSpPr>
            <p:nvPr/>
          </p:nvCxnSpPr>
          <p:spPr>
            <a:xfrm>
              <a:off x="2501208" y="5433844"/>
              <a:ext cx="1411314" cy="0"/>
            </a:xfrm>
            <a:prstGeom prst="straightConnector1">
              <a:avLst/>
            </a:prstGeom>
            <a:ln>
              <a:headEnd w="med" len="lg"/>
              <a:tailEnd type="stealth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349352F8-D666-E09A-6B07-5A0AAA61D47E}"/>
                </a:ext>
              </a:extLst>
            </p:cNvPr>
            <p:cNvCxnSpPr>
              <a:cxnSpLocks/>
            </p:cNvCxnSpPr>
            <p:nvPr/>
          </p:nvCxnSpPr>
          <p:spPr>
            <a:xfrm>
              <a:off x="2360271" y="4414333"/>
              <a:ext cx="0" cy="1016859"/>
            </a:xfrm>
            <a:prstGeom prst="straightConnector1">
              <a:avLst/>
            </a:prstGeom>
            <a:ln>
              <a:tailEnd type="stealth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58EE867A-5038-EECC-EF4B-7D9849A42DB9}"/>
                </a:ext>
              </a:extLst>
            </p:cNvPr>
            <p:cNvSpPr txBox="1"/>
            <p:nvPr/>
          </p:nvSpPr>
          <p:spPr>
            <a:xfrm>
              <a:off x="2836137" y="5466947"/>
              <a:ext cx="700458" cy="24622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temporal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7C79E6B-00E1-75ED-176D-65007F7EE055}"/>
                </a:ext>
              </a:extLst>
            </p:cNvPr>
            <p:cNvSpPr txBox="1"/>
            <p:nvPr/>
          </p:nvSpPr>
          <p:spPr>
            <a:xfrm rot="16200000">
              <a:off x="1933237" y="4859569"/>
              <a:ext cx="557282" cy="24622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spatial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7F6C432B-C1A3-7C29-D56A-C988DF4E1039}"/>
                </a:ext>
              </a:extLst>
            </p:cNvPr>
            <p:cNvGrpSpPr/>
            <p:nvPr/>
          </p:nvGrpSpPr>
          <p:grpSpPr>
            <a:xfrm>
              <a:off x="2460210" y="4414333"/>
              <a:ext cx="1452312" cy="951926"/>
              <a:chOff x="1893781" y="4655132"/>
              <a:chExt cx="1452312" cy="951926"/>
            </a:xfrm>
          </p:grpSpPr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E2E8B839-F6F2-857C-3AC7-BA6AC69A4401}"/>
                  </a:ext>
                </a:extLst>
              </p:cNvPr>
              <p:cNvSpPr/>
              <p:nvPr/>
            </p:nvSpPr>
            <p:spPr>
              <a:xfrm>
                <a:off x="2145174" y="4660900"/>
                <a:ext cx="109758" cy="67948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6676656-FD56-A9D7-B8E8-E4067B6A3DAF}"/>
                  </a:ext>
                </a:extLst>
              </p:cNvPr>
              <p:cNvSpPr txBox="1"/>
              <p:nvPr/>
            </p:nvSpPr>
            <p:spPr>
              <a:xfrm>
                <a:off x="2308445" y="4752476"/>
                <a:ext cx="304800" cy="36933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...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1A6109DF-25C1-89B4-B418-3CDBB200B68F}"/>
                  </a:ext>
                </a:extLst>
              </p:cNvPr>
              <p:cNvSpPr txBox="1"/>
              <p:nvPr/>
            </p:nvSpPr>
            <p:spPr>
              <a:xfrm>
                <a:off x="2101854" y="5360837"/>
                <a:ext cx="196397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0B1AA002-E42B-4161-BA58-3A7B48562B61}"/>
                  </a:ext>
                </a:extLst>
              </p:cNvPr>
              <p:cNvSpPr txBox="1"/>
              <p:nvPr/>
            </p:nvSpPr>
            <p:spPr>
              <a:xfrm>
                <a:off x="2625144" y="5360837"/>
                <a:ext cx="196397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5E133F63-83A4-AC79-6553-B4975BC353AA}"/>
                  </a:ext>
                </a:extLst>
              </p:cNvPr>
              <p:cNvSpPr txBox="1"/>
              <p:nvPr/>
            </p:nvSpPr>
            <p:spPr>
              <a:xfrm>
                <a:off x="3149696" y="5360837"/>
                <a:ext cx="196397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A972AB76-D356-14EE-C1CD-897724857E83}"/>
                  </a:ext>
                </a:extLst>
              </p:cNvPr>
              <p:cNvSpPr/>
              <p:nvPr/>
            </p:nvSpPr>
            <p:spPr>
              <a:xfrm>
                <a:off x="2666758" y="4660900"/>
                <a:ext cx="109758" cy="67948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316D9D9C-9099-5B6A-A83C-24F2D7ED6AD1}"/>
                  </a:ext>
                </a:extLst>
              </p:cNvPr>
              <p:cNvSpPr txBox="1"/>
              <p:nvPr/>
            </p:nvSpPr>
            <p:spPr>
              <a:xfrm>
                <a:off x="2833145" y="4752476"/>
                <a:ext cx="304800" cy="36933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...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F8B409FC-AC6F-3F58-B944-264EEFE0DF54}"/>
                  </a:ext>
                </a:extLst>
              </p:cNvPr>
              <p:cNvSpPr/>
              <p:nvPr/>
            </p:nvSpPr>
            <p:spPr>
              <a:xfrm>
                <a:off x="3194574" y="4655132"/>
                <a:ext cx="109758" cy="67948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2D48EEDD-E635-A757-6439-ACDE710553C2}"/>
                  </a:ext>
                </a:extLst>
              </p:cNvPr>
              <p:cNvSpPr/>
              <p:nvPr/>
            </p:nvSpPr>
            <p:spPr>
              <a:xfrm>
                <a:off x="1934779" y="4661270"/>
                <a:ext cx="109758" cy="67948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D9D60FA8-7864-BEEB-99FF-2F87FE21A022}"/>
                  </a:ext>
                </a:extLst>
              </p:cNvPr>
              <p:cNvSpPr txBox="1"/>
              <p:nvPr/>
            </p:nvSpPr>
            <p:spPr>
              <a:xfrm>
                <a:off x="1893781" y="5360836"/>
                <a:ext cx="196397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31B0AB6-8872-2A73-A26C-0CBF3E57B629}"/>
                  </a:ext>
                </a:extLst>
              </p:cNvPr>
              <p:cNvSpPr txBox="1"/>
              <p:nvPr/>
            </p:nvSpPr>
            <p:spPr>
              <a:xfrm>
                <a:off x="2355660" y="822676"/>
                <a:ext cx="34981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31B0AB6-8872-2A73-A26C-0CBF3E57B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660" y="822676"/>
                <a:ext cx="349813" cy="2462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>
            <a:extLst>
              <a:ext uri="{FF2B5EF4-FFF2-40B4-BE49-F238E27FC236}">
                <a16:creationId xmlns:a16="http://schemas.microsoft.com/office/drawing/2014/main" id="{ED9A42B5-F46F-074E-533E-BB632478BD7E}"/>
              </a:ext>
            </a:extLst>
          </p:cNvPr>
          <p:cNvGrpSpPr/>
          <p:nvPr/>
        </p:nvGrpSpPr>
        <p:grpSpPr>
          <a:xfrm>
            <a:off x="448485" y="815996"/>
            <a:ext cx="2262229" cy="926001"/>
            <a:chOff x="1575880" y="676906"/>
            <a:chExt cx="2262229" cy="926001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DDD48668-EE7A-F768-4671-9A5E4045865F}"/>
                </a:ext>
              </a:extLst>
            </p:cNvPr>
            <p:cNvGrpSpPr/>
            <p:nvPr/>
          </p:nvGrpSpPr>
          <p:grpSpPr>
            <a:xfrm>
              <a:off x="1667336" y="939901"/>
              <a:ext cx="2066844" cy="543154"/>
              <a:chOff x="645959" y="671049"/>
              <a:chExt cx="2066844" cy="543154"/>
            </a:xfrm>
          </p:grpSpPr>
          <p:pic>
            <p:nvPicPr>
              <p:cNvPr id="16" name="图片 15">
                <a:extLst>
                  <a:ext uri="{FF2B5EF4-FFF2-40B4-BE49-F238E27FC236}">
                    <a16:creationId xmlns:a16="http://schemas.microsoft.com/office/drawing/2014/main" id="{96C68531-D595-8185-88CD-D7BD901E55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5959" y="671049"/>
                <a:ext cx="672998" cy="5431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  <p:pic>
            <p:nvPicPr>
              <p:cNvPr id="17" name="图片 16">
                <a:extLst>
                  <a:ext uri="{FF2B5EF4-FFF2-40B4-BE49-F238E27FC236}">
                    <a16:creationId xmlns:a16="http://schemas.microsoft.com/office/drawing/2014/main" id="{6A0BF964-72E6-41FC-E20F-3D86B89DB1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42882" y="671049"/>
                <a:ext cx="672998" cy="5431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FFC7967A-7762-EB4A-A324-14E84500C2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39805" y="671049"/>
                <a:ext cx="672998" cy="5431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</p:grp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D650D80D-1AB9-9D49-CA40-92004E58D161}"/>
                </a:ext>
              </a:extLst>
            </p:cNvPr>
            <p:cNvSpPr/>
            <p:nvPr/>
          </p:nvSpPr>
          <p:spPr>
            <a:xfrm>
              <a:off x="1575880" y="676906"/>
              <a:ext cx="2262229" cy="926001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E820D1B-E37C-1982-EC33-E0476D1BD027}"/>
                </a:ext>
              </a:extLst>
            </p:cNvPr>
            <p:cNvSpPr txBox="1"/>
            <p:nvPr/>
          </p:nvSpPr>
          <p:spPr>
            <a:xfrm>
              <a:off x="2070285" y="687931"/>
              <a:ext cx="12334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Raw Cyclic Signals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69F46B2B-5936-D988-AA5D-B3765A3752D4}"/>
              </a:ext>
            </a:extLst>
          </p:cNvPr>
          <p:cNvGrpSpPr/>
          <p:nvPr/>
        </p:nvGrpSpPr>
        <p:grpSpPr>
          <a:xfrm>
            <a:off x="448492" y="4051883"/>
            <a:ext cx="2262222" cy="1640904"/>
            <a:chOff x="448492" y="3700093"/>
            <a:chExt cx="2262222" cy="16409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6130354A-8C2B-B6F6-0B19-310D46BBA55B}"/>
                </a:ext>
              </a:extLst>
            </p:cNvPr>
            <p:cNvGrpSpPr/>
            <p:nvPr/>
          </p:nvGrpSpPr>
          <p:grpSpPr>
            <a:xfrm>
              <a:off x="448492" y="3700093"/>
              <a:ext cx="2262222" cy="1640904"/>
              <a:chOff x="448492" y="3700093"/>
              <a:chExt cx="2262222" cy="1640904"/>
            </a:xfrm>
          </p:grpSpPr>
          <p:sp>
            <p:nvSpPr>
              <p:cNvPr id="64" name="矩形: 圆角 63">
                <a:extLst>
                  <a:ext uri="{FF2B5EF4-FFF2-40B4-BE49-F238E27FC236}">
                    <a16:creationId xmlns:a16="http://schemas.microsoft.com/office/drawing/2014/main" id="{F7FFEB68-4310-E6ED-A79C-9A9F5B454F79}"/>
                  </a:ext>
                </a:extLst>
              </p:cNvPr>
              <p:cNvSpPr/>
              <p:nvPr/>
            </p:nvSpPr>
            <p:spPr>
              <a:xfrm>
                <a:off x="448492" y="3700093"/>
                <a:ext cx="2262222" cy="1640904"/>
              </a:xfrm>
              <a:prstGeom prst="roundRect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Feature Map</a:t>
                </a:r>
              </a:p>
              <a:p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zh-CN" altLang="en-US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65" name="对象 64">
                <a:extLst>
                  <a:ext uri="{FF2B5EF4-FFF2-40B4-BE49-F238E27FC236}">
                    <a16:creationId xmlns:a16="http://schemas.microsoft.com/office/drawing/2014/main" id="{58D853A8-51B2-852E-C58A-DD598F698D2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17568530"/>
                  </p:ext>
                </p:extLst>
              </p:nvPr>
            </p:nvGraphicFramePr>
            <p:xfrm>
              <a:off x="1633538" y="3749675"/>
              <a:ext cx="6604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660240" imgH="190440" progId="Equation.DSMT4">
                      <p:embed/>
                    </p:oleObj>
                  </mc:Choice>
                  <mc:Fallback>
                    <p:oleObj name="Equation" r:id="rId8" imgW="660240" imgH="190440" progId="Equation.DSMT4">
                      <p:embed/>
                      <p:pic>
                        <p:nvPicPr>
                          <p:cNvPr id="37" name="对象 36">
                            <a:extLst>
                              <a:ext uri="{FF2B5EF4-FFF2-40B4-BE49-F238E27FC236}">
                                <a16:creationId xmlns:a16="http://schemas.microsoft.com/office/drawing/2014/main" id="{58D853A8-51B2-852E-C58A-DD598F698D25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1633538" y="3749675"/>
                            <a:ext cx="6604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4B7B6ED7-CB58-639A-A0AA-4F0062C58763}"/>
                </a:ext>
              </a:extLst>
            </p:cNvPr>
            <p:cNvGrpSpPr/>
            <p:nvPr/>
          </p:nvGrpSpPr>
          <p:grpSpPr>
            <a:xfrm>
              <a:off x="547783" y="4041792"/>
              <a:ext cx="1823755" cy="1299205"/>
              <a:chOff x="2088767" y="4413963"/>
              <a:chExt cx="1823755" cy="1299205"/>
            </a:xfrm>
          </p:grpSpPr>
          <p:cxnSp>
            <p:nvCxnSpPr>
              <p:cNvPr id="46" name="直接箭头连接符 45">
                <a:extLst>
                  <a:ext uri="{FF2B5EF4-FFF2-40B4-BE49-F238E27FC236}">
                    <a16:creationId xmlns:a16="http://schemas.microsoft.com/office/drawing/2014/main" id="{CD421D64-AB2B-0931-EDE7-5DCF5E4E45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01208" y="5433844"/>
                <a:ext cx="1411314" cy="0"/>
              </a:xfrm>
              <a:prstGeom prst="straightConnector1">
                <a:avLst/>
              </a:prstGeom>
              <a:ln>
                <a:headEnd w="med" len="lg"/>
                <a:tailEnd type="stealth" w="med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47" name="直接箭头连接符 46">
                <a:extLst>
                  <a:ext uri="{FF2B5EF4-FFF2-40B4-BE49-F238E27FC236}">
                    <a16:creationId xmlns:a16="http://schemas.microsoft.com/office/drawing/2014/main" id="{A81140CD-58DB-3C02-831C-FBB69E4667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60271" y="4414333"/>
                <a:ext cx="0" cy="1016859"/>
              </a:xfrm>
              <a:prstGeom prst="straightConnector1">
                <a:avLst/>
              </a:prstGeom>
              <a:ln>
                <a:tailEnd type="stealth" w="med" len="lg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9F2C8FDE-2666-D246-C558-6461399AAD3E}"/>
                  </a:ext>
                </a:extLst>
              </p:cNvPr>
              <p:cNvSpPr txBox="1"/>
              <p:nvPr/>
            </p:nvSpPr>
            <p:spPr>
              <a:xfrm>
                <a:off x="2836137" y="5466947"/>
                <a:ext cx="700458" cy="24622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temporal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2CAB9CC5-9BFC-F326-254B-6A92C75A5626}"/>
                  </a:ext>
                </a:extLst>
              </p:cNvPr>
              <p:cNvSpPr txBox="1"/>
              <p:nvPr/>
            </p:nvSpPr>
            <p:spPr>
              <a:xfrm rot="16200000">
                <a:off x="1933237" y="4859569"/>
                <a:ext cx="557282" cy="24622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spatial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FA7D180E-0964-C430-F225-630A3C45BDDC}"/>
                  </a:ext>
                </a:extLst>
              </p:cNvPr>
              <p:cNvGrpSpPr/>
              <p:nvPr/>
            </p:nvGrpSpPr>
            <p:grpSpPr>
              <a:xfrm>
                <a:off x="2460210" y="4413963"/>
                <a:ext cx="1452312" cy="952296"/>
                <a:chOff x="1893781" y="4654762"/>
                <a:chExt cx="1452312" cy="952296"/>
              </a:xfrm>
            </p:grpSpPr>
            <p:sp>
              <p:nvSpPr>
                <p:cNvPr id="52" name="矩形: 圆角 51">
                  <a:extLst>
                    <a:ext uri="{FF2B5EF4-FFF2-40B4-BE49-F238E27FC236}">
                      <a16:creationId xmlns:a16="http://schemas.microsoft.com/office/drawing/2014/main" id="{118303F4-C4EA-4F01-3B32-4A1FB4050883}"/>
                    </a:ext>
                  </a:extLst>
                </p:cNvPr>
                <p:cNvSpPr/>
                <p:nvPr/>
              </p:nvSpPr>
              <p:spPr>
                <a:xfrm>
                  <a:off x="2145174" y="4654762"/>
                  <a:ext cx="109758" cy="685622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1DD5A303-0EE1-2B61-C57E-73F9B392E98D}"/>
                    </a:ext>
                  </a:extLst>
                </p:cNvPr>
                <p:cNvSpPr txBox="1"/>
                <p:nvPr/>
              </p:nvSpPr>
              <p:spPr>
                <a:xfrm>
                  <a:off x="2308445" y="4752476"/>
                  <a:ext cx="304800" cy="3693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pPr algn="ctr"/>
                  <a:r>
                    <a:rPr lang="en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...</a:t>
                  </a:r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C925357E-B3E6-D73E-17E2-DB42CE008B0B}"/>
                    </a:ext>
                  </a:extLst>
                </p:cNvPr>
                <p:cNvSpPr txBox="1"/>
                <p:nvPr/>
              </p:nvSpPr>
              <p:spPr>
                <a:xfrm>
                  <a:off x="2101854" y="5360837"/>
                  <a:ext cx="1963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29D9F405-508E-2366-6458-E5BBE0D6392A}"/>
                    </a:ext>
                  </a:extLst>
                </p:cNvPr>
                <p:cNvSpPr txBox="1"/>
                <p:nvPr/>
              </p:nvSpPr>
              <p:spPr>
                <a:xfrm>
                  <a:off x="2625144" y="5360837"/>
                  <a:ext cx="1963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45CE8289-0AF8-341C-83D5-6C3282943EFE}"/>
                    </a:ext>
                  </a:extLst>
                </p:cNvPr>
                <p:cNvSpPr txBox="1"/>
                <p:nvPr/>
              </p:nvSpPr>
              <p:spPr>
                <a:xfrm>
                  <a:off x="3149696" y="5360837"/>
                  <a:ext cx="1963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9" name="矩形: 圆角 58">
                  <a:extLst>
                    <a:ext uri="{FF2B5EF4-FFF2-40B4-BE49-F238E27FC236}">
                      <a16:creationId xmlns:a16="http://schemas.microsoft.com/office/drawing/2014/main" id="{B8C47BF6-986F-6B64-1A85-E2F8E1185C52}"/>
                    </a:ext>
                  </a:extLst>
                </p:cNvPr>
                <p:cNvSpPr/>
                <p:nvPr/>
              </p:nvSpPr>
              <p:spPr>
                <a:xfrm>
                  <a:off x="2666758" y="4654762"/>
                  <a:ext cx="109758" cy="685622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7484E0D7-5C2F-3FA7-F866-6908FB7F96A5}"/>
                    </a:ext>
                  </a:extLst>
                </p:cNvPr>
                <p:cNvSpPr txBox="1"/>
                <p:nvPr/>
              </p:nvSpPr>
              <p:spPr>
                <a:xfrm>
                  <a:off x="2833145" y="4752476"/>
                  <a:ext cx="304800" cy="3693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pPr algn="ctr"/>
                  <a:r>
                    <a:rPr lang="en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...</a:t>
                  </a:r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1" name="矩形: 圆角 60">
                  <a:extLst>
                    <a:ext uri="{FF2B5EF4-FFF2-40B4-BE49-F238E27FC236}">
                      <a16:creationId xmlns:a16="http://schemas.microsoft.com/office/drawing/2014/main" id="{AD08FD86-D7BB-EF12-4796-FFF788A6C583}"/>
                    </a:ext>
                  </a:extLst>
                </p:cNvPr>
                <p:cNvSpPr/>
                <p:nvPr/>
              </p:nvSpPr>
              <p:spPr>
                <a:xfrm>
                  <a:off x="3194574" y="4655132"/>
                  <a:ext cx="109758" cy="679484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" name="矩形: 圆角 61">
                  <a:extLst>
                    <a:ext uri="{FF2B5EF4-FFF2-40B4-BE49-F238E27FC236}">
                      <a16:creationId xmlns:a16="http://schemas.microsoft.com/office/drawing/2014/main" id="{2CA17C17-BA48-4B51-790C-3A01B7F74D92}"/>
                    </a:ext>
                  </a:extLst>
                </p:cNvPr>
                <p:cNvSpPr/>
                <p:nvPr/>
              </p:nvSpPr>
              <p:spPr>
                <a:xfrm>
                  <a:off x="1934779" y="4655132"/>
                  <a:ext cx="109758" cy="685622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A1038D70-574A-DAED-80C0-ECC55D7C8C71}"/>
                    </a:ext>
                  </a:extLst>
                </p:cNvPr>
                <p:cNvSpPr txBox="1"/>
                <p:nvPr/>
              </p:nvSpPr>
              <p:spPr>
                <a:xfrm>
                  <a:off x="1893781" y="5360836"/>
                  <a:ext cx="1963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700B2C84-A9C0-69FB-A1F4-58612905A1D8}"/>
              </a:ext>
            </a:extLst>
          </p:cNvPr>
          <p:cNvGrpSpPr/>
          <p:nvPr/>
        </p:nvGrpSpPr>
        <p:grpSpPr>
          <a:xfrm>
            <a:off x="455628" y="2674049"/>
            <a:ext cx="2264970" cy="742595"/>
            <a:chOff x="455628" y="2451799"/>
            <a:chExt cx="2264970" cy="742595"/>
          </a:xfrm>
        </p:grpSpPr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DFDC8EF5-4B4C-BBC5-F073-D40D2E680FB3}"/>
                </a:ext>
              </a:extLst>
            </p:cNvPr>
            <p:cNvGrpSpPr/>
            <p:nvPr/>
          </p:nvGrpSpPr>
          <p:grpSpPr>
            <a:xfrm>
              <a:off x="455628" y="2451799"/>
              <a:ext cx="2262229" cy="742595"/>
              <a:chOff x="6096000" y="2096865"/>
              <a:chExt cx="2262229" cy="742595"/>
            </a:xfrm>
          </p:grpSpPr>
          <p:sp>
            <p:nvSpPr>
              <p:cNvPr id="69" name="矩形: 圆角 68">
                <a:extLst>
                  <a:ext uri="{FF2B5EF4-FFF2-40B4-BE49-F238E27FC236}">
                    <a16:creationId xmlns:a16="http://schemas.microsoft.com/office/drawing/2014/main" id="{B996CA81-275A-D9A7-3F2D-931446123FD9}"/>
                  </a:ext>
                </a:extLst>
              </p:cNvPr>
              <p:cNvSpPr/>
              <p:nvPr/>
            </p:nvSpPr>
            <p:spPr>
              <a:xfrm>
                <a:off x="6096000" y="2096865"/>
                <a:ext cx="2262229" cy="742595"/>
              </a:xfrm>
              <a:prstGeom prst="roundRect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</a:t>
                </a:r>
                <a:r>
                  <a:rPr lang="en-US" altLang="zh-CN" sz="10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onvolved 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10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eature Map </a:t>
                </a:r>
              </a:p>
              <a:p>
                <a:pPr algn="ctr"/>
                <a:r>
                  <a:rPr lang="en-US" altLang="zh-CN" sz="100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Containing 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Spatial Information</a:t>
                </a:r>
              </a:p>
              <a:p>
                <a:pPr algn="ctr"/>
                <a:endParaRPr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70" name="组合 69">
                <a:extLst>
                  <a:ext uri="{FF2B5EF4-FFF2-40B4-BE49-F238E27FC236}">
                    <a16:creationId xmlns:a16="http://schemas.microsoft.com/office/drawing/2014/main" id="{ED100A54-9D65-F66C-5A7F-259484945963}"/>
                  </a:ext>
                </a:extLst>
              </p:cNvPr>
              <p:cNvGrpSpPr/>
              <p:nvPr/>
            </p:nvGrpSpPr>
            <p:grpSpPr>
              <a:xfrm>
                <a:off x="6602310" y="2371013"/>
                <a:ext cx="1209675" cy="369332"/>
                <a:chOff x="4443015" y="2106097"/>
                <a:chExt cx="1209675" cy="369332"/>
              </a:xfrm>
            </p:grpSpPr>
            <p:sp>
              <p:nvSpPr>
                <p:cNvPr id="72" name="矩形: 圆角 71">
                  <a:extLst>
                    <a:ext uri="{FF2B5EF4-FFF2-40B4-BE49-F238E27FC236}">
                      <a16:creationId xmlns:a16="http://schemas.microsoft.com/office/drawing/2014/main" id="{D11E3FAE-8FA7-5768-6A43-B6D43B7928F1}"/>
                    </a:ext>
                  </a:extLst>
                </p:cNvPr>
                <p:cNvSpPr/>
                <p:nvPr/>
              </p:nvSpPr>
              <p:spPr>
                <a:xfrm>
                  <a:off x="4443015" y="2291885"/>
                  <a:ext cx="1209675" cy="133350"/>
                </a:xfrm>
                <a:prstGeom prst="roundRect">
                  <a:avLst/>
                </a:prstGeom>
                <a:solidFill>
                  <a:srgbClr val="C6DB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椭圆 72">
                  <a:extLst>
                    <a:ext uri="{FF2B5EF4-FFF2-40B4-BE49-F238E27FC236}">
                      <a16:creationId xmlns:a16="http://schemas.microsoft.com/office/drawing/2014/main" id="{3003C8A1-FF19-2274-23EE-B776EB80B67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560095" y="2324102"/>
                  <a:ext cx="68149" cy="68917"/>
                </a:xfrm>
                <a:prstGeom prst="ellipse">
                  <a:avLst/>
                </a:prstGeom>
                <a:solidFill>
                  <a:srgbClr val="FFD97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74" name="椭圆 73">
                  <a:extLst>
                    <a:ext uri="{FF2B5EF4-FFF2-40B4-BE49-F238E27FC236}">
                      <a16:creationId xmlns:a16="http://schemas.microsoft.com/office/drawing/2014/main" id="{4830637C-28A0-6944-D96F-715A38E6F11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723663" y="2324102"/>
                  <a:ext cx="68149" cy="68917"/>
                </a:xfrm>
                <a:prstGeom prst="ellipse">
                  <a:avLst/>
                </a:prstGeom>
                <a:solidFill>
                  <a:srgbClr val="FFD97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" name="椭圆 74">
                  <a:extLst>
                    <a:ext uri="{FF2B5EF4-FFF2-40B4-BE49-F238E27FC236}">
                      <a16:creationId xmlns:a16="http://schemas.microsoft.com/office/drawing/2014/main" id="{547F3CE8-C3A2-F57C-3596-F7F6E094EDE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470526" y="2324102"/>
                  <a:ext cx="68149" cy="68917"/>
                </a:xfrm>
                <a:prstGeom prst="ellipse">
                  <a:avLst/>
                </a:prstGeom>
                <a:solidFill>
                  <a:srgbClr val="FFD97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E49AC94F-AA52-4B2A-364D-E934A1C3A1D2}"/>
                    </a:ext>
                  </a:extLst>
                </p:cNvPr>
                <p:cNvSpPr txBox="1"/>
                <p:nvPr/>
              </p:nvSpPr>
              <p:spPr>
                <a:xfrm>
                  <a:off x="5047853" y="2106097"/>
                  <a:ext cx="330199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anchor="ctr">
                  <a:spAutoFit/>
                </a:bodyPr>
                <a:lstStyle/>
                <a:p>
                  <a:pPr algn="ctr"/>
                  <a:r>
                    <a:rPr lang="en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...</a:t>
                  </a:r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71" name="椭圆 70">
                <a:extLst>
                  <a:ext uri="{FF2B5EF4-FFF2-40B4-BE49-F238E27FC236}">
                    <a16:creationId xmlns:a16="http://schemas.microsoft.com/office/drawing/2014/main" id="{B4D3FC37-0010-91A3-FB28-BD25429BC46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39027" y="2589017"/>
                <a:ext cx="68149" cy="68917"/>
              </a:xfrm>
              <a:prstGeom prst="ellipse">
                <a:avLst/>
              </a:prstGeom>
              <a:solidFill>
                <a:srgbClr val="FFD97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6E1C2D7B-21D6-2C44-EF6F-DD294DB0FA7A}"/>
                    </a:ext>
                  </a:extLst>
                </p:cNvPr>
                <p:cNvSpPr txBox="1"/>
                <p:nvPr/>
              </p:nvSpPr>
              <p:spPr>
                <a:xfrm>
                  <a:off x="2370785" y="2466958"/>
                  <a:ext cx="349813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F7305A37-F5B5-3B62-B376-737227EBA7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0785" y="2466958"/>
                  <a:ext cx="349813" cy="24622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2C605E31-37DB-8A70-D5B0-6C1B4722D38A}"/>
              </a:ext>
            </a:extLst>
          </p:cNvPr>
          <p:cNvCxnSpPr>
            <a:cxnSpLocks/>
          </p:cNvCxnSpPr>
          <p:nvPr/>
        </p:nvCxnSpPr>
        <p:spPr>
          <a:xfrm>
            <a:off x="1579599" y="1741965"/>
            <a:ext cx="3954" cy="22856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8E03B825-B201-C99A-167B-46CEC7238997}"/>
              </a:ext>
            </a:extLst>
          </p:cNvPr>
          <p:cNvCxnSpPr>
            <a:cxnSpLocks/>
          </p:cNvCxnSpPr>
          <p:nvPr/>
        </p:nvCxnSpPr>
        <p:spPr>
          <a:xfrm>
            <a:off x="1585177" y="2456888"/>
            <a:ext cx="0" cy="21646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FAFA9F70-A22D-B668-3FDF-4FB7CC8FC92E}"/>
              </a:ext>
            </a:extLst>
          </p:cNvPr>
          <p:cNvCxnSpPr>
            <a:cxnSpLocks/>
          </p:cNvCxnSpPr>
          <p:nvPr/>
        </p:nvCxnSpPr>
        <p:spPr>
          <a:xfrm>
            <a:off x="1586407" y="3856346"/>
            <a:ext cx="0" cy="18840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DD563452-4D5B-CB83-1F9D-E9FD7AD22CA9}"/>
              </a:ext>
            </a:extLst>
          </p:cNvPr>
          <p:cNvCxnSpPr>
            <a:cxnSpLocks/>
            <a:stCxn id="69" idx="2"/>
          </p:cNvCxnSpPr>
          <p:nvPr/>
        </p:nvCxnSpPr>
        <p:spPr>
          <a:xfrm flipH="1">
            <a:off x="1583981" y="3416644"/>
            <a:ext cx="2762" cy="23015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B9D4EC9B-3C9A-93CD-3754-431B361909F1}"/>
              </a:ext>
            </a:extLst>
          </p:cNvPr>
          <p:cNvSpPr/>
          <p:nvPr/>
        </p:nvSpPr>
        <p:spPr>
          <a:xfrm>
            <a:off x="653779" y="3646552"/>
            <a:ext cx="1927365" cy="204028"/>
          </a:xfrm>
          <a:prstGeom prst="round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 (opt.) &amp; Stack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57CC1BCB-B356-BF35-8245-803F5A6711FC}"/>
              </a:ext>
            </a:extLst>
          </p:cNvPr>
          <p:cNvSpPr/>
          <p:nvPr/>
        </p:nvSpPr>
        <p:spPr>
          <a:xfrm>
            <a:off x="609679" y="1967834"/>
            <a:ext cx="1927365" cy="500469"/>
          </a:xfrm>
          <a:prstGeom prst="round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Cross-Sensor-Dependency-Aware Dilated Convolution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80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A64E91A6-08E6-D9C4-EBD9-126D0CBD58CE}"/>
              </a:ext>
            </a:extLst>
          </p:cNvPr>
          <p:cNvSpPr/>
          <p:nvPr/>
        </p:nvSpPr>
        <p:spPr>
          <a:xfrm>
            <a:off x="3095268" y="3290469"/>
            <a:ext cx="1286239" cy="2200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MatMul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B1660295-7FD1-3D52-7097-E7FDFA780094}"/>
              </a:ext>
            </a:extLst>
          </p:cNvPr>
          <p:cNvSpPr/>
          <p:nvPr/>
        </p:nvSpPr>
        <p:spPr>
          <a:xfrm>
            <a:off x="3525445" y="1705194"/>
            <a:ext cx="1507994" cy="43316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GSR-based Stochastic</a:t>
            </a: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Representation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BFA7772D-68DC-467F-4724-1E770F4DF904}"/>
              </a:ext>
            </a:extLst>
          </p:cNvPr>
          <p:cNvSpPr/>
          <p:nvPr/>
        </p:nvSpPr>
        <p:spPr>
          <a:xfrm>
            <a:off x="3577939" y="2491549"/>
            <a:ext cx="1406956" cy="43316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Distance-Sensitive</a:t>
            </a: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Re-embedding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2B15CB6A-2268-9CFA-C352-51485005D036}"/>
              </a:ext>
            </a:extLst>
          </p:cNvPr>
          <p:cNvSpPr/>
          <p:nvPr/>
        </p:nvSpPr>
        <p:spPr>
          <a:xfrm>
            <a:off x="4178254" y="1136118"/>
            <a:ext cx="1286239" cy="2200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MatMul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0F8F1B5-470E-47F8-7888-5384F7EF484A}"/>
              </a:ext>
            </a:extLst>
          </p:cNvPr>
          <p:cNvSpPr txBox="1"/>
          <p:nvPr/>
        </p:nvSpPr>
        <p:spPr>
          <a:xfrm>
            <a:off x="4629298" y="4595258"/>
            <a:ext cx="403860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4D19832-1F21-98C1-1F8D-3A430C9729E6}"/>
              </a:ext>
            </a:extLst>
          </p:cNvPr>
          <p:cNvSpPr txBox="1"/>
          <p:nvPr/>
        </p:nvSpPr>
        <p:spPr>
          <a:xfrm>
            <a:off x="5145764" y="4600021"/>
            <a:ext cx="403860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0F556A9F-5308-D8BD-C4ED-FA9E21D84868}"/>
              </a:ext>
            </a:extLst>
          </p:cNvPr>
          <p:cNvGrpSpPr>
            <a:grpSpLocks noChangeAspect="1"/>
          </p:cNvGrpSpPr>
          <p:nvPr/>
        </p:nvGrpSpPr>
        <p:grpSpPr>
          <a:xfrm>
            <a:off x="4711522" y="3279931"/>
            <a:ext cx="241130" cy="241130"/>
            <a:chOff x="4801552" y="2902268"/>
            <a:chExt cx="365760" cy="365760"/>
          </a:xfrm>
        </p:grpSpPr>
        <p:sp>
          <p:nvSpPr>
            <p:cNvPr id="52" name="流程图: 接点 51">
              <a:extLst>
                <a:ext uri="{FF2B5EF4-FFF2-40B4-BE49-F238E27FC236}">
                  <a16:creationId xmlns:a16="http://schemas.microsoft.com/office/drawing/2014/main" id="{D3BF8AC4-8BB9-403D-36A0-373198F5C8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01552" y="2902268"/>
              <a:ext cx="365760" cy="365760"/>
            </a:xfrm>
            <a:prstGeom prst="flowChartConnecto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3" name="连接符: 曲线 52">
              <a:extLst>
                <a:ext uri="{FF2B5EF4-FFF2-40B4-BE49-F238E27FC236}">
                  <a16:creationId xmlns:a16="http://schemas.microsoft.com/office/drawing/2014/main" id="{FD3DC1F1-4FFD-EFDF-5034-A7F370FFAD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0680" y="2997058"/>
              <a:ext cx="177028" cy="177005"/>
            </a:xfrm>
            <a:prstGeom prst="curvedConnector3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D1295239-1366-C1C1-B08F-D14F23CEDE0C}"/>
              </a:ext>
            </a:extLst>
          </p:cNvPr>
          <p:cNvSpPr/>
          <p:nvPr/>
        </p:nvSpPr>
        <p:spPr>
          <a:xfrm>
            <a:off x="2854023" y="3796433"/>
            <a:ext cx="967584" cy="43316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GSR-based</a:t>
            </a: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DD1707E-E037-0F9D-C635-4CF600A73111}"/>
              </a:ext>
            </a:extLst>
          </p:cNvPr>
          <p:cNvSpPr txBox="1"/>
          <p:nvPr/>
        </p:nvSpPr>
        <p:spPr>
          <a:xfrm>
            <a:off x="2895760" y="4595258"/>
            <a:ext cx="403860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222AF9C-05F9-8955-E74C-1F20BEED99BF}"/>
              </a:ext>
            </a:extLst>
          </p:cNvPr>
          <p:cNvSpPr txBox="1"/>
          <p:nvPr/>
        </p:nvSpPr>
        <p:spPr>
          <a:xfrm>
            <a:off x="3376009" y="4595258"/>
            <a:ext cx="403860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00012DF7-D5CB-A134-786D-6CB8FACB9031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3097690" y="4236386"/>
            <a:ext cx="0" cy="358872"/>
          </a:xfrm>
          <a:prstGeom prst="straightConnector1">
            <a:avLst/>
          </a:prstGeom>
          <a:ln>
            <a:tailEnd type="triangle" w="med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D2FA696C-3D0A-01F9-3879-FEA4D3BD91BE}"/>
              </a:ext>
            </a:extLst>
          </p:cNvPr>
          <p:cNvCxnSpPr>
            <a:cxnSpLocks/>
            <a:stCxn id="40" idx="0"/>
          </p:cNvCxnSpPr>
          <p:nvPr/>
        </p:nvCxnSpPr>
        <p:spPr>
          <a:xfrm flipV="1">
            <a:off x="3577939" y="4229597"/>
            <a:ext cx="0" cy="365661"/>
          </a:xfrm>
          <a:prstGeom prst="straightConnector1">
            <a:avLst/>
          </a:prstGeom>
          <a:ln>
            <a:tailEnd type="triangle" w="med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C0740D13-5C86-00F5-A8A8-66E28061A044}"/>
              </a:ext>
            </a:extLst>
          </p:cNvPr>
          <p:cNvCxnSpPr>
            <a:cxnSpLocks/>
          </p:cNvCxnSpPr>
          <p:nvPr/>
        </p:nvCxnSpPr>
        <p:spPr>
          <a:xfrm flipV="1">
            <a:off x="3337815" y="3515154"/>
            <a:ext cx="0" cy="281279"/>
          </a:xfrm>
          <a:prstGeom prst="straightConnector1">
            <a:avLst/>
          </a:prstGeom>
          <a:ln>
            <a:tailEnd type="triangle" w="med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227E7152-625E-BD5D-3228-0466BB01399A}"/>
              </a:ext>
            </a:extLst>
          </p:cNvPr>
          <p:cNvSpPr txBox="1"/>
          <p:nvPr/>
        </p:nvSpPr>
        <p:spPr>
          <a:xfrm>
            <a:off x="3944745" y="4595258"/>
            <a:ext cx="403860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AC7D59FC-14FD-9589-9B04-A4EA1B6726D8}"/>
              </a:ext>
            </a:extLst>
          </p:cNvPr>
          <p:cNvCxnSpPr>
            <a:cxnSpLocks/>
          </p:cNvCxnSpPr>
          <p:nvPr/>
        </p:nvCxnSpPr>
        <p:spPr>
          <a:xfrm flipV="1">
            <a:off x="4146675" y="3515154"/>
            <a:ext cx="0" cy="1080104"/>
          </a:xfrm>
          <a:prstGeom prst="straightConnector1">
            <a:avLst/>
          </a:prstGeom>
          <a:ln>
            <a:tailEnd type="triangle" w="med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EB3BDC0C-CAC9-F908-8218-AA25B5EEB816}"/>
              </a:ext>
            </a:extLst>
          </p:cNvPr>
          <p:cNvCxnSpPr>
            <a:cxnSpLocks/>
          </p:cNvCxnSpPr>
          <p:nvPr/>
        </p:nvCxnSpPr>
        <p:spPr>
          <a:xfrm flipH="1" flipV="1">
            <a:off x="4821373" y="812800"/>
            <a:ext cx="14" cy="323318"/>
          </a:xfrm>
          <a:prstGeom prst="straightConnector1">
            <a:avLst/>
          </a:prstGeom>
          <a:ln>
            <a:tailEnd type="triangle" w="med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EC86C3D6-7BD2-FABC-469B-1D9FB86A8162}"/>
              </a:ext>
            </a:extLst>
          </p:cNvPr>
          <p:cNvCxnSpPr>
            <a:cxnSpLocks/>
          </p:cNvCxnSpPr>
          <p:nvPr/>
        </p:nvCxnSpPr>
        <p:spPr>
          <a:xfrm flipV="1">
            <a:off x="3760242" y="2927551"/>
            <a:ext cx="0" cy="358872"/>
          </a:xfrm>
          <a:prstGeom prst="straightConnector1">
            <a:avLst/>
          </a:prstGeom>
          <a:ln>
            <a:tailEnd type="triangle" w="med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E333782C-A00D-5B6B-9E7F-3E1A7D12B10B}"/>
              </a:ext>
            </a:extLst>
          </p:cNvPr>
          <p:cNvCxnSpPr>
            <a:cxnSpLocks/>
          </p:cNvCxnSpPr>
          <p:nvPr/>
        </p:nvCxnSpPr>
        <p:spPr>
          <a:xfrm flipV="1">
            <a:off x="4279442" y="2146300"/>
            <a:ext cx="0" cy="337726"/>
          </a:xfrm>
          <a:prstGeom prst="straightConnector1">
            <a:avLst/>
          </a:prstGeom>
          <a:ln>
            <a:tailEnd type="triangle" w="med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F7CFBD19-BADE-3782-AD12-B5532774AE76}"/>
              </a:ext>
            </a:extLst>
          </p:cNvPr>
          <p:cNvCxnSpPr>
            <a:cxnSpLocks/>
            <a:stCxn id="43" idx="0"/>
          </p:cNvCxnSpPr>
          <p:nvPr/>
        </p:nvCxnSpPr>
        <p:spPr>
          <a:xfrm flipV="1">
            <a:off x="5347694" y="1352551"/>
            <a:ext cx="0" cy="3247470"/>
          </a:xfrm>
          <a:prstGeom prst="straightConnector1">
            <a:avLst/>
          </a:prstGeom>
          <a:ln>
            <a:tailEnd type="triangle" w="med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1AE91DFD-66E0-FB50-F70F-528E6FA98FA1}"/>
              </a:ext>
            </a:extLst>
          </p:cNvPr>
          <p:cNvCxnSpPr>
            <a:cxnSpLocks/>
          </p:cNvCxnSpPr>
          <p:nvPr/>
        </p:nvCxnSpPr>
        <p:spPr>
          <a:xfrm flipV="1">
            <a:off x="4273426" y="1347788"/>
            <a:ext cx="6016" cy="357406"/>
          </a:xfrm>
          <a:prstGeom prst="straightConnector1">
            <a:avLst/>
          </a:prstGeom>
          <a:ln>
            <a:tailEnd type="triangle" w="med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85B3E69-B177-5513-6F92-B307D68D7C12}"/>
              </a:ext>
            </a:extLst>
          </p:cNvPr>
          <p:cNvCxnSpPr>
            <a:cxnSpLocks/>
          </p:cNvCxnSpPr>
          <p:nvPr/>
        </p:nvCxnSpPr>
        <p:spPr>
          <a:xfrm flipV="1">
            <a:off x="4832087" y="3521061"/>
            <a:ext cx="0" cy="1080104"/>
          </a:xfrm>
          <a:prstGeom prst="straightConnector1">
            <a:avLst/>
          </a:prstGeom>
          <a:ln>
            <a:tailEnd type="triangle" w="med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6D233F1C-EA7C-2054-2BBC-18D4AEC9692D}"/>
              </a:ext>
            </a:extLst>
          </p:cNvPr>
          <p:cNvCxnSpPr>
            <a:cxnSpLocks/>
          </p:cNvCxnSpPr>
          <p:nvPr/>
        </p:nvCxnSpPr>
        <p:spPr>
          <a:xfrm flipV="1">
            <a:off x="4830900" y="2921059"/>
            <a:ext cx="0" cy="358872"/>
          </a:xfrm>
          <a:prstGeom prst="straightConnector1">
            <a:avLst/>
          </a:prstGeom>
          <a:ln>
            <a:tailEnd type="triangle" w="med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3516742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文本框 101">
            <a:extLst>
              <a:ext uri="{FF2B5EF4-FFF2-40B4-BE49-F238E27FC236}">
                <a16:creationId xmlns:a16="http://schemas.microsoft.com/office/drawing/2014/main" id="{520F887A-66B9-A14C-EF59-2C15546704DE}"/>
              </a:ext>
            </a:extLst>
          </p:cNvPr>
          <p:cNvSpPr txBox="1"/>
          <p:nvPr/>
        </p:nvSpPr>
        <p:spPr>
          <a:xfrm>
            <a:off x="4177313" y="5623597"/>
            <a:ext cx="214954" cy="3077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90FDA6-92F7-DC98-EB6E-5CF77C842C4F}"/>
              </a:ext>
            </a:extLst>
          </p:cNvPr>
          <p:cNvSpPr txBox="1"/>
          <p:nvPr/>
        </p:nvSpPr>
        <p:spPr>
          <a:xfrm>
            <a:off x="3373813" y="1728777"/>
            <a:ext cx="695335" cy="24622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D378CEF-65CE-7679-D79D-0F58CBED5D8A}"/>
              </a:ext>
            </a:extLst>
          </p:cNvPr>
          <p:cNvSpPr txBox="1"/>
          <p:nvPr/>
        </p:nvSpPr>
        <p:spPr>
          <a:xfrm>
            <a:off x="4401679" y="1728776"/>
            <a:ext cx="695336" cy="24622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018524B-E280-3526-4F14-A80F85AA7417}"/>
                  </a:ext>
                </a:extLst>
              </p:cNvPr>
              <p:cNvSpPr txBox="1"/>
              <p:nvPr/>
            </p:nvSpPr>
            <p:spPr>
              <a:xfrm>
                <a:off x="3242439" y="1150801"/>
                <a:ext cx="958085" cy="4001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SOH Point</a:t>
                </a:r>
              </a:p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Estimation </a:t>
                </a:r>
                <a14:m>
                  <m:oMath xmlns:m="http://schemas.openxmlformats.org/officeDocument/2006/math">
                    <m:r>
                      <a:rPr lang="en-US" altLang="zh-CN" sz="1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018524B-E280-3526-4F14-A80F85AA7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2439" y="1150801"/>
                <a:ext cx="958085" cy="400110"/>
              </a:xfrm>
              <a:prstGeom prst="rect">
                <a:avLst/>
              </a:prstGeom>
              <a:blipFill>
                <a:blip r:embed="rId2"/>
                <a:stretch>
                  <a:fillRect b="-769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BBAD4D22-A105-DA28-BBC5-3FA49B6EA298}"/>
                  </a:ext>
                </a:extLst>
              </p:cNvPr>
              <p:cNvSpPr txBox="1"/>
              <p:nvPr/>
            </p:nvSpPr>
            <p:spPr>
              <a:xfrm>
                <a:off x="4270305" y="1150801"/>
                <a:ext cx="958085" cy="4001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SOH Posterior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CN" sz="1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BBAD4D22-A105-DA28-BBC5-3FA49B6EA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0305" y="1150801"/>
                <a:ext cx="958085" cy="400110"/>
              </a:xfrm>
              <a:prstGeom prst="rect">
                <a:avLst/>
              </a:prstGeom>
              <a:blipFill>
                <a:blip r:embed="rId3"/>
                <a:stretch>
                  <a:fillRect b="-4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: 圆角 5">
            <a:extLst>
              <a:ext uri="{FF2B5EF4-FFF2-40B4-BE49-F238E27FC236}">
                <a16:creationId xmlns:a16="http://schemas.microsoft.com/office/drawing/2014/main" id="{A97AD084-F0A0-71B5-E1DF-997DD8F4A089}"/>
              </a:ext>
            </a:extLst>
          </p:cNvPr>
          <p:cNvSpPr/>
          <p:nvPr/>
        </p:nvSpPr>
        <p:spPr>
          <a:xfrm>
            <a:off x="6096000" y="5923071"/>
            <a:ext cx="2520441" cy="59326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of Hierarchical Stochastic </a:t>
            </a: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Spatial-Temporal Transformer (HSSTT)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03FCAD9-0E19-4464-23C9-C1AF5340E4EF}"/>
              </a:ext>
            </a:extLst>
          </p:cNvPr>
          <p:cNvGrpSpPr/>
          <p:nvPr/>
        </p:nvGrpSpPr>
        <p:grpSpPr>
          <a:xfrm>
            <a:off x="3575013" y="2209234"/>
            <a:ext cx="1320800" cy="1003866"/>
            <a:chOff x="1362075" y="2827673"/>
            <a:chExt cx="1320800" cy="1098550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7E17EA6-4B55-00A2-81D3-B558F7129D1F}"/>
                </a:ext>
              </a:extLst>
            </p:cNvPr>
            <p:cNvGrpSpPr/>
            <p:nvPr/>
          </p:nvGrpSpPr>
          <p:grpSpPr>
            <a:xfrm>
              <a:off x="1420486" y="3248841"/>
              <a:ext cx="1203977" cy="567554"/>
              <a:chOff x="1349743" y="2463800"/>
              <a:chExt cx="1203977" cy="567554"/>
            </a:xfrm>
          </p:grpSpPr>
          <p:sp>
            <p:nvSpPr>
              <p:cNvPr id="93" name="矩形: 圆角 92">
                <a:extLst>
                  <a:ext uri="{FF2B5EF4-FFF2-40B4-BE49-F238E27FC236}">
                    <a16:creationId xmlns:a16="http://schemas.microsoft.com/office/drawing/2014/main" id="{9008270E-FFAE-1796-D1B7-F20FFA870AB7}"/>
                  </a:ext>
                </a:extLst>
              </p:cNvPr>
              <p:cNvSpPr/>
              <p:nvPr/>
            </p:nvSpPr>
            <p:spPr>
              <a:xfrm>
                <a:off x="1349743" y="2873118"/>
                <a:ext cx="1203977" cy="158236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4" name="矩形: 圆角 93">
                <a:extLst>
                  <a:ext uri="{FF2B5EF4-FFF2-40B4-BE49-F238E27FC236}">
                    <a16:creationId xmlns:a16="http://schemas.microsoft.com/office/drawing/2014/main" id="{A48315F3-8D18-991E-846C-C351B904D480}"/>
                  </a:ext>
                </a:extLst>
              </p:cNvPr>
              <p:cNvSpPr/>
              <p:nvPr/>
            </p:nvSpPr>
            <p:spPr>
              <a:xfrm>
                <a:off x="1456786" y="2667000"/>
                <a:ext cx="989893" cy="158236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5" name="矩形: 圆角 94">
                <a:extLst>
                  <a:ext uri="{FF2B5EF4-FFF2-40B4-BE49-F238E27FC236}">
                    <a16:creationId xmlns:a16="http://schemas.microsoft.com/office/drawing/2014/main" id="{ABE88456-8F70-8B9E-EDFF-8BBBB9E42407}"/>
                  </a:ext>
                </a:extLst>
              </p:cNvPr>
              <p:cNvSpPr/>
              <p:nvPr/>
            </p:nvSpPr>
            <p:spPr>
              <a:xfrm>
                <a:off x="1560591" y="2463800"/>
                <a:ext cx="782285" cy="158236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F703160-A8F0-BF0E-DCC3-6D8EE7C6E21B}"/>
                </a:ext>
              </a:extLst>
            </p:cNvPr>
            <p:cNvSpPr/>
            <p:nvPr/>
          </p:nvSpPr>
          <p:spPr>
            <a:xfrm>
              <a:off x="1362075" y="2827673"/>
              <a:ext cx="1320800" cy="10985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83DE32E-48EA-FA59-C5A6-19F5155EBBB5}"/>
                </a:ext>
              </a:extLst>
            </p:cNvPr>
            <p:cNvSpPr txBox="1"/>
            <p:nvPr/>
          </p:nvSpPr>
          <p:spPr>
            <a:xfrm>
              <a:off x="1501774" y="2881511"/>
              <a:ext cx="1041400" cy="269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SOH Regressor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1E32D3E7-B846-D094-0312-81ED6437BD5E}"/>
              </a:ext>
            </a:extLst>
          </p:cNvPr>
          <p:cNvCxnSpPr>
            <a:cxnSpLocks/>
            <a:stCxn id="7" idx="2"/>
            <a:endCxn id="4" idx="0"/>
          </p:cNvCxnSpPr>
          <p:nvPr/>
        </p:nvCxnSpPr>
        <p:spPr>
          <a:xfrm flipH="1">
            <a:off x="3721481" y="1550911"/>
            <a:ext cx="1" cy="177866"/>
          </a:xfrm>
          <a:prstGeom prst="line">
            <a:avLst/>
          </a:prstGeom>
          <a:ln w="12700">
            <a:solidFill>
              <a:schemeClr val="tx1"/>
            </a:solidFill>
            <a:headEnd type="triangle" w="med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44B18FC-E4D7-0292-AC76-84FA34207494}"/>
              </a:ext>
            </a:extLst>
          </p:cNvPr>
          <p:cNvCxnSpPr>
            <a:cxnSpLocks/>
          </p:cNvCxnSpPr>
          <p:nvPr/>
        </p:nvCxnSpPr>
        <p:spPr>
          <a:xfrm flipH="1">
            <a:off x="4749344" y="1519161"/>
            <a:ext cx="1" cy="209616"/>
          </a:xfrm>
          <a:prstGeom prst="line">
            <a:avLst/>
          </a:prstGeom>
          <a:ln w="12700">
            <a:solidFill>
              <a:schemeClr val="tx1"/>
            </a:solidFill>
            <a:headEnd type="triangle" w="med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BE21A0F-8F41-5236-55A5-D8168FCD7373}"/>
              </a:ext>
            </a:extLst>
          </p:cNvPr>
          <p:cNvGrpSpPr/>
          <p:nvPr/>
        </p:nvGrpSpPr>
        <p:grpSpPr>
          <a:xfrm>
            <a:off x="3721481" y="1975000"/>
            <a:ext cx="1027865" cy="234234"/>
            <a:chOff x="3721481" y="1975000"/>
            <a:chExt cx="1027865" cy="234234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ACA48284-12BB-E345-340A-E86830DB24E1}"/>
                </a:ext>
              </a:extLst>
            </p:cNvPr>
            <p:cNvGrpSpPr/>
            <p:nvPr/>
          </p:nvGrpSpPr>
          <p:grpSpPr>
            <a:xfrm>
              <a:off x="3721481" y="1975000"/>
              <a:ext cx="1027865" cy="127075"/>
              <a:chOff x="3721481" y="1974995"/>
              <a:chExt cx="1027865" cy="153893"/>
            </a:xfrm>
          </p:grpSpPr>
          <p:cxnSp>
            <p:nvCxnSpPr>
              <p:cNvPr id="17" name="连接符: 肘形 16">
                <a:extLst>
                  <a:ext uri="{FF2B5EF4-FFF2-40B4-BE49-F238E27FC236}">
                    <a16:creationId xmlns:a16="http://schemas.microsoft.com/office/drawing/2014/main" id="{DEDA5783-B3B7-5D70-522B-89270AA50D21}"/>
                  </a:ext>
                </a:extLst>
              </p:cNvPr>
              <p:cNvCxnSpPr>
                <a:cxnSpLocks/>
                <a:stCxn id="4" idx="2"/>
              </p:cNvCxnSpPr>
              <p:nvPr/>
            </p:nvCxnSpPr>
            <p:spPr>
              <a:xfrm rot="16200000" flipH="1">
                <a:off x="4158468" y="1538008"/>
                <a:ext cx="153891" cy="1027865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CB126155-44E9-C193-C003-C85D89B853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9344" y="1974997"/>
                <a:ext cx="0" cy="15389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91BFB5C1-C3ED-2C3F-39C5-FAAD220110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40511" y="2099254"/>
              <a:ext cx="1" cy="1099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4F75910F-D458-11C4-BCF2-462EDA6F36DE}"/>
              </a:ext>
            </a:extLst>
          </p:cNvPr>
          <p:cNvSpPr/>
          <p:nvPr/>
        </p:nvSpPr>
        <p:spPr>
          <a:xfrm>
            <a:off x="3580111" y="3743821"/>
            <a:ext cx="1320800" cy="2457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&amp; Norm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260ADD7E-4504-3205-5D92-8F55876666DC}"/>
              </a:ext>
            </a:extLst>
          </p:cNvPr>
          <p:cNvSpPr/>
          <p:nvPr/>
        </p:nvSpPr>
        <p:spPr>
          <a:xfrm>
            <a:off x="3575013" y="4170609"/>
            <a:ext cx="1320800" cy="2457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Concat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Project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4F743620-526B-141D-C157-72AC45FAD368}"/>
              </a:ext>
            </a:extLst>
          </p:cNvPr>
          <p:cNvGrpSpPr/>
          <p:nvPr/>
        </p:nvGrpSpPr>
        <p:grpSpPr>
          <a:xfrm>
            <a:off x="3252549" y="4573901"/>
            <a:ext cx="1932105" cy="672335"/>
            <a:chOff x="6405445" y="4509265"/>
            <a:chExt cx="2224342" cy="842178"/>
          </a:xfrm>
          <a:solidFill>
            <a:schemeClr val="bg1"/>
          </a:solidFill>
        </p:grpSpPr>
        <p:sp>
          <p:nvSpPr>
            <p:cNvPr id="96" name="矩形: 圆角 95">
              <a:extLst>
                <a:ext uri="{FF2B5EF4-FFF2-40B4-BE49-F238E27FC236}">
                  <a16:creationId xmlns:a16="http://schemas.microsoft.com/office/drawing/2014/main" id="{1DC258A0-9BF3-D16C-B1AC-76F975CAC645}"/>
                </a:ext>
              </a:extLst>
            </p:cNvPr>
            <p:cNvSpPr/>
            <p:nvPr/>
          </p:nvSpPr>
          <p:spPr>
            <a:xfrm>
              <a:off x="6405445" y="4509265"/>
              <a:ext cx="1767142" cy="384978"/>
            </a:xfrm>
            <a:prstGeom prst="roundRect">
              <a:avLst/>
            </a:prstGeom>
            <a:grpFill/>
            <a:ln>
              <a:solidFill>
                <a:schemeClr val="dk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7F7962EE-CC3A-55BF-1D12-BB95C99035C2}"/>
                </a:ext>
              </a:extLst>
            </p:cNvPr>
            <p:cNvSpPr/>
            <p:nvPr/>
          </p:nvSpPr>
          <p:spPr>
            <a:xfrm>
              <a:off x="6557845" y="4661665"/>
              <a:ext cx="1767142" cy="384978"/>
            </a:xfrm>
            <a:prstGeom prst="roundRect">
              <a:avLst/>
            </a:prstGeom>
            <a:grpFill/>
            <a:ln>
              <a:solidFill>
                <a:schemeClr val="dk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9EE2DA9E-8780-FB9E-113E-A489E706EE20}"/>
                </a:ext>
              </a:extLst>
            </p:cNvPr>
            <p:cNvSpPr/>
            <p:nvPr/>
          </p:nvSpPr>
          <p:spPr>
            <a:xfrm>
              <a:off x="6710245" y="4814065"/>
              <a:ext cx="1767142" cy="384978"/>
            </a:xfrm>
            <a:prstGeom prst="roundRect">
              <a:avLst/>
            </a:prstGeom>
            <a:grpFill/>
            <a:ln>
              <a:solidFill>
                <a:schemeClr val="dk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A003DA05-3CCC-8234-D3C3-E655B0CEE008}"/>
                </a:ext>
              </a:extLst>
            </p:cNvPr>
            <p:cNvSpPr/>
            <p:nvPr/>
          </p:nvSpPr>
          <p:spPr>
            <a:xfrm>
              <a:off x="6862645" y="4966465"/>
              <a:ext cx="1767142" cy="384978"/>
            </a:xfrm>
            <a:prstGeom prst="roundRect">
              <a:avLst/>
            </a:prstGeom>
            <a:grpFill/>
            <a:ln>
              <a:solidFill>
                <a:schemeClr val="dk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Stochastic Self-Attention</a:t>
              </a:r>
            </a:p>
          </p:txBody>
        </p:sp>
      </p:grpSp>
      <p:sp>
        <p:nvSpPr>
          <p:cNvPr id="39" name="矩形 38">
            <a:extLst>
              <a:ext uri="{FF2B5EF4-FFF2-40B4-BE49-F238E27FC236}">
                <a16:creationId xmlns:a16="http://schemas.microsoft.com/office/drawing/2014/main" id="{406F6408-09B0-9528-C47F-2964FA63575C}"/>
              </a:ext>
            </a:extLst>
          </p:cNvPr>
          <p:cNvSpPr/>
          <p:nvPr/>
        </p:nvSpPr>
        <p:spPr>
          <a:xfrm>
            <a:off x="3057061" y="3444689"/>
            <a:ext cx="2356702" cy="2092511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HSSTT Block</a:t>
            </a: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7C73AB08-5A39-5208-EF88-C47B90F6ECE7}"/>
              </a:ext>
            </a:extLst>
          </p:cNvPr>
          <p:cNvCxnSpPr>
            <a:cxnSpLocks/>
            <a:stCxn id="39" idx="0"/>
            <a:endCxn id="8" idx="2"/>
          </p:cNvCxnSpPr>
          <p:nvPr/>
        </p:nvCxnSpPr>
        <p:spPr>
          <a:xfrm flipV="1">
            <a:off x="4235412" y="3213100"/>
            <a:ext cx="1" cy="231589"/>
          </a:xfrm>
          <a:prstGeom prst="straightConnector1">
            <a:avLst/>
          </a:prstGeom>
          <a:ln w="12700">
            <a:solidFill>
              <a:schemeClr val="tx1"/>
            </a:solidFill>
            <a:headEnd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6ED62552-2A9D-B898-D600-609E2601FF12}"/>
              </a:ext>
            </a:extLst>
          </p:cNvPr>
          <p:cNvCxnSpPr>
            <a:cxnSpLocks/>
          </p:cNvCxnSpPr>
          <p:nvPr/>
        </p:nvCxnSpPr>
        <p:spPr>
          <a:xfrm flipV="1">
            <a:off x="4284790" y="5240453"/>
            <a:ext cx="0" cy="377254"/>
          </a:xfrm>
          <a:prstGeom prst="straightConnector1">
            <a:avLst/>
          </a:prstGeom>
          <a:ln w="12700">
            <a:solidFill>
              <a:schemeClr val="tx1"/>
            </a:solidFill>
            <a:headEnd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1A80A1B3-F580-47E5-88F2-F21F25E9C2D7}"/>
              </a:ext>
            </a:extLst>
          </p:cNvPr>
          <p:cNvCxnSpPr/>
          <p:nvPr/>
        </p:nvCxnSpPr>
        <p:spPr>
          <a:xfrm flipV="1">
            <a:off x="3749675" y="4411649"/>
            <a:ext cx="0" cy="16225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33D6DAC1-1374-F97F-95DB-073473F90310}"/>
              </a:ext>
            </a:extLst>
          </p:cNvPr>
          <p:cNvCxnSpPr>
            <a:cxnSpLocks/>
          </p:cNvCxnSpPr>
          <p:nvPr/>
        </p:nvCxnSpPr>
        <p:spPr>
          <a:xfrm flipV="1">
            <a:off x="3956048" y="4411649"/>
            <a:ext cx="0" cy="28391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AE4217E4-4D8C-05E2-75B5-905A3B52136F}"/>
              </a:ext>
            </a:extLst>
          </p:cNvPr>
          <p:cNvCxnSpPr>
            <a:cxnSpLocks/>
          </p:cNvCxnSpPr>
          <p:nvPr/>
        </p:nvCxnSpPr>
        <p:spPr>
          <a:xfrm flipV="1">
            <a:off x="4160040" y="4411649"/>
            <a:ext cx="0" cy="40011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7D3D949C-9E7F-D5FD-76DD-38AA856A2920}"/>
              </a:ext>
            </a:extLst>
          </p:cNvPr>
          <p:cNvCxnSpPr>
            <a:cxnSpLocks/>
          </p:cNvCxnSpPr>
          <p:nvPr/>
        </p:nvCxnSpPr>
        <p:spPr>
          <a:xfrm flipV="1">
            <a:off x="4365114" y="4411649"/>
            <a:ext cx="0" cy="52724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94D31E9A-DBDC-DBF0-D02D-B89120F9826C}"/>
              </a:ext>
            </a:extLst>
          </p:cNvPr>
          <p:cNvCxnSpPr>
            <a:cxnSpLocks/>
          </p:cNvCxnSpPr>
          <p:nvPr/>
        </p:nvCxnSpPr>
        <p:spPr>
          <a:xfrm flipV="1">
            <a:off x="4257460" y="3989576"/>
            <a:ext cx="0" cy="181033"/>
          </a:xfrm>
          <a:prstGeom prst="straightConnector1">
            <a:avLst/>
          </a:prstGeom>
          <a:ln w="12700">
            <a:solidFill>
              <a:schemeClr val="tx1"/>
            </a:solidFill>
            <a:headEnd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连接符: 肘形 61">
            <a:extLst>
              <a:ext uri="{FF2B5EF4-FFF2-40B4-BE49-F238E27FC236}">
                <a16:creationId xmlns:a16="http://schemas.microsoft.com/office/drawing/2014/main" id="{F91B6004-7D31-BF96-9378-3DCB76DED97D}"/>
              </a:ext>
            </a:extLst>
          </p:cNvPr>
          <p:cNvCxnSpPr>
            <a:cxnSpLocks/>
            <a:endCxn id="100" idx="3"/>
          </p:cNvCxnSpPr>
          <p:nvPr/>
        </p:nvCxnSpPr>
        <p:spPr>
          <a:xfrm rot="5400000" flipH="1" flipV="1">
            <a:off x="3812765" y="4338724"/>
            <a:ext cx="1560170" cy="616121"/>
          </a:xfrm>
          <a:prstGeom prst="bentConnector4">
            <a:avLst>
              <a:gd name="adj1" fmla="val -1711"/>
              <a:gd name="adj2" fmla="val 161838"/>
            </a:avLst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396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05DB3643-4DBB-21C9-10FA-B60F58437826}"/>
                  </a:ext>
                </a:extLst>
              </p:cNvPr>
              <p:cNvSpPr/>
              <p:nvPr/>
            </p:nvSpPr>
            <p:spPr>
              <a:xfrm>
                <a:off x="9655090" y="2759637"/>
                <a:ext cx="1468016" cy="38566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Isotonic Regressor </a:t>
                </a:r>
                <a14:m>
                  <m:oMath xmlns:m="http://schemas.openxmlformats.org/officeDocument/2006/math">
                    <m:r>
                      <a:rPr lang="en-US" altLang="zh-CN" sz="1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</m:oMath>
                </a14:m>
                <a:endParaRPr lang="en-US" altLang="zh-CN" sz="10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05DB3643-4DBB-21C9-10FA-B60F584378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5090" y="2759637"/>
                <a:ext cx="1468016" cy="3856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0326E35-6A05-5245-D84F-4979963C6E94}"/>
              </a:ext>
            </a:extLst>
          </p:cNvPr>
          <p:cNvSpPr/>
          <p:nvPr/>
        </p:nvSpPr>
        <p:spPr>
          <a:xfrm>
            <a:off x="9025809" y="3463784"/>
            <a:ext cx="2825619" cy="2297247"/>
          </a:xfrm>
          <a:prstGeom prst="roundRect">
            <a:avLst/>
          </a:prstGeom>
          <a:ln>
            <a:solidFill>
              <a:schemeClr val="dk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Trustworthy SOH Estimation</a:t>
            </a: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67414C7-6917-D42A-0C91-570C719105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732" y="3869109"/>
            <a:ext cx="2224735" cy="18301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1E5DC657-442A-E60A-A53A-EDC1F93C6655}"/>
              </a:ext>
            </a:extLst>
          </p:cNvPr>
          <p:cNvGrpSpPr/>
          <p:nvPr/>
        </p:nvGrpSpPr>
        <p:grpSpPr>
          <a:xfrm>
            <a:off x="8976289" y="1096969"/>
            <a:ext cx="2825619" cy="1331555"/>
            <a:chOff x="1964240" y="1466850"/>
            <a:chExt cx="2825619" cy="13315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矩形: 圆角 11">
                  <a:extLst>
                    <a:ext uri="{FF2B5EF4-FFF2-40B4-BE49-F238E27FC236}">
                      <a16:creationId xmlns:a16="http://schemas.microsoft.com/office/drawing/2014/main" id="{E0953928-3E08-6A3A-C919-A07633463EEA}"/>
                    </a:ext>
                  </a:extLst>
                </p:cNvPr>
                <p:cNvSpPr/>
                <p:nvPr/>
              </p:nvSpPr>
              <p:spPr>
                <a:xfrm>
                  <a:off x="1964240" y="1466850"/>
                  <a:ext cx="2825619" cy="1331555"/>
                </a:xfrm>
                <a:prstGeom prst="roundRect">
                  <a:avLst/>
                </a:prstGeom>
                <a:ln>
                  <a:prstDash val="dash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Calibration dataset </a:t>
                  </a:r>
                  <a14:m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</m:t>
                      </m:r>
                    </m:oMath>
                  </a14:m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矩形: 圆角 11">
                  <a:extLst>
                    <a:ext uri="{FF2B5EF4-FFF2-40B4-BE49-F238E27FC236}">
                      <a16:creationId xmlns:a16="http://schemas.microsoft.com/office/drawing/2014/main" id="{E0953928-3E08-6A3A-C919-A07633463EE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4240" y="1466850"/>
                  <a:ext cx="2825619" cy="1331555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prstDash val="dash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BE5563F4-8AD4-E3F8-379F-80BC3F51FBAE}"/>
                </a:ext>
              </a:extLst>
            </p:cNvPr>
            <p:cNvGrpSpPr/>
            <p:nvPr/>
          </p:nvGrpSpPr>
          <p:grpSpPr>
            <a:xfrm>
              <a:off x="2302629" y="1894522"/>
              <a:ext cx="2148840" cy="793747"/>
              <a:chOff x="2232660" y="3299460"/>
              <a:chExt cx="2148840" cy="793747"/>
            </a:xfrm>
          </p:grpSpPr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1484FE2-63A7-BC72-13AD-65EBFE198464}"/>
                  </a:ext>
                </a:extLst>
              </p:cNvPr>
              <p:cNvSpPr txBox="1"/>
              <p:nvPr/>
            </p:nvSpPr>
            <p:spPr>
              <a:xfrm>
                <a:off x="2265932" y="3846986"/>
                <a:ext cx="1022095" cy="246221"/>
              </a:xfrm>
              <a:prstGeom prst="rect">
                <a:avLst/>
              </a:prstGeom>
              <a:noFill/>
              <a:ln>
                <a:solidFill>
                  <a:schemeClr val="dk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Predictive CDF</a:t>
                </a:r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625895B-3466-1480-FEA3-C35C05D43715}"/>
                  </a:ext>
                </a:extLst>
              </p:cNvPr>
              <p:cNvSpPr txBox="1"/>
              <p:nvPr/>
            </p:nvSpPr>
            <p:spPr>
              <a:xfrm>
                <a:off x="3326132" y="3846986"/>
                <a:ext cx="1022095" cy="246221"/>
              </a:xfrm>
              <a:prstGeom prst="rect">
                <a:avLst/>
              </a:prstGeom>
              <a:noFill/>
              <a:ln>
                <a:solidFill>
                  <a:schemeClr val="dk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Empirical CDF</a:t>
                </a: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F1B7A7A-78FE-432C-412F-A71469AC9411}"/>
                  </a:ext>
                </a:extLst>
              </p:cNvPr>
              <p:cNvSpPr txBox="1"/>
              <p:nvPr/>
            </p:nvSpPr>
            <p:spPr>
              <a:xfrm>
                <a:off x="2284985" y="3355419"/>
                <a:ext cx="102209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</a:t>
                </a: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C372A4A-4FEC-2AFB-6D2F-29E589B103E4}"/>
                  </a:ext>
                </a:extLst>
              </p:cNvPr>
              <p:cNvSpPr txBox="1"/>
              <p:nvPr/>
            </p:nvSpPr>
            <p:spPr>
              <a:xfrm>
                <a:off x="3307080" y="3355419"/>
                <a:ext cx="102209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Label</a:t>
                </a:r>
              </a:p>
            </p:txBody>
          </p:sp>
          <p:sp>
            <p:nvSpPr>
              <p:cNvPr id="9" name="矩形: 圆角 8">
                <a:extLst>
                  <a:ext uri="{FF2B5EF4-FFF2-40B4-BE49-F238E27FC236}">
                    <a16:creationId xmlns:a16="http://schemas.microsoft.com/office/drawing/2014/main" id="{EE5BB874-F4EC-6A23-4E82-021A9356A27B}"/>
                  </a:ext>
                </a:extLst>
              </p:cNvPr>
              <p:cNvSpPr/>
              <p:nvPr/>
            </p:nvSpPr>
            <p:spPr>
              <a:xfrm>
                <a:off x="2232660" y="3299460"/>
                <a:ext cx="2148840" cy="35814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3E9FA764-1EFC-F24B-10C2-729C4FA5B3DB}"/>
                  </a:ext>
                </a:extLst>
              </p:cNvPr>
              <p:cNvCxnSpPr>
                <a:cxnSpLocks/>
                <a:stCxn id="9" idx="0"/>
                <a:endCxn id="9" idx="2"/>
              </p:cNvCxnSpPr>
              <p:nvPr/>
            </p:nvCxnSpPr>
            <p:spPr>
              <a:xfrm>
                <a:off x="3307080" y="3299460"/>
                <a:ext cx="0" cy="3581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箭头连接符 16">
                <a:extLst>
                  <a:ext uri="{FF2B5EF4-FFF2-40B4-BE49-F238E27FC236}">
                    <a16:creationId xmlns:a16="http://schemas.microsoft.com/office/drawing/2014/main" id="{51A451B1-2411-B97C-FA20-E40E153DBD4F}"/>
                  </a:ext>
                </a:extLst>
              </p:cNvPr>
              <p:cNvCxnSpPr>
                <a:cxnSpLocks/>
                <a:stCxn id="4" idx="0"/>
              </p:cNvCxnSpPr>
              <p:nvPr/>
            </p:nvCxnSpPr>
            <p:spPr>
              <a:xfrm flipH="1" flipV="1">
                <a:off x="2776979" y="3657599"/>
                <a:ext cx="1" cy="18938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箭头连接符 19">
                <a:extLst>
                  <a:ext uri="{FF2B5EF4-FFF2-40B4-BE49-F238E27FC236}">
                    <a16:creationId xmlns:a16="http://schemas.microsoft.com/office/drawing/2014/main" id="{6738BAFC-7E5A-EB5F-A12C-6EAF6B7A36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832345" y="3657599"/>
                <a:ext cx="1" cy="18938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702872C7-9A57-FC0C-21FC-F9EFD9FA84D7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 flipH="1">
            <a:off x="10389098" y="2428524"/>
            <a:ext cx="1" cy="331113"/>
          </a:xfrm>
          <a:prstGeom prst="straightConnector1">
            <a:avLst/>
          </a:prstGeom>
          <a:ln w="12700">
            <a:solidFill>
              <a:schemeClr val="tx1"/>
            </a:solidFill>
            <a:headEnd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952CBC17-60F3-69BB-8695-8C223D3752FD}"/>
              </a:ext>
            </a:extLst>
          </p:cNvPr>
          <p:cNvCxnSpPr/>
          <p:nvPr/>
        </p:nvCxnSpPr>
        <p:spPr>
          <a:xfrm flipH="1">
            <a:off x="10389097" y="3139724"/>
            <a:ext cx="1" cy="331113"/>
          </a:xfrm>
          <a:prstGeom prst="straightConnector1">
            <a:avLst/>
          </a:prstGeom>
          <a:ln w="12700">
            <a:solidFill>
              <a:schemeClr val="tx1"/>
            </a:solidFill>
            <a:headEnd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3022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矩形: 圆角 170">
            <a:extLst>
              <a:ext uri="{FF2B5EF4-FFF2-40B4-BE49-F238E27FC236}">
                <a16:creationId xmlns:a16="http://schemas.microsoft.com/office/drawing/2014/main" id="{8E62127A-9F3C-B639-1CB0-EF5C9ADCD234}"/>
              </a:ext>
            </a:extLst>
          </p:cNvPr>
          <p:cNvSpPr/>
          <p:nvPr/>
        </p:nvSpPr>
        <p:spPr>
          <a:xfrm>
            <a:off x="1999710" y="1028700"/>
            <a:ext cx="3035813" cy="4502151"/>
          </a:xfrm>
          <a:prstGeom prst="round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A9061D68-A432-A480-46BD-EAFDA3074B55}"/>
              </a:ext>
            </a:extLst>
          </p:cNvPr>
          <p:cNvGrpSpPr/>
          <p:nvPr/>
        </p:nvGrpSpPr>
        <p:grpSpPr>
          <a:xfrm>
            <a:off x="2169815" y="1242772"/>
            <a:ext cx="2695601" cy="4156553"/>
            <a:chOff x="6492573" y="965200"/>
            <a:chExt cx="2695601" cy="4156553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3E4C5DA2-0968-8BF7-0AC6-6683BCD48161}"/>
                </a:ext>
              </a:extLst>
            </p:cNvPr>
            <p:cNvSpPr/>
            <p:nvPr/>
          </p:nvSpPr>
          <p:spPr>
            <a:xfrm>
              <a:off x="6733818" y="3442869"/>
              <a:ext cx="1286239" cy="22005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MatMul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E5B67450-E4FE-01A4-D082-E26D9029C00D}"/>
                </a:ext>
              </a:extLst>
            </p:cNvPr>
            <p:cNvSpPr/>
            <p:nvPr/>
          </p:nvSpPr>
          <p:spPr>
            <a:xfrm>
              <a:off x="7163995" y="1857594"/>
              <a:ext cx="1507994" cy="43316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GSR-based Stochastic</a:t>
              </a:r>
            </a:p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Attention Representation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E399361C-5877-74A1-E7CB-4F8084947BEE}"/>
                </a:ext>
              </a:extLst>
            </p:cNvPr>
            <p:cNvSpPr/>
            <p:nvPr/>
          </p:nvSpPr>
          <p:spPr>
            <a:xfrm>
              <a:off x="7216489" y="2643949"/>
              <a:ext cx="1406956" cy="43316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Distance-Sensitive</a:t>
              </a:r>
            </a:p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Re-embedding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FC1BF456-0709-3689-AF80-97EAD27BADAF}"/>
                </a:ext>
              </a:extLst>
            </p:cNvPr>
            <p:cNvSpPr/>
            <p:nvPr/>
          </p:nvSpPr>
          <p:spPr>
            <a:xfrm>
              <a:off x="7816804" y="1288518"/>
              <a:ext cx="1286239" cy="22005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MatMul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A809B88-2E23-DC62-5A48-88D0561ADDEE}"/>
                </a:ext>
              </a:extLst>
            </p:cNvPr>
            <p:cNvSpPr txBox="1"/>
            <p:nvPr/>
          </p:nvSpPr>
          <p:spPr>
            <a:xfrm>
              <a:off x="8267848" y="4747658"/>
              <a:ext cx="403860" cy="3693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27B5D9F8-6C87-B22E-5EA6-DFA0C413307D}"/>
                </a:ext>
              </a:extLst>
            </p:cNvPr>
            <p:cNvSpPr txBox="1"/>
            <p:nvPr/>
          </p:nvSpPr>
          <p:spPr>
            <a:xfrm>
              <a:off x="8784314" y="4752421"/>
              <a:ext cx="403860" cy="3693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D5473847-B6A7-6D2E-058F-F4B8118D9B6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350072" y="3432331"/>
              <a:ext cx="241130" cy="241130"/>
              <a:chOff x="4801552" y="2902268"/>
              <a:chExt cx="365760" cy="365760"/>
            </a:xfrm>
          </p:grpSpPr>
          <p:sp>
            <p:nvSpPr>
              <p:cNvPr id="33" name="流程图: 接点 32">
                <a:extLst>
                  <a:ext uri="{FF2B5EF4-FFF2-40B4-BE49-F238E27FC236}">
                    <a16:creationId xmlns:a16="http://schemas.microsoft.com/office/drawing/2014/main" id="{C3B81184-0CCC-8E95-B4DB-25B1FE4CDF5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01552" y="2902268"/>
                <a:ext cx="365760" cy="365760"/>
              </a:xfrm>
              <a:prstGeom prst="flowChartConnector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4" name="连接符: 曲线 33">
                <a:extLst>
                  <a:ext uri="{FF2B5EF4-FFF2-40B4-BE49-F238E27FC236}">
                    <a16:creationId xmlns:a16="http://schemas.microsoft.com/office/drawing/2014/main" id="{A96635B4-FA32-2C48-D53B-DE181126BB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00680" y="2997058"/>
                <a:ext cx="177028" cy="177005"/>
              </a:xfrm>
              <a:prstGeom prst="curvedConnector3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1849C904-2BB9-1B6C-BE38-4BE58B00AB98}"/>
                </a:ext>
              </a:extLst>
            </p:cNvPr>
            <p:cNvSpPr/>
            <p:nvPr/>
          </p:nvSpPr>
          <p:spPr>
            <a:xfrm>
              <a:off x="6492573" y="3948833"/>
              <a:ext cx="967584" cy="43316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GSR-based</a:t>
              </a:r>
            </a:p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Clustering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6D814C65-B360-F1F9-74C7-79AD6467EB20}"/>
                </a:ext>
              </a:extLst>
            </p:cNvPr>
            <p:cNvSpPr txBox="1"/>
            <p:nvPr/>
          </p:nvSpPr>
          <p:spPr>
            <a:xfrm>
              <a:off x="6534310" y="4747658"/>
              <a:ext cx="403860" cy="3693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8D766C38-6334-856B-F151-29698125E4F2}"/>
                </a:ext>
              </a:extLst>
            </p:cNvPr>
            <p:cNvSpPr txBox="1"/>
            <p:nvPr/>
          </p:nvSpPr>
          <p:spPr>
            <a:xfrm>
              <a:off x="7014559" y="4747658"/>
              <a:ext cx="403860" cy="3693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38ED6150-9438-1407-29C3-5FA7AEE74372}"/>
                </a:ext>
              </a:extLst>
            </p:cNvPr>
            <p:cNvCxnSpPr>
              <a:cxnSpLocks/>
              <a:stCxn id="36" idx="0"/>
            </p:cNvCxnSpPr>
            <p:nvPr/>
          </p:nvCxnSpPr>
          <p:spPr>
            <a:xfrm flipV="1">
              <a:off x="6736240" y="4388786"/>
              <a:ext cx="0" cy="358872"/>
            </a:xfrm>
            <a:prstGeom prst="straightConnector1">
              <a:avLst/>
            </a:prstGeom>
            <a:ln>
              <a:tailEnd type="triangle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9BFEC18A-7367-18B4-5649-D2F04FDA57B4}"/>
                </a:ext>
              </a:extLst>
            </p:cNvPr>
            <p:cNvCxnSpPr>
              <a:cxnSpLocks/>
              <a:stCxn id="37" idx="0"/>
            </p:cNvCxnSpPr>
            <p:nvPr/>
          </p:nvCxnSpPr>
          <p:spPr>
            <a:xfrm flipV="1">
              <a:off x="7216489" y="4381997"/>
              <a:ext cx="0" cy="365661"/>
            </a:xfrm>
            <a:prstGeom prst="straightConnector1">
              <a:avLst/>
            </a:prstGeom>
            <a:ln>
              <a:tailEnd type="triangle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52C51CDB-E471-FD79-E77B-0E8ADA2AB3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6365" y="3667554"/>
              <a:ext cx="0" cy="281279"/>
            </a:xfrm>
            <a:prstGeom prst="straightConnector1">
              <a:avLst/>
            </a:prstGeom>
            <a:ln>
              <a:tailEnd type="triangle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F868A204-5E80-E611-9A0B-21905D8BCF1E}"/>
                </a:ext>
              </a:extLst>
            </p:cNvPr>
            <p:cNvSpPr txBox="1"/>
            <p:nvPr/>
          </p:nvSpPr>
          <p:spPr>
            <a:xfrm>
              <a:off x="7583295" y="4747658"/>
              <a:ext cx="403860" cy="3693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7A30AF4D-D64C-F4E4-9DA2-C88EFA96D2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5225" y="3667554"/>
              <a:ext cx="0" cy="1080104"/>
            </a:xfrm>
            <a:prstGeom prst="straightConnector1">
              <a:avLst/>
            </a:prstGeom>
            <a:ln>
              <a:tailEnd type="triangle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CDC68E67-2394-FE3F-D7EE-24A7ECDE99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59923" y="965200"/>
              <a:ext cx="14" cy="323318"/>
            </a:xfrm>
            <a:prstGeom prst="straightConnector1">
              <a:avLst/>
            </a:prstGeom>
            <a:ln>
              <a:tailEnd type="triangle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FC74EA0F-3A81-AF2C-D71D-32023583E1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98792" y="3079951"/>
              <a:ext cx="0" cy="358872"/>
            </a:xfrm>
            <a:prstGeom prst="straightConnector1">
              <a:avLst/>
            </a:prstGeom>
            <a:ln>
              <a:tailEnd type="triangle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B750CD34-A59B-EE9D-3C58-27BB6EF6FB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17992" y="2298700"/>
              <a:ext cx="0" cy="337726"/>
            </a:xfrm>
            <a:prstGeom prst="straightConnector1">
              <a:avLst/>
            </a:prstGeom>
            <a:ln>
              <a:tailEnd type="triangle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0C3D549A-4643-86E2-B59C-0B2CF7CFBEB4}"/>
                </a:ext>
              </a:extLst>
            </p:cNvPr>
            <p:cNvCxnSpPr>
              <a:cxnSpLocks/>
              <a:stCxn id="31" idx="0"/>
            </p:cNvCxnSpPr>
            <p:nvPr/>
          </p:nvCxnSpPr>
          <p:spPr>
            <a:xfrm flipV="1">
              <a:off x="8986244" y="1504951"/>
              <a:ext cx="0" cy="3247470"/>
            </a:xfrm>
            <a:prstGeom prst="straightConnector1">
              <a:avLst/>
            </a:prstGeom>
            <a:ln>
              <a:tailEnd type="triangle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445F03F5-18F8-F29E-39C4-17ECB951D8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11976" y="1500188"/>
              <a:ext cx="6016" cy="357406"/>
            </a:xfrm>
            <a:prstGeom prst="straightConnector1">
              <a:avLst/>
            </a:prstGeom>
            <a:ln>
              <a:tailEnd type="triangle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5D2D3D49-847C-1FAE-F224-F42772CDD3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70637" y="3673461"/>
              <a:ext cx="0" cy="1080104"/>
            </a:xfrm>
            <a:prstGeom prst="straightConnector1">
              <a:avLst/>
            </a:prstGeom>
            <a:ln>
              <a:tailEnd type="triangle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D17FF6AE-85D0-9EB7-0106-E7B9F99FFE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9450" y="3073459"/>
              <a:ext cx="0" cy="358872"/>
            </a:xfrm>
            <a:prstGeom prst="straightConnector1">
              <a:avLst/>
            </a:prstGeom>
            <a:ln>
              <a:tailEnd type="triangle" w="med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4208620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>
            <a:extLst>
              <a:ext uri="{FF2B5EF4-FFF2-40B4-BE49-F238E27FC236}">
                <a16:creationId xmlns:a16="http://schemas.microsoft.com/office/drawing/2014/main" id="{835BC0C3-8CEF-3F23-57A3-64F38C1027E9}"/>
              </a:ext>
            </a:extLst>
          </p:cNvPr>
          <p:cNvGrpSpPr/>
          <p:nvPr/>
        </p:nvGrpSpPr>
        <p:grpSpPr>
          <a:xfrm>
            <a:off x="3057061" y="1150801"/>
            <a:ext cx="2356702" cy="4780573"/>
            <a:chOff x="3057061" y="1150801"/>
            <a:chExt cx="2356702" cy="4780573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18986CF9-6861-B626-6FFE-784F3588E1AF}"/>
                </a:ext>
              </a:extLst>
            </p:cNvPr>
            <p:cNvSpPr txBox="1"/>
            <p:nvPr/>
          </p:nvSpPr>
          <p:spPr>
            <a:xfrm>
              <a:off x="4177313" y="5623597"/>
              <a:ext cx="214954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9395B98-A11B-62DB-BED8-7ED3BA18D8AF}"/>
                </a:ext>
              </a:extLst>
            </p:cNvPr>
            <p:cNvSpPr txBox="1"/>
            <p:nvPr/>
          </p:nvSpPr>
          <p:spPr>
            <a:xfrm>
              <a:off x="3373813" y="1728777"/>
              <a:ext cx="695335" cy="24622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9FED1CF-E40F-F1B4-EF0C-298EE19EC4D1}"/>
                </a:ext>
              </a:extLst>
            </p:cNvPr>
            <p:cNvSpPr txBox="1"/>
            <p:nvPr/>
          </p:nvSpPr>
          <p:spPr>
            <a:xfrm>
              <a:off x="4401679" y="1728776"/>
              <a:ext cx="695336" cy="24622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inference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27CEABA8-4955-9FF7-0428-9B56C6DD734F}"/>
                    </a:ext>
                  </a:extLst>
                </p:cNvPr>
                <p:cNvSpPr txBox="1"/>
                <p:nvPr/>
              </p:nvSpPr>
              <p:spPr>
                <a:xfrm>
                  <a:off x="3242439" y="1150801"/>
                  <a:ext cx="958085" cy="40011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SOH Point</a:t>
                  </a:r>
                </a:p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Estimation </a:t>
                  </a:r>
                  <a14:m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a14:m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27CEABA8-4955-9FF7-0428-9B56C6DD73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2439" y="1150801"/>
                  <a:ext cx="958085" cy="400110"/>
                </a:xfrm>
                <a:prstGeom prst="rect">
                  <a:avLst/>
                </a:prstGeom>
                <a:blipFill>
                  <a:blip r:embed="rId2"/>
                  <a:stretch>
                    <a:fillRect b="-7692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A1346CD3-7C25-F32B-C3A6-82A8997A8C45}"/>
                    </a:ext>
                  </a:extLst>
                </p:cNvPr>
                <p:cNvSpPr txBox="1"/>
                <p:nvPr/>
              </p:nvSpPr>
              <p:spPr>
                <a:xfrm>
                  <a:off x="4270305" y="1150801"/>
                  <a:ext cx="958085" cy="40011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SOH Posterior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altLang="zh-CN" sz="1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A1346CD3-7C25-F32B-C3A6-82A8997A8C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0305" y="1150801"/>
                  <a:ext cx="958085" cy="400110"/>
                </a:xfrm>
                <a:prstGeom prst="rect">
                  <a:avLst/>
                </a:prstGeom>
                <a:blipFill>
                  <a:blip r:embed="rId3"/>
                  <a:stretch>
                    <a:fillRect b="-461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AFBF36BB-A986-CBF6-3244-8CDD26AF27C5}"/>
                </a:ext>
              </a:extLst>
            </p:cNvPr>
            <p:cNvGrpSpPr/>
            <p:nvPr/>
          </p:nvGrpSpPr>
          <p:grpSpPr>
            <a:xfrm>
              <a:off x="3575013" y="2209234"/>
              <a:ext cx="1320800" cy="1003866"/>
              <a:chOff x="1362075" y="2827673"/>
              <a:chExt cx="1320800" cy="1098550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98279B7B-2429-88B1-65B5-315496E239DA}"/>
                  </a:ext>
                </a:extLst>
              </p:cNvPr>
              <p:cNvGrpSpPr/>
              <p:nvPr/>
            </p:nvGrpSpPr>
            <p:grpSpPr>
              <a:xfrm>
                <a:off x="1420486" y="3248841"/>
                <a:ext cx="1203977" cy="567554"/>
                <a:chOff x="1349743" y="2463800"/>
                <a:chExt cx="1203977" cy="567554"/>
              </a:xfrm>
            </p:grpSpPr>
            <p:sp>
              <p:nvSpPr>
                <p:cNvPr id="13" name="矩形: 圆角 12">
                  <a:extLst>
                    <a:ext uri="{FF2B5EF4-FFF2-40B4-BE49-F238E27FC236}">
                      <a16:creationId xmlns:a16="http://schemas.microsoft.com/office/drawing/2014/main" id="{E1505F6C-ED74-9B90-CEEC-2D7376526E9A}"/>
                    </a:ext>
                  </a:extLst>
                </p:cNvPr>
                <p:cNvSpPr/>
                <p:nvPr/>
              </p:nvSpPr>
              <p:spPr>
                <a:xfrm>
                  <a:off x="1349743" y="2873118"/>
                  <a:ext cx="1203977" cy="158236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Linear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" name="矩形: 圆角 13">
                  <a:extLst>
                    <a:ext uri="{FF2B5EF4-FFF2-40B4-BE49-F238E27FC236}">
                      <a16:creationId xmlns:a16="http://schemas.microsoft.com/office/drawing/2014/main" id="{3F21E8A3-13CC-71C7-FCB0-000EE25977EA}"/>
                    </a:ext>
                  </a:extLst>
                </p:cNvPr>
                <p:cNvSpPr/>
                <p:nvPr/>
              </p:nvSpPr>
              <p:spPr>
                <a:xfrm>
                  <a:off x="1456786" y="2667000"/>
                  <a:ext cx="989893" cy="158236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Linear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" name="矩形: 圆角 14">
                  <a:extLst>
                    <a:ext uri="{FF2B5EF4-FFF2-40B4-BE49-F238E27FC236}">
                      <a16:creationId xmlns:a16="http://schemas.microsoft.com/office/drawing/2014/main" id="{63D73D4F-4CFF-146C-6C8E-F60DE97F3E5A}"/>
                    </a:ext>
                  </a:extLst>
                </p:cNvPr>
                <p:cNvSpPr/>
                <p:nvPr/>
              </p:nvSpPr>
              <p:spPr>
                <a:xfrm>
                  <a:off x="1560591" y="2463800"/>
                  <a:ext cx="782285" cy="158236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Linear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7CDA94D2-F518-84C8-C20F-E9AB52F59CB0}"/>
                  </a:ext>
                </a:extLst>
              </p:cNvPr>
              <p:cNvSpPr/>
              <p:nvPr/>
            </p:nvSpPr>
            <p:spPr>
              <a:xfrm>
                <a:off x="1362075" y="2827673"/>
                <a:ext cx="1320800" cy="10985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AF2AC63-B16F-324F-9C2F-196F645CDC4A}"/>
                  </a:ext>
                </a:extLst>
              </p:cNvPr>
              <p:cNvSpPr txBox="1"/>
              <p:nvPr/>
            </p:nvSpPr>
            <p:spPr>
              <a:xfrm>
                <a:off x="1501774" y="2881511"/>
                <a:ext cx="1041400" cy="269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SOH Regressor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4BEB79DB-FD29-2F3D-5A25-E3F6C6EBC1BB}"/>
                </a:ext>
              </a:extLst>
            </p:cNvPr>
            <p:cNvCxnSpPr>
              <a:cxnSpLocks/>
              <a:stCxn id="7" idx="2"/>
              <a:endCxn id="5" idx="0"/>
            </p:cNvCxnSpPr>
            <p:nvPr/>
          </p:nvCxnSpPr>
          <p:spPr>
            <a:xfrm flipH="1">
              <a:off x="3721481" y="1550911"/>
              <a:ext cx="1" cy="177866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06AB0E46-DA7A-D7F8-F4AF-7843B76E7E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49344" y="1519161"/>
              <a:ext cx="1" cy="209616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1B7C92FD-9CCB-883A-E7A6-0C690B7B5BBD}"/>
                </a:ext>
              </a:extLst>
            </p:cNvPr>
            <p:cNvGrpSpPr/>
            <p:nvPr/>
          </p:nvGrpSpPr>
          <p:grpSpPr>
            <a:xfrm>
              <a:off x="3721481" y="1975000"/>
              <a:ext cx="1027865" cy="234234"/>
              <a:chOff x="3721481" y="1975000"/>
              <a:chExt cx="1027865" cy="234234"/>
            </a:xfrm>
          </p:grpSpPr>
          <p:grpSp>
            <p:nvGrpSpPr>
              <p:cNvPr id="19" name="组合 18">
                <a:extLst>
                  <a:ext uri="{FF2B5EF4-FFF2-40B4-BE49-F238E27FC236}">
                    <a16:creationId xmlns:a16="http://schemas.microsoft.com/office/drawing/2014/main" id="{20CDAFC5-B71C-2360-6A9E-E070635C62F2}"/>
                  </a:ext>
                </a:extLst>
              </p:cNvPr>
              <p:cNvGrpSpPr/>
              <p:nvPr/>
            </p:nvGrpSpPr>
            <p:grpSpPr>
              <a:xfrm>
                <a:off x="3721481" y="1975000"/>
                <a:ext cx="1027865" cy="127075"/>
                <a:chOff x="3721481" y="1974995"/>
                <a:chExt cx="1027865" cy="153893"/>
              </a:xfrm>
            </p:grpSpPr>
            <p:cxnSp>
              <p:nvCxnSpPr>
                <p:cNvPr id="21" name="连接符: 肘形 20">
                  <a:extLst>
                    <a:ext uri="{FF2B5EF4-FFF2-40B4-BE49-F238E27FC236}">
                      <a16:creationId xmlns:a16="http://schemas.microsoft.com/office/drawing/2014/main" id="{2C733D7C-FAC1-E489-FEA9-7852D6FBFF6F}"/>
                    </a:ext>
                  </a:extLst>
                </p:cNvPr>
                <p:cNvCxnSpPr>
                  <a:cxnSpLocks/>
                  <a:stCxn id="5" idx="2"/>
                </p:cNvCxnSpPr>
                <p:nvPr/>
              </p:nvCxnSpPr>
              <p:spPr>
                <a:xfrm rot="16200000" flipH="1">
                  <a:off x="4158468" y="1538008"/>
                  <a:ext cx="153891" cy="1027865"/>
                </a:xfrm>
                <a:prstGeom prst="bentConnector2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连接符 21">
                  <a:extLst>
                    <a:ext uri="{FF2B5EF4-FFF2-40B4-BE49-F238E27FC236}">
                      <a16:creationId xmlns:a16="http://schemas.microsoft.com/office/drawing/2014/main" id="{D673C7C2-91C8-9E83-79E0-ABCC0AEC9B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49344" y="1974997"/>
                  <a:ext cx="0" cy="15389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A8C613AA-A01A-5562-4B77-531ABF6E66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240511" y="2099254"/>
                <a:ext cx="1" cy="10998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E10A00B5-B41C-6CDB-CE73-0287EF280FFD}"/>
                </a:ext>
              </a:extLst>
            </p:cNvPr>
            <p:cNvSpPr/>
            <p:nvPr/>
          </p:nvSpPr>
          <p:spPr>
            <a:xfrm>
              <a:off x="3580111" y="3743821"/>
              <a:ext cx="1320800" cy="24575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Add &amp; Norm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09E042BA-456A-C243-09E4-33E5EB7E281D}"/>
                </a:ext>
              </a:extLst>
            </p:cNvPr>
            <p:cNvSpPr/>
            <p:nvPr/>
          </p:nvSpPr>
          <p:spPr>
            <a:xfrm>
              <a:off x="3575013" y="4170609"/>
              <a:ext cx="1320800" cy="24575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</a:t>
              </a:r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&amp; Project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36A07298-6686-7892-8E68-13BB659B28D3}"/>
                </a:ext>
              </a:extLst>
            </p:cNvPr>
            <p:cNvGrpSpPr/>
            <p:nvPr/>
          </p:nvGrpSpPr>
          <p:grpSpPr>
            <a:xfrm>
              <a:off x="3252549" y="4573901"/>
              <a:ext cx="1932105" cy="672335"/>
              <a:chOff x="6405445" y="4509265"/>
              <a:chExt cx="2224342" cy="842178"/>
            </a:xfrm>
            <a:solidFill>
              <a:schemeClr val="bg1"/>
            </a:solidFill>
          </p:grpSpPr>
          <p:sp>
            <p:nvSpPr>
              <p:cNvPr id="26" name="矩形: 圆角 25">
                <a:extLst>
                  <a:ext uri="{FF2B5EF4-FFF2-40B4-BE49-F238E27FC236}">
                    <a16:creationId xmlns:a16="http://schemas.microsoft.com/office/drawing/2014/main" id="{8736728F-8FAE-F6A1-DA59-FE73F43579D0}"/>
                  </a:ext>
                </a:extLst>
              </p:cNvPr>
              <p:cNvSpPr/>
              <p:nvPr/>
            </p:nvSpPr>
            <p:spPr>
              <a:xfrm>
                <a:off x="6405445" y="4509265"/>
                <a:ext cx="1767142" cy="384978"/>
              </a:xfrm>
              <a:prstGeom prst="roundRect">
                <a:avLst/>
              </a:prstGeom>
              <a:grpFill/>
              <a:ln>
                <a:solidFill>
                  <a:schemeClr val="dk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矩形: 圆角 26">
                <a:extLst>
                  <a:ext uri="{FF2B5EF4-FFF2-40B4-BE49-F238E27FC236}">
                    <a16:creationId xmlns:a16="http://schemas.microsoft.com/office/drawing/2014/main" id="{33AE8B75-1D84-C21D-71CF-C006B30377F5}"/>
                  </a:ext>
                </a:extLst>
              </p:cNvPr>
              <p:cNvSpPr/>
              <p:nvPr/>
            </p:nvSpPr>
            <p:spPr>
              <a:xfrm>
                <a:off x="6557845" y="4661665"/>
                <a:ext cx="1767142" cy="384978"/>
              </a:xfrm>
              <a:prstGeom prst="roundRect">
                <a:avLst/>
              </a:prstGeom>
              <a:grpFill/>
              <a:ln>
                <a:solidFill>
                  <a:schemeClr val="dk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矩形: 圆角 27">
                <a:extLst>
                  <a:ext uri="{FF2B5EF4-FFF2-40B4-BE49-F238E27FC236}">
                    <a16:creationId xmlns:a16="http://schemas.microsoft.com/office/drawing/2014/main" id="{A9FEC5BB-8D84-0396-3EC6-F65F7F4DAC0F}"/>
                  </a:ext>
                </a:extLst>
              </p:cNvPr>
              <p:cNvSpPr/>
              <p:nvPr/>
            </p:nvSpPr>
            <p:spPr>
              <a:xfrm>
                <a:off x="6710245" y="4814065"/>
                <a:ext cx="1767142" cy="384978"/>
              </a:xfrm>
              <a:prstGeom prst="roundRect">
                <a:avLst/>
              </a:prstGeom>
              <a:grpFill/>
              <a:ln>
                <a:solidFill>
                  <a:schemeClr val="dk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" name="矩形: 圆角 28">
                <a:extLst>
                  <a:ext uri="{FF2B5EF4-FFF2-40B4-BE49-F238E27FC236}">
                    <a16:creationId xmlns:a16="http://schemas.microsoft.com/office/drawing/2014/main" id="{FBA92E39-8BD5-65B1-C81B-E1CD42F53AE0}"/>
                  </a:ext>
                </a:extLst>
              </p:cNvPr>
              <p:cNvSpPr/>
              <p:nvPr/>
            </p:nvSpPr>
            <p:spPr>
              <a:xfrm>
                <a:off x="6862645" y="4966465"/>
                <a:ext cx="1767142" cy="384978"/>
              </a:xfrm>
              <a:prstGeom prst="roundRect">
                <a:avLst/>
              </a:prstGeom>
              <a:grpFill/>
              <a:ln>
                <a:solidFill>
                  <a:schemeClr val="dk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Stochastic Self-Attention</a:t>
                </a:r>
              </a:p>
            </p:txBody>
          </p:sp>
        </p:grp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40B854C8-F51C-0AC6-A8F1-849005EDB6D1}"/>
                </a:ext>
              </a:extLst>
            </p:cNvPr>
            <p:cNvSpPr/>
            <p:nvPr/>
          </p:nvSpPr>
          <p:spPr>
            <a:xfrm>
              <a:off x="3057061" y="3444689"/>
              <a:ext cx="2356702" cy="2092511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HSSTT Block</a:t>
              </a: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45E7DBEA-9F70-41E5-5A63-9B5D7061D19C}"/>
                </a:ext>
              </a:extLst>
            </p:cNvPr>
            <p:cNvCxnSpPr>
              <a:cxnSpLocks/>
              <a:stCxn id="30" idx="0"/>
              <a:endCxn id="11" idx="2"/>
            </p:cNvCxnSpPr>
            <p:nvPr/>
          </p:nvCxnSpPr>
          <p:spPr>
            <a:xfrm flipV="1">
              <a:off x="4235412" y="3213100"/>
              <a:ext cx="1" cy="231589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1E005210-C7EA-7E09-0162-8E22956BBB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84790" y="5240453"/>
              <a:ext cx="0" cy="377254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784F02A2-566B-EAC0-C539-4AA96DBD5123}"/>
                </a:ext>
              </a:extLst>
            </p:cNvPr>
            <p:cNvCxnSpPr/>
            <p:nvPr/>
          </p:nvCxnSpPr>
          <p:spPr>
            <a:xfrm flipV="1">
              <a:off x="3749675" y="4411649"/>
              <a:ext cx="0" cy="16225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848181F8-82CB-1B25-B7E4-67795B647D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56048" y="4411649"/>
              <a:ext cx="0" cy="28391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D852FAB3-662C-B876-EDCE-BC3D16B232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0040" y="4411649"/>
              <a:ext cx="0" cy="40011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9736B1D2-D7CF-E927-6527-D06E3F4E01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65114" y="4411649"/>
              <a:ext cx="0" cy="52724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33B54D79-05E5-3470-66F6-8B5DD7C712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57460" y="3989576"/>
              <a:ext cx="0" cy="181033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连接符: 肘形 37">
              <a:extLst>
                <a:ext uri="{FF2B5EF4-FFF2-40B4-BE49-F238E27FC236}">
                  <a16:creationId xmlns:a16="http://schemas.microsoft.com/office/drawing/2014/main" id="{73449C83-E00D-7903-E634-E28B7DF62AC3}"/>
                </a:ext>
              </a:extLst>
            </p:cNvPr>
            <p:cNvCxnSpPr>
              <a:cxnSpLocks/>
              <a:endCxn id="23" idx="3"/>
            </p:cNvCxnSpPr>
            <p:nvPr/>
          </p:nvCxnSpPr>
          <p:spPr>
            <a:xfrm rot="5400000" flipH="1" flipV="1">
              <a:off x="3812765" y="4338724"/>
              <a:ext cx="1560170" cy="616121"/>
            </a:xfrm>
            <a:prstGeom prst="bentConnector4">
              <a:avLst>
                <a:gd name="adj1" fmla="val -1711"/>
                <a:gd name="adj2" fmla="val 161838"/>
              </a:avLst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47180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2586</TotalTime>
  <Words>437</Words>
  <Application>Microsoft Office PowerPoint</Application>
  <PresentationFormat>宽屏</PresentationFormat>
  <Paragraphs>331</Paragraphs>
  <Slides>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等线</vt:lpstr>
      <vt:lpstr>等线 Light</vt:lpstr>
      <vt:lpstr>宋体</vt:lpstr>
      <vt:lpstr>Arial</vt:lpstr>
      <vt:lpstr>Cambria Math</vt:lpstr>
      <vt:lpstr>Times New Roman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Xinhui Lin</dc:creator>
  <cp:lastModifiedBy>lxh</cp:lastModifiedBy>
  <cp:revision>308</cp:revision>
  <dcterms:created xsi:type="dcterms:W3CDTF">2024-09-08T04:16:12Z</dcterms:created>
  <dcterms:modified xsi:type="dcterms:W3CDTF">2026-04-08T01:37:32Z</dcterms:modified>
</cp:coreProperties>
</file>