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832" y="20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4B299-9B5B-47D7-952C-F14654345CB2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552F-4653-4529-85D1-4F04B92403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359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4B299-9B5B-47D7-952C-F14654345CB2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552F-4653-4529-85D1-4F04B92403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3884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4B299-9B5B-47D7-952C-F14654345CB2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552F-4653-4529-85D1-4F04B92403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7825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4B299-9B5B-47D7-952C-F14654345CB2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552F-4653-4529-85D1-4F04B92403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711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4B299-9B5B-47D7-952C-F14654345CB2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552F-4653-4529-85D1-4F04B92403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0074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4B299-9B5B-47D7-952C-F14654345CB2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552F-4653-4529-85D1-4F04B92403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413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4B299-9B5B-47D7-952C-F14654345CB2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552F-4653-4529-85D1-4F04B92403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110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4B299-9B5B-47D7-952C-F14654345CB2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552F-4653-4529-85D1-4F04B92403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247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4B299-9B5B-47D7-952C-F14654345CB2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552F-4653-4529-85D1-4F04B92403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4257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4B299-9B5B-47D7-952C-F14654345CB2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552F-4653-4529-85D1-4F04B92403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543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4B299-9B5B-47D7-952C-F14654345CB2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552F-4653-4529-85D1-4F04B92403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3974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4B299-9B5B-47D7-952C-F14654345CB2}" type="datetimeFigureOut">
              <a:rPr lang="zh-CN" altLang="en-US" smtClean="0"/>
              <a:t>2025/4/14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2552F-4653-4529-85D1-4F04B92403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02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7.svg"/><Relationship Id="rId7" Type="http://schemas.openxmlformats.org/officeDocument/2006/relationships/image" Target="../media/image22.svg"/><Relationship Id="rId12" Type="http://schemas.openxmlformats.org/officeDocument/2006/relationships/image" Target="../media/image24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2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23.sv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.png"/><Relationship Id="rId7" Type="http://schemas.openxmlformats.org/officeDocument/2006/relationships/image" Target="../media/image30.svg"/><Relationship Id="rId12" Type="http://schemas.openxmlformats.org/officeDocument/2006/relationships/image" Target="../media/image3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3.png"/><Relationship Id="rId9" Type="http://schemas.openxmlformats.org/officeDocument/2006/relationships/image" Target="../media/image32.png"/><Relationship Id="rId14" Type="http://schemas.openxmlformats.org/officeDocument/2006/relationships/image" Target="../media/image3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B69E5515-55D6-44AA-96B0-96380547051F}"/>
              </a:ext>
            </a:extLst>
          </p:cNvPr>
          <p:cNvGrpSpPr/>
          <p:nvPr/>
        </p:nvGrpSpPr>
        <p:grpSpPr>
          <a:xfrm>
            <a:off x="2129845" y="2110862"/>
            <a:ext cx="1541675" cy="1809889"/>
            <a:chOff x="272204" y="4585723"/>
            <a:chExt cx="3236982" cy="3800140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D492E795-6C11-43BF-99B8-ED48240CB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2204" y="4585723"/>
              <a:ext cx="3236982" cy="3236982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A7385356-4A1E-4130-9114-CF8D8CE3E3BD}"/>
                </a:ext>
              </a:extLst>
            </p:cNvPr>
            <p:cNvSpPr txBox="1"/>
            <p:nvPr/>
          </p:nvSpPr>
          <p:spPr>
            <a:xfrm>
              <a:off x="700069" y="7822704"/>
              <a:ext cx="2381250" cy="563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3D Manifold</a:t>
              </a:r>
              <a:endParaRPr lang="zh-CN" altLang="en-US" sz="114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3F30367-4543-48FA-ADA4-6BC9E2E35477}"/>
              </a:ext>
            </a:extLst>
          </p:cNvPr>
          <p:cNvGrpSpPr/>
          <p:nvPr/>
        </p:nvGrpSpPr>
        <p:grpSpPr>
          <a:xfrm>
            <a:off x="3801163" y="3024205"/>
            <a:ext cx="1541675" cy="1809889"/>
            <a:chOff x="3781390" y="4585723"/>
            <a:chExt cx="3236982" cy="3800140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7FFB5E26-C888-4BCB-9597-5E2E1D53A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1390" y="4585723"/>
              <a:ext cx="3236982" cy="3236982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0FA60C9-2BF3-4EE1-9876-8DF03659CC95}"/>
                </a:ext>
              </a:extLst>
            </p:cNvPr>
            <p:cNvSpPr txBox="1"/>
            <p:nvPr/>
          </p:nvSpPr>
          <p:spPr>
            <a:xfrm>
              <a:off x="4209255" y="7822704"/>
              <a:ext cx="2381250" cy="563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2D</a:t>
              </a:r>
              <a:r>
                <a:rPr lang="en-US" altLang="zh-CN" sz="95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Manifold</a:t>
              </a:r>
              <a:endParaRPr lang="zh-CN" altLang="en-US" sz="114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4F55D86-4D11-430B-BB11-7925FF166918}"/>
              </a:ext>
            </a:extLst>
          </p:cNvPr>
          <p:cNvGrpSpPr/>
          <p:nvPr/>
        </p:nvGrpSpPr>
        <p:grpSpPr>
          <a:xfrm>
            <a:off x="5472480" y="2110863"/>
            <a:ext cx="1541675" cy="1809889"/>
            <a:chOff x="7290577" y="4585723"/>
            <a:chExt cx="3236982" cy="3800140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6DD45DD2-FDF8-4FCB-A01C-CFF6F6F44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0577" y="4585723"/>
              <a:ext cx="3236982" cy="3236982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7924753F-257A-4092-89FA-C226C1CBA79A}"/>
                </a:ext>
              </a:extLst>
            </p:cNvPr>
            <p:cNvSpPr txBox="1"/>
            <p:nvPr/>
          </p:nvSpPr>
          <p:spPr>
            <a:xfrm>
              <a:off x="7718442" y="7822704"/>
              <a:ext cx="2381250" cy="563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1D</a:t>
              </a:r>
              <a:r>
                <a:rPr lang="en-US" altLang="zh-CN" sz="95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Manifold</a:t>
              </a:r>
              <a:endParaRPr lang="zh-CN" altLang="en-US" sz="114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6" name="图形 5">
            <a:extLst>
              <a:ext uri="{FF2B5EF4-FFF2-40B4-BE49-F238E27FC236}">
                <a16:creationId xmlns:a16="http://schemas.microsoft.com/office/drawing/2014/main" id="{A53CA5AD-3F82-E129-DA47-4C792E1F27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8963446">
            <a:off x="3400360" y="3848275"/>
            <a:ext cx="204141" cy="862836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7427DFE3-FB2E-E0A8-9EA1-0BECAC27E8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4207384">
            <a:off x="5574191" y="3812769"/>
            <a:ext cx="204141" cy="86283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E90836E-57A8-4358-B4A6-4445E64A80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845" y="212575"/>
            <a:ext cx="4884310" cy="181493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CA59A65-F84C-4B05-8D91-44EC02E053FA}"/>
              </a:ext>
            </a:extLst>
          </p:cNvPr>
          <p:cNvSpPr txBox="1"/>
          <p:nvPr/>
        </p:nvSpPr>
        <p:spPr>
          <a:xfrm>
            <a:off x="2245322" y="-548035"/>
            <a:ext cx="1768471" cy="49134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Charging Phase</a:t>
            </a:r>
          </a:p>
          <a:p>
            <a:pPr algn="ctr"/>
            <a:r>
              <a:rPr lang="en-US" altLang="zh-CN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Redundancy Ratio:</a:t>
            </a:r>
            <a:r>
              <a:rPr lang="zh-CN" altLang="en-US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78.4%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FD65392-1589-408D-A6AC-24F8B748B3B5}"/>
              </a:ext>
            </a:extLst>
          </p:cNvPr>
          <p:cNvSpPr txBox="1"/>
          <p:nvPr/>
        </p:nvSpPr>
        <p:spPr>
          <a:xfrm>
            <a:off x="4652764" y="-548035"/>
            <a:ext cx="1768471" cy="49134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Discharging Phase</a:t>
            </a:r>
          </a:p>
          <a:p>
            <a:pPr algn="ctr"/>
            <a:r>
              <a:rPr lang="en-US" altLang="zh-CN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Redundancy Ratio:</a:t>
            </a:r>
            <a:r>
              <a:rPr lang="zh-CN" altLang="en-US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63.6%</a:t>
            </a:r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7ACD5719-8222-446C-91C6-A4765F5359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607887">
            <a:off x="6018108" y="878360"/>
            <a:ext cx="433459" cy="318460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FBF025DA-9EB7-4A3B-9007-226A2759BE4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5400000">
            <a:off x="5353033" y="2149403"/>
            <a:ext cx="600174" cy="224555"/>
          </a:xfrm>
          <a:prstGeom prst="rect">
            <a:avLst/>
          </a:prstGeom>
        </p:spPr>
      </p:pic>
      <p:pic>
        <p:nvPicPr>
          <p:cNvPr id="25" name="图形 24">
            <a:extLst>
              <a:ext uri="{FF2B5EF4-FFF2-40B4-BE49-F238E27FC236}">
                <a16:creationId xmlns:a16="http://schemas.microsoft.com/office/drawing/2014/main" id="{08EBF4E2-8C14-4AB1-9B7A-C6E1F140F67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623576">
            <a:off x="2291164" y="1695394"/>
            <a:ext cx="359998" cy="931509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DC7D6BA6-670D-401C-B759-382BC242392A}"/>
              </a:ext>
            </a:extLst>
          </p:cNvPr>
          <p:cNvSpPr txBox="1"/>
          <p:nvPr/>
        </p:nvSpPr>
        <p:spPr>
          <a:xfrm>
            <a:off x="2290181" y="2065142"/>
            <a:ext cx="1381340" cy="28057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0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Manifold Fracture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9F41E50-2975-4D32-AD84-67EE82F08FB3}"/>
              </a:ext>
            </a:extLst>
          </p:cNvPr>
          <p:cNvSpPr txBox="1"/>
          <p:nvPr/>
        </p:nvSpPr>
        <p:spPr>
          <a:xfrm>
            <a:off x="5632815" y="614025"/>
            <a:ext cx="1381340" cy="28057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0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Dilution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22CEC3A7-10AD-499F-9B20-6916924B74C4}"/>
              </a:ext>
            </a:extLst>
          </p:cNvPr>
          <p:cNvSpPr txBox="1"/>
          <p:nvPr/>
        </p:nvSpPr>
        <p:spPr>
          <a:xfrm>
            <a:off x="5632814" y="2084455"/>
            <a:ext cx="1381341" cy="45899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0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Overlap</a:t>
            </a:r>
          </a:p>
        </p:txBody>
      </p:sp>
    </p:spTree>
    <p:extLst>
      <p:ext uri="{BB962C8B-B14F-4D97-AF65-F5344CB8AC3E}">
        <p14:creationId xmlns:p14="http://schemas.microsoft.com/office/powerpoint/2010/main" val="5647634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CEACFCC-AF26-4DDE-8180-38D345ED9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980" y="2198710"/>
            <a:ext cx="3880318" cy="137487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9898B71-29CB-46BE-846C-B351D69D91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979" y="572092"/>
            <a:ext cx="3880318" cy="137487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817103F-F9E3-49F3-A98C-06115B42D8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5980" y="3825328"/>
            <a:ext cx="3880318" cy="1374878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E9F18691-69C9-4F61-B27D-1968EED74670}"/>
              </a:ext>
            </a:extLst>
          </p:cNvPr>
          <p:cNvSpPr/>
          <p:nvPr/>
        </p:nvSpPr>
        <p:spPr>
          <a:xfrm>
            <a:off x="5494478" y="413315"/>
            <a:ext cx="1539374" cy="31755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Fast-charge Protocol</a:t>
            </a:r>
            <a:endParaRPr lang="zh-CN" altLang="en-US" sz="104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ABD3196-B0B0-4657-BD1A-431119176D96}"/>
              </a:ext>
            </a:extLst>
          </p:cNvPr>
          <p:cNvSpPr/>
          <p:nvPr/>
        </p:nvSpPr>
        <p:spPr>
          <a:xfrm>
            <a:off x="5494478" y="2039933"/>
            <a:ext cx="1539374" cy="31755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Cathode Active Material</a:t>
            </a:r>
            <a:endParaRPr lang="zh-CN" altLang="en-US" sz="104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55F0BF2-32E6-4B5E-AA20-BCE2B0758C2C}"/>
              </a:ext>
            </a:extLst>
          </p:cNvPr>
          <p:cNvSpPr/>
          <p:nvPr/>
        </p:nvSpPr>
        <p:spPr>
          <a:xfrm>
            <a:off x="5494478" y="3666551"/>
            <a:ext cx="1539374" cy="31755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of Discharge</a:t>
            </a:r>
            <a:endParaRPr lang="zh-CN" altLang="en-US" sz="104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389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91C7F11-BD2A-4B44-B804-96763287DB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029" y="465994"/>
            <a:ext cx="4583943" cy="386681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6293D9C-3BB8-4365-9071-633DA58C0A58}"/>
              </a:ext>
            </a:extLst>
          </p:cNvPr>
          <p:cNvSpPr txBox="1"/>
          <p:nvPr/>
        </p:nvSpPr>
        <p:spPr>
          <a:xfrm>
            <a:off x="2296159" y="4798323"/>
            <a:ext cx="1516672" cy="491340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Overrepresented Degradation Samples</a:t>
            </a:r>
            <a:endParaRPr lang="zh-CN" altLang="en-US" sz="114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C9D646-2E15-4B8A-BCDA-21CD912172C1}"/>
              </a:ext>
            </a:extLst>
          </p:cNvPr>
          <p:cNvSpPr txBox="1"/>
          <p:nvPr/>
        </p:nvSpPr>
        <p:spPr>
          <a:xfrm>
            <a:off x="5347299" y="4798323"/>
            <a:ext cx="1516673" cy="491340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Underrepresented Degradation Samples</a:t>
            </a:r>
            <a:endParaRPr lang="zh-CN" altLang="en-US" sz="114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4F91536-D2B1-40F4-8A57-59EF43E67662}"/>
              </a:ext>
            </a:extLst>
          </p:cNvPr>
          <p:cNvCxnSpPr/>
          <p:nvPr/>
        </p:nvCxnSpPr>
        <p:spPr>
          <a:xfrm>
            <a:off x="2296158" y="4362473"/>
            <a:ext cx="0" cy="9476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1D99370F-C92B-416A-A417-86329403FFE7}"/>
              </a:ext>
            </a:extLst>
          </p:cNvPr>
          <p:cNvCxnSpPr/>
          <p:nvPr/>
        </p:nvCxnSpPr>
        <p:spPr>
          <a:xfrm>
            <a:off x="6853684" y="4362473"/>
            <a:ext cx="0" cy="9476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10604D1-72CD-4C12-8CBF-E591645E2FA9}"/>
              </a:ext>
            </a:extLst>
          </p:cNvPr>
          <p:cNvCxnSpPr/>
          <p:nvPr/>
        </p:nvCxnSpPr>
        <p:spPr>
          <a:xfrm>
            <a:off x="5134194" y="4362473"/>
            <a:ext cx="0" cy="9476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D94606EB-DEEB-4C5A-A842-2E07F04DA52F}"/>
              </a:ext>
            </a:extLst>
          </p:cNvPr>
          <p:cNvSpPr txBox="1"/>
          <p:nvPr/>
        </p:nvSpPr>
        <p:spPr>
          <a:xfrm>
            <a:off x="3314455" y="4457234"/>
            <a:ext cx="801442" cy="49134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Stage</a:t>
            </a:r>
            <a:endParaRPr lang="zh-CN" altLang="en-US" sz="114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10B34B8-4630-42E9-BEEB-DC0E3CAB67CB}"/>
              </a:ext>
            </a:extLst>
          </p:cNvPr>
          <p:cNvSpPr txBox="1"/>
          <p:nvPr/>
        </p:nvSpPr>
        <p:spPr>
          <a:xfrm>
            <a:off x="5593218" y="4457234"/>
            <a:ext cx="801442" cy="49134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Stage</a:t>
            </a:r>
            <a:endParaRPr lang="zh-CN" altLang="en-US" sz="114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85C8D7A-5830-4A42-B41E-DD731AD3CC27}"/>
              </a:ext>
            </a:extLst>
          </p:cNvPr>
          <p:cNvCxnSpPr/>
          <p:nvPr/>
        </p:nvCxnSpPr>
        <p:spPr>
          <a:xfrm>
            <a:off x="2296158" y="4409853"/>
            <a:ext cx="2838036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8E6B52B-7B8A-463B-969C-0B6D86027F0A}"/>
              </a:ext>
            </a:extLst>
          </p:cNvPr>
          <p:cNvCxnSpPr/>
          <p:nvPr/>
        </p:nvCxnSpPr>
        <p:spPr>
          <a:xfrm>
            <a:off x="5134194" y="4409853"/>
            <a:ext cx="171949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形 7">
            <a:extLst>
              <a:ext uri="{FF2B5EF4-FFF2-40B4-BE49-F238E27FC236}">
                <a16:creationId xmlns:a16="http://schemas.microsoft.com/office/drawing/2014/main" id="{A29A634B-3AA2-41B7-A5FF-1B7C13CDD6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26159" y="3952361"/>
            <a:ext cx="299272" cy="914984"/>
          </a:xfrm>
          <a:prstGeom prst="rect">
            <a:avLst/>
          </a:prstGeom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143185D9-BF9E-4B2F-9BEC-AEA43E55A2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403527">
            <a:off x="5076846" y="4294133"/>
            <a:ext cx="270445" cy="75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693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2E200FA6-2A96-C34A-FD12-A22B7FFDF8BB}"/>
              </a:ext>
            </a:extLst>
          </p:cNvPr>
          <p:cNvGrpSpPr/>
          <p:nvPr/>
        </p:nvGrpSpPr>
        <p:grpSpPr>
          <a:xfrm>
            <a:off x="0" y="0"/>
            <a:ext cx="18000000" cy="5715000"/>
            <a:chOff x="876300" y="0"/>
            <a:chExt cx="6835140" cy="571500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10B807A-5BEA-6F80-0A6B-49A88E916414}"/>
                </a:ext>
              </a:extLst>
            </p:cNvPr>
            <p:cNvSpPr/>
            <p:nvPr/>
          </p:nvSpPr>
          <p:spPr>
            <a:xfrm>
              <a:off x="876300" y="0"/>
              <a:ext cx="2278380" cy="5715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BD7DBA2-CC03-25CF-10A3-9D1ECA950CC2}"/>
                </a:ext>
              </a:extLst>
            </p:cNvPr>
            <p:cNvSpPr/>
            <p:nvPr/>
          </p:nvSpPr>
          <p:spPr>
            <a:xfrm>
              <a:off x="3154680" y="0"/>
              <a:ext cx="2278380" cy="5715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716AA25-1355-522A-951D-C6E0F8F23B0F}"/>
                </a:ext>
              </a:extLst>
            </p:cNvPr>
            <p:cNvSpPr/>
            <p:nvPr/>
          </p:nvSpPr>
          <p:spPr>
            <a:xfrm>
              <a:off x="5433060" y="0"/>
              <a:ext cx="2278380" cy="571500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889C8577-B152-BFE9-8C42-4C7BDAAED93A}"/>
              </a:ext>
            </a:extLst>
          </p:cNvPr>
          <p:cNvSpPr txBox="1"/>
          <p:nvPr/>
        </p:nvSpPr>
        <p:spPr>
          <a:xfrm>
            <a:off x="440378" y="5170419"/>
            <a:ext cx="5119245" cy="3854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9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Insufficient Spatiotemporal Coverage</a:t>
            </a:r>
            <a:endParaRPr lang="zh-CN" altLang="en-US" sz="19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7CF1238-C490-3D7C-2E13-610AC5DB19C3}"/>
              </a:ext>
            </a:extLst>
          </p:cNvPr>
          <p:cNvSpPr txBox="1"/>
          <p:nvPr/>
        </p:nvSpPr>
        <p:spPr>
          <a:xfrm>
            <a:off x="6584377" y="5170419"/>
            <a:ext cx="5119245" cy="3854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9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Domain Shifts-induced Statistical Uncertainty </a:t>
            </a:r>
            <a:endParaRPr lang="zh-CN" altLang="en-US" sz="19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C024E6-5D96-C020-B14A-0428EFEA3347}"/>
              </a:ext>
            </a:extLst>
          </p:cNvPr>
          <p:cNvSpPr txBox="1"/>
          <p:nvPr/>
        </p:nvSpPr>
        <p:spPr>
          <a:xfrm>
            <a:off x="12440377" y="5170419"/>
            <a:ext cx="5119245" cy="3854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9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Long-tail Degradation Distribution</a:t>
            </a:r>
            <a:endParaRPr lang="zh-CN" altLang="en-US" sz="190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86935607-2666-C743-F6F3-5C455CF6DEC0}"/>
              </a:ext>
            </a:extLst>
          </p:cNvPr>
          <p:cNvGrpSpPr/>
          <p:nvPr/>
        </p:nvGrpSpPr>
        <p:grpSpPr>
          <a:xfrm>
            <a:off x="470188" y="2110862"/>
            <a:ext cx="1541675" cy="1809889"/>
            <a:chOff x="272204" y="4585723"/>
            <a:chExt cx="3236982" cy="3800140"/>
          </a:xfrm>
        </p:grpSpPr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90B68E32-96D6-CA8B-41F6-EEB4D0208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2204" y="4585723"/>
              <a:ext cx="3236982" cy="3236982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5A64E6A-8163-5D43-AA74-E5F2276917AA}"/>
                </a:ext>
              </a:extLst>
            </p:cNvPr>
            <p:cNvSpPr txBox="1"/>
            <p:nvPr/>
          </p:nvSpPr>
          <p:spPr>
            <a:xfrm>
              <a:off x="700069" y="7822704"/>
              <a:ext cx="2381250" cy="563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3D Manifold</a:t>
              </a:r>
              <a:endParaRPr lang="zh-CN" altLang="en-US" sz="114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F156403-DE13-3070-C590-5E0EE2713CA6}"/>
              </a:ext>
            </a:extLst>
          </p:cNvPr>
          <p:cNvGrpSpPr/>
          <p:nvPr/>
        </p:nvGrpSpPr>
        <p:grpSpPr>
          <a:xfrm>
            <a:off x="2141506" y="3024205"/>
            <a:ext cx="1541675" cy="1809889"/>
            <a:chOff x="3781390" y="4585723"/>
            <a:chExt cx="3236982" cy="3800140"/>
          </a:xfrm>
        </p:grpSpPr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55B75404-EE04-838A-D4B5-0F40DA72D8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1390" y="4585723"/>
              <a:ext cx="3236982" cy="3236982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4DD3568-2EAD-93BD-698C-6923B94A9EB0}"/>
                </a:ext>
              </a:extLst>
            </p:cNvPr>
            <p:cNvSpPr txBox="1"/>
            <p:nvPr/>
          </p:nvSpPr>
          <p:spPr>
            <a:xfrm>
              <a:off x="4209255" y="7822704"/>
              <a:ext cx="2381250" cy="563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2D</a:t>
              </a:r>
              <a:r>
                <a:rPr lang="en-US" altLang="zh-CN" sz="95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Manifold</a:t>
              </a:r>
              <a:endParaRPr lang="zh-CN" altLang="en-US" sz="114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7C81A0F-97F7-0B1B-3D35-983D2750DA45}"/>
              </a:ext>
            </a:extLst>
          </p:cNvPr>
          <p:cNvGrpSpPr/>
          <p:nvPr/>
        </p:nvGrpSpPr>
        <p:grpSpPr>
          <a:xfrm>
            <a:off x="3812823" y="2110863"/>
            <a:ext cx="1541675" cy="1809889"/>
            <a:chOff x="7290577" y="4585723"/>
            <a:chExt cx="3236982" cy="3800140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EB6B9884-A465-8162-61AB-9857AFE0B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90577" y="4585723"/>
              <a:ext cx="3236982" cy="3236982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6E0EBE8-5AB0-DBAC-839C-F7808B4D791E}"/>
                </a:ext>
              </a:extLst>
            </p:cNvPr>
            <p:cNvSpPr txBox="1"/>
            <p:nvPr/>
          </p:nvSpPr>
          <p:spPr>
            <a:xfrm>
              <a:off x="7718442" y="7822704"/>
              <a:ext cx="2381250" cy="563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1D</a:t>
              </a:r>
              <a:r>
                <a:rPr lang="en-US" altLang="zh-CN" sz="95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4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Manifold</a:t>
              </a:r>
              <a:endParaRPr lang="zh-CN" altLang="en-US" sz="114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4" name="图形 23">
            <a:extLst>
              <a:ext uri="{FF2B5EF4-FFF2-40B4-BE49-F238E27FC236}">
                <a16:creationId xmlns:a16="http://schemas.microsoft.com/office/drawing/2014/main" id="{E7D01D60-D7C3-D16D-98E1-7964066ED4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8963446">
            <a:off x="1740703" y="3848275"/>
            <a:ext cx="204141" cy="862836"/>
          </a:xfrm>
          <a:prstGeom prst="rect">
            <a:avLst/>
          </a:prstGeom>
        </p:spPr>
      </p:pic>
      <p:pic>
        <p:nvPicPr>
          <p:cNvPr id="25" name="图形 24">
            <a:extLst>
              <a:ext uri="{FF2B5EF4-FFF2-40B4-BE49-F238E27FC236}">
                <a16:creationId xmlns:a16="http://schemas.microsoft.com/office/drawing/2014/main" id="{8ED5AA18-B2CB-924A-F3D3-322CDBD002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4207384">
            <a:off x="3914534" y="3812769"/>
            <a:ext cx="204141" cy="862836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EF58D5A4-83AE-78C7-F96F-7D95B37428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188" y="212575"/>
            <a:ext cx="4884310" cy="1814932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4503D61E-9118-F266-C26E-4981E0EEBD37}"/>
              </a:ext>
            </a:extLst>
          </p:cNvPr>
          <p:cNvSpPr txBox="1"/>
          <p:nvPr/>
        </p:nvSpPr>
        <p:spPr>
          <a:xfrm>
            <a:off x="585665" y="-548035"/>
            <a:ext cx="1768471" cy="49134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Charging Phase</a:t>
            </a:r>
          </a:p>
          <a:p>
            <a:pPr algn="ctr"/>
            <a:r>
              <a:rPr lang="en-US" altLang="zh-CN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Redundancy Ratio:</a:t>
            </a:r>
            <a:r>
              <a:rPr lang="zh-CN" altLang="en-US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78.4%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A9F073F-B69D-214F-89E0-27AFE3872BF5}"/>
              </a:ext>
            </a:extLst>
          </p:cNvPr>
          <p:cNvSpPr txBox="1"/>
          <p:nvPr/>
        </p:nvSpPr>
        <p:spPr>
          <a:xfrm>
            <a:off x="2993107" y="-548035"/>
            <a:ext cx="1768471" cy="49134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Discharging Phase</a:t>
            </a:r>
          </a:p>
          <a:p>
            <a:pPr algn="ctr"/>
            <a:r>
              <a:rPr lang="en-US" altLang="zh-CN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Redundancy Ratio:</a:t>
            </a:r>
            <a:r>
              <a:rPr lang="zh-CN" altLang="en-US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63.6%</a:t>
            </a:r>
          </a:p>
        </p:txBody>
      </p:sp>
      <p:pic>
        <p:nvPicPr>
          <p:cNvPr id="29" name="图形 28">
            <a:extLst>
              <a:ext uri="{FF2B5EF4-FFF2-40B4-BE49-F238E27FC236}">
                <a16:creationId xmlns:a16="http://schemas.microsoft.com/office/drawing/2014/main" id="{535C018E-F090-A611-A478-E904AE66F5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607887">
            <a:off x="4358451" y="878360"/>
            <a:ext cx="433459" cy="318460"/>
          </a:xfrm>
          <a:prstGeom prst="rect">
            <a:avLst/>
          </a:prstGeom>
        </p:spPr>
      </p:pic>
      <p:pic>
        <p:nvPicPr>
          <p:cNvPr id="30" name="图形 29">
            <a:extLst>
              <a:ext uri="{FF2B5EF4-FFF2-40B4-BE49-F238E27FC236}">
                <a16:creationId xmlns:a16="http://schemas.microsoft.com/office/drawing/2014/main" id="{5434AF0D-0C35-BAC8-C7AC-020E7EF4CC5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5400000">
            <a:off x="3693376" y="2149403"/>
            <a:ext cx="600174" cy="224555"/>
          </a:xfrm>
          <a:prstGeom prst="rect">
            <a:avLst/>
          </a:prstGeom>
        </p:spPr>
      </p:pic>
      <p:pic>
        <p:nvPicPr>
          <p:cNvPr id="31" name="图形 30">
            <a:extLst>
              <a:ext uri="{FF2B5EF4-FFF2-40B4-BE49-F238E27FC236}">
                <a16:creationId xmlns:a16="http://schemas.microsoft.com/office/drawing/2014/main" id="{ED3F6541-8DFC-B927-E653-C142F5A7685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623576">
            <a:off x="631507" y="1695394"/>
            <a:ext cx="359998" cy="931509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47EF9496-4CB8-B679-B75D-6A156348BF92}"/>
              </a:ext>
            </a:extLst>
          </p:cNvPr>
          <p:cNvSpPr txBox="1"/>
          <p:nvPr/>
        </p:nvSpPr>
        <p:spPr>
          <a:xfrm>
            <a:off x="630524" y="2065142"/>
            <a:ext cx="1381340" cy="28057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0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Manifold Fracture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C39D0-8F8C-FF04-057F-5C21B48B9876}"/>
              </a:ext>
            </a:extLst>
          </p:cNvPr>
          <p:cNvSpPr txBox="1"/>
          <p:nvPr/>
        </p:nvSpPr>
        <p:spPr>
          <a:xfrm>
            <a:off x="3973158" y="614025"/>
            <a:ext cx="1381340" cy="28057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0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Dilution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6451579-1A90-84B5-CA9B-A3442E04BDE1}"/>
              </a:ext>
            </a:extLst>
          </p:cNvPr>
          <p:cNvSpPr txBox="1"/>
          <p:nvPr/>
        </p:nvSpPr>
        <p:spPr>
          <a:xfrm>
            <a:off x="3973157" y="2084455"/>
            <a:ext cx="1381341" cy="45899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0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 Overlap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59CB2A1C-92A4-546D-C958-668D9092EB2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100" y="1970110"/>
            <a:ext cx="3880318" cy="1374878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1E76EF34-465F-55B4-F98F-521E2C5DC2B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099" y="343492"/>
            <a:ext cx="3880318" cy="137487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6AFEF05E-69B8-ED2D-1917-448A13D5D0F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5100" y="3596728"/>
            <a:ext cx="3880318" cy="1374878"/>
          </a:xfrm>
          <a:prstGeom prst="rect">
            <a:avLst/>
          </a:prstGeom>
        </p:spPr>
      </p:pic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77EFA481-ACB0-7B74-A891-18FDA798E2FA}"/>
              </a:ext>
            </a:extLst>
          </p:cNvPr>
          <p:cNvSpPr/>
          <p:nvPr/>
        </p:nvSpPr>
        <p:spPr>
          <a:xfrm>
            <a:off x="9883598" y="184715"/>
            <a:ext cx="1539374" cy="31755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Fast-charge Protocol</a:t>
            </a:r>
            <a:endParaRPr lang="zh-CN" altLang="en-US" sz="104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62F7DB56-9080-D791-09ED-57E93A9A5EFF}"/>
              </a:ext>
            </a:extLst>
          </p:cNvPr>
          <p:cNvSpPr/>
          <p:nvPr/>
        </p:nvSpPr>
        <p:spPr>
          <a:xfrm>
            <a:off x="9883598" y="1811333"/>
            <a:ext cx="1539374" cy="31755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Cathode Active Material</a:t>
            </a:r>
            <a:endParaRPr lang="zh-CN" altLang="en-US" sz="104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D6F00AB-9C4F-DBEB-E1FA-DBBBB32AD561}"/>
              </a:ext>
            </a:extLst>
          </p:cNvPr>
          <p:cNvSpPr/>
          <p:nvPr/>
        </p:nvSpPr>
        <p:spPr>
          <a:xfrm>
            <a:off x="9883598" y="3437951"/>
            <a:ext cx="1539374" cy="31755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Depth of Discharge</a:t>
            </a:r>
            <a:endParaRPr lang="zh-CN" altLang="en-US" sz="104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06C66DB1-9058-3A87-9BC3-EC52BBE93E7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1293" y="146679"/>
            <a:ext cx="4583943" cy="3866818"/>
          </a:xfrm>
          <a:prstGeom prst="rect">
            <a:avLst/>
          </a:prstGeom>
        </p:spPr>
      </p:pic>
      <p:sp>
        <p:nvSpPr>
          <p:cNvPr id="42" name="文本框 41">
            <a:extLst>
              <a:ext uri="{FF2B5EF4-FFF2-40B4-BE49-F238E27FC236}">
                <a16:creationId xmlns:a16="http://schemas.microsoft.com/office/drawing/2014/main" id="{C949D441-AE13-80BF-0692-8F580C93DE92}"/>
              </a:ext>
            </a:extLst>
          </p:cNvPr>
          <p:cNvSpPr txBox="1"/>
          <p:nvPr/>
        </p:nvSpPr>
        <p:spPr>
          <a:xfrm>
            <a:off x="12717423" y="4479008"/>
            <a:ext cx="1516672" cy="491340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Overrepresented Degradation Samples</a:t>
            </a:r>
            <a:endParaRPr lang="zh-CN" altLang="en-US" sz="114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73649F1-7324-FA92-A2E4-0C0DDF727004}"/>
              </a:ext>
            </a:extLst>
          </p:cNvPr>
          <p:cNvSpPr txBox="1"/>
          <p:nvPr/>
        </p:nvSpPr>
        <p:spPr>
          <a:xfrm>
            <a:off x="15768563" y="4479008"/>
            <a:ext cx="1516673" cy="491340"/>
          </a:xfrm>
          <a:prstGeom prst="round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Underrepresented Degradation Samples</a:t>
            </a:r>
            <a:endParaRPr lang="zh-CN" altLang="en-US" sz="114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208D9C54-6C07-C77A-E606-F85730F52749}"/>
              </a:ext>
            </a:extLst>
          </p:cNvPr>
          <p:cNvCxnSpPr/>
          <p:nvPr/>
        </p:nvCxnSpPr>
        <p:spPr>
          <a:xfrm>
            <a:off x="12717422" y="4043158"/>
            <a:ext cx="0" cy="9476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70CA9F1A-3F49-C83E-E7F4-6191A76B712A}"/>
              </a:ext>
            </a:extLst>
          </p:cNvPr>
          <p:cNvCxnSpPr/>
          <p:nvPr/>
        </p:nvCxnSpPr>
        <p:spPr>
          <a:xfrm>
            <a:off x="17274948" y="4043158"/>
            <a:ext cx="0" cy="9476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D9AC38AA-8BE5-6EEE-6E04-393799A7F987}"/>
              </a:ext>
            </a:extLst>
          </p:cNvPr>
          <p:cNvCxnSpPr/>
          <p:nvPr/>
        </p:nvCxnSpPr>
        <p:spPr>
          <a:xfrm>
            <a:off x="15555458" y="4043158"/>
            <a:ext cx="0" cy="9476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0793C388-B36F-0374-11A6-212D887C6F6C}"/>
              </a:ext>
            </a:extLst>
          </p:cNvPr>
          <p:cNvSpPr txBox="1"/>
          <p:nvPr/>
        </p:nvSpPr>
        <p:spPr>
          <a:xfrm>
            <a:off x="13735719" y="4137919"/>
            <a:ext cx="801442" cy="49134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Stage</a:t>
            </a:r>
            <a:endParaRPr lang="zh-CN" altLang="en-US" sz="114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3668D6C-DFA7-B780-A5FA-A5F1774D00F2}"/>
              </a:ext>
            </a:extLst>
          </p:cNvPr>
          <p:cNvSpPr txBox="1"/>
          <p:nvPr/>
        </p:nvSpPr>
        <p:spPr>
          <a:xfrm>
            <a:off x="16014482" y="4137919"/>
            <a:ext cx="801442" cy="49134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CN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Stage</a:t>
            </a:r>
            <a:endParaRPr lang="zh-CN" altLang="en-US" sz="114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C703C63B-F5D7-7DC3-DD84-84C6BDEED0A2}"/>
              </a:ext>
            </a:extLst>
          </p:cNvPr>
          <p:cNvCxnSpPr/>
          <p:nvPr/>
        </p:nvCxnSpPr>
        <p:spPr>
          <a:xfrm>
            <a:off x="12717422" y="4090538"/>
            <a:ext cx="2838036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2456AEFF-3E19-95AD-0072-3EC79CCE8B41}"/>
              </a:ext>
            </a:extLst>
          </p:cNvPr>
          <p:cNvCxnSpPr/>
          <p:nvPr/>
        </p:nvCxnSpPr>
        <p:spPr>
          <a:xfrm>
            <a:off x="15555458" y="4090538"/>
            <a:ext cx="171949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图形 50">
            <a:extLst>
              <a:ext uri="{FF2B5EF4-FFF2-40B4-BE49-F238E27FC236}">
                <a16:creationId xmlns:a16="http://schemas.microsoft.com/office/drawing/2014/main" id="{4D0EC1E9-4B24-F5F6-9606-3208AE67636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847423" y="3633046"/>
            <a:ext cx="299272" cy="914984"/>
          </a:xfrm>
          <a:prstGeom prst="rect">
            <a:avLst/>
          </a:prstGeom>
        </p:spPr>
      </p:pic>
      <p:pic>
        <p:nvPicPr>
          <p:cNvPr id="52" name="图形 51">
            <a:extLst>
              <a:ext uri="{FF2B5EF4-FFF2-40B4-BE49-F238E27FC236}">
                <a16:creationId xmlns:a16="http://schemas.microsoft.com/office/drawing/2014/main" id="{B5C26946-0462-4D4C-6089-A171463941EC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19403527">
            <a:off x="15498110" y="3974818"/>
            <a:ext cx="270445" cy="759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800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60E91-AF71-BB8E-DA1A-76E21DFD4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>
            <a:extLst>
              <a:ext uri="{FF2B5EF4-FFF2-40B4-BE49-F238E27FC236}">
                <a16:creationId xmlns:a16="http://schemas.microsoft.com/office/drawing/2014/main" id="{95E05D3E-4132-C8EA-110C-A91FA25B10F2}"/>
              </a:ext>
            </a:extLst>
          </p:cNvPr>
          <p:cNvGrpSpPr/>
          <p:nvPr/>
        </p:nvGrpSpPr>
        <p:grpSpPr>
          <a:xfrm>
            <a:off x="0" y="0"/>
            <a:ext cx="18000000" cy="5715000"/>
            <a:chOff x="0" y="0"/>
            <a:chExt cx="18000000" cy="5715000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8513F84A-09AC-E5E9-A84E-B2C5E8A9CF01}"/>
                </a:ext>
              </a:extLst>
            </p:cNvPr>
            <p:cNvGrpSpPr/>
            <p:nvPr/>
          </p:nvGrpSpPr>
          <p:grpSpPr>
            <a:xfrm>
              <a:off x="0" y="0"/>
              <a:ext cx="18000000" cy="5715000"/>
              <a:chOff x="876300" y="0"/>
              <a:chExt cx="6835140" cy="5715000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CBCCD34-47CE-6994-1945-AB0BF3EA00FD}"/>
                  </a:ext>
                </a:extLst>
              </p:cNvPr>
              <p:cNvSpPr/>
              <p:nvPr/>
            </p:nvSpPr>
            <p:spPr>
              <a:xfrm>
                <a:off x="876300" y="0"/>
                <a:ext cx="2278380" cy="5715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D02CE47-0785-0BF1-2E8C-F98B71AE0E09}"/>
                  </a:ext>
                </a:extLst>
              </p:cNvPr>
              <p:cNvSpPr/>
              <p:nvPr/>
            </p:nvSpPr>
            <p:spPr>
              <a:xfrm>
                <a:off x="3154680" y="0"/>
                <a:ext cx="2278380" cy="5715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BEA507FB-1E16-921C-EC6B-5B48591DB514}"/>
                  </a:ext>
                </a:extLst>
              </p:cNvPr>
              <p:cNvSpPr/>
              <p:nvPr/>
            </p:nvSpPr>
            <p:spPr>
              <a:xfrm>
                <a:off x="5433060" y="0"/>
                <a:ext cx="2278380" cy="5715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E2E9895-636D-262B-68AF-811852BD4F00}"/>
                </a:ext>
              </a:extLst>
            </p:cNvPr>
            <p:cNvSpPr txBox="1"/>
            <p:nvPr/>
          </p:nvSpPr>
          <p:spPr>
            <a:xfrm>
              <a:off x="440378" y="5322819"/>
              <a:ext cx="5119245" cy="3854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90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 Insufficient Spatiotemporal Coverage</a:t>
              </a:r>
              <a:endParaRPr lang="zh-CN" altLang="en-US" sz="1905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20B286AE-3027-56FF-F72B-EFBEB516279F}"/>
                </a:ext>
              </a:extLst>
            </p:cNvPr>
            <p:cNvSpPr txBox="1"/>
            <p:nvPr/>
          </p:nvSpPr>
          <p:spPr>
            <a:xfrm>
              <a:off x="6584377" y="5322819"/>
              <a:ext cx="5119245" cy="3854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90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(b) Domain Shifts-induced Statistical Uncertainty </a:t>
              </a:r>
              <a:endParaRPr lang="zh-CN" altLang="en-US" sz="1905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F890847-CEFB-E776-922E-4CFF27B85836}"/>
                </a:ext>
              </a:extLst>
            </p:cNvPr>
            <p:cNvSpPr txBox="1"/>
            <p:nvPr/>
          </p:nvSpPr>
          <p:spPr>
            <a:xfrm>
              <a:off x="12440377" y="5322819"/>
              <a:ext cx="5119245" cy="38549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zh-CN" sz="190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(c) Long-tail Degradation Distribution</a:t>
              </a:r>
              <a:endParaRPr lang="zh-CN" altLang="en-US" sz="1905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51D7B6F1-2828-F643-5C4B-106E65BFCCD8}"/>
                </a:ext>
              </a:extLst>
            </p:cNvPr>
            <p:cNvGrpSpPr/>
            <p:nvPr/>
          </p:nvGrpSpPr>
          <p:grpSpPr>
            <a:xfrm>
              <a:off x="196826" y="3016839"/>
              <a:ext cx="1510592" cy="1762773"/>
              <a:chOff x="470188" y="2314335"/>
              <a:chExt cx="1510592" cy="1762773"/>
            </a:xfrm>
          </p:grpSpPr>
          <p:pic>
            <p:nvPicPr>
              <p:cNvPr id="16" name="图片 15">
                <a:extLst>
                  <a:ext uri="{FF2B5EF4-FFF2-40B4-BE49-F238E27FC236}">
                    <a16:creationId xmlns:a16="http://schemas.microsoft.com/office/drawing/2014/main" id="{19C80B85-2B3D-2E53-C09F-98CB7AA2D0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70188" y="2314335"/>
                <a:ext cx="1510592" cy="1510592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</p:pic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F3EE61C5-4941-B9EC-54DC-F92B8CE7E2A4}"/>
                  </a:ext>
                </a:extLst>
              </p:cNvPr>
              <p:cNvSpPr txBox="1"/>
              <p:nvPr/>
            </p:nvSpPr>
            <p:spPr>
              <a:xfrm>
                <a:off x="556536" y="3738554"/>
                <a:ext cx="1337896" cy="3385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3D Manifold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2027A176-FDFD-E60C-CEEA-0ED4BADD895A}"/>
                </a:ext>
              </a:extLst>
            </p:cNvPr>
            <p:cNvGrpSpPr/>
            <p:nvPr/>
          </p:nvGrpSpPr>
          <p:grpSpPr>
            <a:xfrm>
              <a:off x="2244704" y="3563590"/>
              <a:ext cx="1510592" cy="1762773"/>
              <a:chOff x="2334809" y="2314335"/>
              <a:chExt cx="1510592" cy="1762773"/>
            </a:xfrm>
          </p:grpSpPr>
          <p:pic>
            <p:nvPicPr>
              <p:cNvPr id="19" name="图片 18">
                <a:extLst>
                  <a:ext uri="{FF2B5EF4-FFF2-40B4-BE49-F238E27FC236}">
                    <a16:creationId xmlns:a16="http://schemas.microsoft.com/office/drawing/2014/main" id="{D1ED2AEE-3383-DE7B-7B4A-9C36468E29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34809" y="2314335"/>
                <a:ext cx="1510592" cy="1510592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</p:pic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F96541A-5066-41E9-4842-F799D7E26897}"/>
                  </a:ext>
                </a:extLst>
              </p:cNvPr>
              <p:cNvSpPr txBox="1"/>
              <p:nvPr/>
            </p:nvSpPr>
            <p:spPr>
              <a:xfrm>
                <a:off x="2421157" y="3738554"/>
                <a:ext cx="1337896" cy="3385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2D Manifold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D98B0AD5-6ED3-A341-9166-06F40B686588}"/>
                </a:ext>
              </a:extLst>
            </p:cNvPr>
            <p:cNvGrpSpPr/>
            <p:nvPr/>
          </p:nvGrpSpPr>
          <p:grpSpPr>
            <a:xfrm>
              <a:off x="4378930" y="3013936"/>
              <a:ext cx="1510592" cy="1762773"/>
              <a:chOff x="4254543" y="2314335"/>
              <a:chExt cx="1510592" cy="1762773"/>
            </a:xfrm>
          </p:grpSpPr>
          <p:pic>
            <p:nvPicPr>
              <p:cNvPr id="22" name="图片 21">
                <a:extLst>
                  <a:ext uri="{FF2B5EF4-FFF2-40B4-BE49-F238E27FC236}">
                    <a16:creationId xmlns:a16="http://schemas.microsoft.com/office/drawing/2014/main" id="{A31E2856-88B9-1A8F-C6D0-8F4E14C2B0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54543" y="2314335"/>
                <a:ext cx="1510592" cy="1510592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</p:pic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E91BED6E-517A-213C-D71C-66FFC211FCDF}"/>
                  </a:ext>
                </a:extLst>
              </p:cNvPr>
              <p:cNvSpPr txBox="1"/>
              <p:nvPr/>
            </p:nvSpPr>
            <p:spPr>
              <a:xfrm>
                <a:off x="4340892" y="3738554"/>
                <a:ext cx="1337895" cy="338554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1D Manifold</a:t>
                </a:r>
                <a:endParaRPr lang="zh-CN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24" name="图形 23">
              <a:extLst>
                <a:ext uri="{FF2B5EF4-FFF2-40B4-BE49-F238E27FC236}">
                  <a16:creationId xmlns:a16="http://schemas.microsoft.com/office/drawing/2014/main" id="{F1ABE34A-B974-E01A-802B-51E7A98076A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8963446">
              <a:off x="1841047" y="4458117"/>
              <a:ext cx="178594" cy="754856"/>
            </a:xfrm>
            <a:prstGeom prst="rect">
              <a:avLst/>
            </a:prstGeom>
          </p:spPr>
        </p:pic>
        <p:pic>
          <p:nvPicPr>
            <p:cNvPr id="25" name="图形 24">
              <a:extLst>
                <a:ext uri="{FF2B5EF4-FFF2-40B4-BE49-F238E27FC236}">
                  <a16:creationId xmlns:a16="http://schemas.microsoft.com/office/drawing/2014/main" id="{0BBF9F8F-BF57-4EB0-BBD9-555ABD6A6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4207384">
              <a:off x="3978988" y="4458117"/>
              <a:ext cx="178594" cy="754856"/>
            </a:xfrm>
            <a:prstGeom prst="rect">
              <a:avLst/>
            </a:prstGeom>
          </p:spPr>
        </p:pic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98DE47F4-C2C0-BE8C-51EE-BEDE48BE369D}"/>
                </a:ext>
              </a:extLst>
            </p:cNvPr>
            <p:cNvSpPr txBox="1"/>
            <p:nvPr/>
          </p:nvSpPr>
          <p:spPr>
            <a:xfrm>
              <a:off x="1905127" y="3000091"/>
              <a:ext cx="2199202" cy="766167"/>
            </a:xfrm>
            <a:prstGeom prst="round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1) Information Dilution</a:t>
              </a:r>
            </a:p>
            <a:p>
              <a:r>
                <a:rPr lang="en-US" altLang="zh-CN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2) Manifold Fracture</a:t>
              </a:r>
            </a:p>
            <a:p>
              <a:r>
                <a:rPr lang="en-US" altLang="zh-CN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3) Representation Overlap</a:t>
              </a: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9037F297-AA4A-6445-BD0C-936BD976CC2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50357" y="46396"/>
              <a:ext cx="5699284" cy="5139426"/>
            </a:xfrm>
            <a:prstGeom prst="rect">
              <a:avLst/>
            </a:prstGeom>
          </p:spPr>
        </p:pic>
        <p:pic>
          <p:nvPicPr>
            <p:cNvPr id="64" name="图片 63">
              <a:extLst>
                <a:ext uri="{FF2B5EF4-FFF2-40B4-BE49-F238E27FC236}">
                  <a16:creationId xmlns:a16="http://schemas.microsoft.com/office/drawing/2014/main" id="{663BCF8B-FFEB-18B0-DB2B-594A5979D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5675" y="79959"/>
              <a:ext cx="4428649" cy="5143550"/>
            </a:xfrm>
            <a:prstGeom prst="rect">
              <a:avLst/>
            </a:prstGeom>
          </p:spPr>
        </p:pic>
        <p:pic>
          <p:nvPicPr>
            <p:cNvPr id="67" name="图片 66">
              <a:extLst>
                <a:ext uri="{FF2B5EF4-FFF2-40B4-BE49-F238E27FC236}">
                  <a16:creationId xmlns:a16="http://schemas.microsoft.com/office/drawing/2014/main" id="{A2C30D47-3D9B-0B32-876E-24D3115D2D9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2940" y="27030"/>
              <a:ext cx="4914120" cy="2857274"/>
            </a:xfrm>
            <a:prstGeom prst="rect">
              <a:avLst/>
            </a:prstGeom>
          </p:spPr>
        </p:pic>
        <p:pic>
          <p:nvPicPr>
            <p:cNvPr id="29" name="图形 28">
              <a:extLst>
                <a:ext uri="{FF2B5EF4-FFF2-40B4-BE49-F238E27FC236}">
                  <a16:creationId xmlns:a16="http://schemas.microsoft.com/office/drawing/2014/main" id="{BAE9C330-F8AB-D6CC-57AA-5D9084C733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607887">
              <a:off x="4565012" y="1006446"/>
              <a:ext cx="433459" cy="318460"/>
            </a:xfrm>
            <a:prstGeom prst="rect">
              <a:avLst/>
            </a:prstGeom>
          </p:spPr>
        </p:pic>
        <p:pic>
          <p:nvPicPr>
            <p:cNvPr id="31" name="图形 30">
              <a:extLst>
                <a:ext uri="{FF2B5EF4-FFF2-40B4-BE49-F238E27FC236}">
                  <a16:creationId xmlns:a16="http://schemas.microsoft.com/office/drawing/2014/main" id="{26F20FFF-82BA-5C18-1C99-B5AC75F38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623576">
              <a:off x="383857" y="2405007"/>
              <a:ext cx="359998" cy="931509"/>
            </a:xfrm>
            <a:prstGeom prst="rect">
              <a:avLst/>
            </a:prstGeom>
          </p:spPr>
        </p:pic>
        <p:pic>
          <p:nvPicPr>
            <p:cNvPr id="72" name="图形 71">
              <a:extLst>
                <a:ext uri="{FF2B5EF4-FFF2-40B4-BE49-F238E27FC236}">
                  <a16:creationId xmlns:a16="http://schemas.microsoft.com/office/drawing/2014/main" id="{FF0E727A-4A4B-9644-66B8-2132700B0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623576">
              <a:off x="4403407" y="2405007"/>
              <a:ext cx="359998" cy="931509"/>
            </a:xfrm>
            <a:prstGeom prst="rect">
              <a:avLst/>
            </a:prstGeom>
          </p:spPr>
        </p:pic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59AFC16D-EE67-B603-3E16-908EB814DC4A}"/>
                </a:ext>
              </a:extLst>
            </p:cNvPr>
            <p:cNvSpPr txBox="1"/>
            <p:nvPr/>
          </p:nvSpPr>
          <p:spPr>
            <a:xfrm>
              <a:off x="4234713" y="1038456"/>
              <a:ext cx="310957" cy="323493"/>
            </a:xfrm>
            <a:prstGeom prst="round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71BCA990-A833-FED3-335E-AA97893956D7}"/>
                </a:ext>
              </a:extLst>
            </p:cNvPr>
            <p:cNvSpPr txBox="1"/>
            <p:nvPr/>
          </p:nvSpPr>
          <p:spPr>
            <a:xfrm>
              <a:off x="48898" y="2647016"/>
              <a:ext cx="310957" cy="323493"/>
            </a:xfrm>
            <a:prstGeom prst="round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EDF5466C-022D-1977-4390-3E8F00B4E268}"/>
                </a:ext>
              </a:extLst>
            </p:cNvPr>
            <p:cNvSpPr txBox="1"/>
            <p:nvPr/>
          </p:nvSpPr>
          <p:spPr>
            <a:xfrm>
              <a:off x="4075360" y="2647016"/>
              <a:ext cx="310957" cy="323493"/>
            </a:xfrm>
            <a:prstGeom prst="round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zh-CN" sz="1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3011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1452</TotalTime>
  <Words>150</Words>
  <Application>Microsoft Office PowerPoint</Application>
  <PresentationFormat>全屏显示(16:10)</PresentationFormat>
  <Paragraphs>49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lxh</dc:creator>
  <cp:lastModifiedBy>Xinhui Lin</cp:lastModifiedBy>
  <cp:revision>121</cp:revision>
  <dcterms:created xsi:type="dcterms:W3CDTF">2025-04-09T16:04:43Z</dcterms:created>
  <dcterms:modified xsi:type="dcterms:W3CDTF">2025-04-15T02:44:42Z</dcterms:modified>
</cp:coreProperties>
</file>