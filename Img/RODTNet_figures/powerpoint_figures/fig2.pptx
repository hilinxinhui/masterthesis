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notesSlides/notesSlide1.xml" ContentType="application/vnd.openxmlformats-officedocument.presentationml.notesSlide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notesSlides/notesSlide2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64" r:id="rId2"/>
    <p:sldId id="265" r:id="rId3"/>
    <p:sldId id="266" r:id="rId4"/>
    <p:sldId id="267" r:id="rId5"/>
    <p:sldId id="268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9999FF"/>
    <a:srgbClr val="C6C6DE"/>
    <a:srgbClr val="F7DED6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82" autoAdjust="0"/>
    <p:restoredTop sz="76727" autoAdjust="0"/>
  </p:normalViewPr>
  <p:slideViewPr>
    <p:cSldViewPr snapToGrid="0">
      <p:cViewPr>
        <p:scale>
          <a:sx n="66" d="100"/>
          <a:sy n="66" d="100"/>
        </p:scale>
        <p:origin x="4920" y="16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862A59-5B00-44C2-8FE2-02080F47A4C1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9B29B7-31C7-42AF-AED5-A067E619CDB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12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9B29B7-31C7-42AF-AED5-A067E619CDB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3218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与目标空间拓扑对齐</a:t>
            </a:r>
            <a:endParaRPr lang="en-US" altLang="zh-CN" dirty="0"/>
          </a:p>
          <a:p>
            <a:r>
              <a:rPr lang="zh-CN" altLang="en-US" dirty="0"/>
              <a:t>降低流形固有维度</a:t>
            </a:r>
            <a:endParaRPr lang="en-US" altLang="zh-CN" dirty="0"/>
          </a:p>
          <a:p>
            <a:r>
              <a:rPr lang="zh-CN" altLang="en-US" dirty="0"/>
              <a:t>获得良泛化退化表征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9B29B7-31C7-42AF-AED5-A067E619CDB9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339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5608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9676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55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546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6431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7901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3612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187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0613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1975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926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501681-838B-452F-9751-984029E8E082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9258EB-A51B-4C49-B64B-1DD58546D67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1421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slideLayout" Target="../slideLayouts/slideLayout2.xml"/><Relationship Id="rId26" Type="http://schemas.openxmlformats.org/officeDocument/2006/relationships/image" Target="../media/image5.tif"/><Relationship Id="rId39" Type="http://schemas.openxmlformats.org/officeDocument/2006/relationships/image" Target="../media/image18.svg"/><Relationship Id="rId3" Type="http://schemas.openxmlformats.org/officeDocument/2006/relationships/tags" Target="../tags/tag3.xml"/><Relationship Id="rId21" Type="http://schemas.openxmlformats.org/officeDocument/2006/relationships/image" Target="../media/image75.png"/><Relationship Id="rId34" Type="http://schemas.openxmlformats.org/officeDocument/2006/relationships/image" Target="../media/image13.svg"/><Relationship Id="rId42" Type="http://schemas.openxmlformats.org/officeDocument/2006/relationships/image" Target="../media/image21.png"/><Relationship Id="rId47" Type="http://schemas.openxmlformats.org/officeDocument/2006/relationships/image" Target="../media/image26.svg"/><Relationship Id="rId50" Type="http://schemas.openxmlformats.org/officeDocument/2006/relationships/image" Target="../media/image29.svg"/><Relationship Id="rId7" Type="http://schemas.openxmlformats.org/officeDocument/2006/relationships/tags" Target="../tags/tag7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image" Target="../media/image4.tif"/><Relationship Id="rId33" Type="http://schemas.openxmlformats.org/officeDocument/2006/relationships/image" Target="../media/image12.svg"/><Relationship Id="rId38" Type="http://schemas.openxmlformats.org/officeDocument/2006/relationships/image" Target="../media/image17.svg"/><Relationship Id="rId46" Type="http://schemas.openxmlformats.org/officeDocument/2006/relationships/image" Target="../media/image25.svg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0" Type="http://schemas.openxmlformats.org/officeDocument/2006/relationships/image" Target="../media/image74.png"/><Relationship Id="rId29" Type="http://schemas.openxmlformats.org/officeDocument/2006/relationships/image" Target="../media/image8.tif"/><Relationship Id="rId41" Type="http://schemas.openxmlformats.org/officeDocument/2006/relationships/image" Target="../media/image20.svg"/><Relationship Id="rId54" Type="http://schemas.openxmlformats.org/officeDocument/2006/relationships/image" Target="../media/image33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24" Type="http://schemas.openxmlformats.org/officeDocument/2006/relationships/image" Target="../media/image3.svg"/><Relationship Id="rId32" Type="http://schemas.openxmlformats.org/officeDocument/2006/relationships/image" Target="../media/image11.svg"/><Relationship Id="rId37" Type="http://schemas.openxmlformats.org/officeDocument/2006/relationships/image" Target="../media/image16.svg"/><Relationship Id="rId40" Type="http://schemas.openxmlformats.org/officeDocument/2006/relationships/image" Target="../media/image19.svg"/><Relationship Id="rId45" Type="http://schemas.openxmlformats.org/officeDocument/2006/relationships/image" Target="../media/image24.svg"/><Relationship Id="rId53" Type="http://schemas.openxmlformats.org/officeDocument/2006/relationships/image" Target="../media/image32.svg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image" Target="../media/image2.svg"/><Relationship Id="rId28" Type="http://schemas.openxmlformats.org/officeDocument/2006/relationships/image" Target="../media/image7.tif"/><Relationship Id="rId36" Type="http://schemas.openxmlformats.org/officeDocument/2006/relationships/image" Target="../media/image15.svg"/><Relationship Id="rId49" Type="http://schemas.openxmlformats.org/officeDocument/2006/relationships/image" Target="../media/image28.svg"/><Relationship Id="rId10" Type="http://schemas.openxmlformats.org/officeDocument/2006/relationships/tags" Target="../tags/tag10.xml"/><Relationship Id="rId19" Type="http://schemas.openxmlformats.org/officeDocument/2006/relationships/notesSlide" Target="../notesSlides/notesSlide1.xml"/><Relationship Id="rId31" Type="http://schemas.openxmlformats.org/officeDocument/2006/relationships/image" Target="../media/image10.svg"/><Relationship Id="rId44" Type="http://schemas.openxmlformats.org/officeDocument/2006/relationships/image" Target="../media/image23.svg"/><Relationship Id="rId52" Type="http://schemas.openxmlformats.org/officeDocument/2006/relationships/image" Target="../media/image31.sv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image" Target="../media/image1.svg"/><Relationship Id="rId27" Type="http://schemas.openxmlformats.org/officeDocument/2006/relationships/image" Target="../media/image6.tif"/><Relationship Id="rId30" Type="http://schemas.openxmlformats.org/officeDocument/2006/relationships/image" Target="../media/image9.tif"/><Relationship Id="rId35" Type="http://schemas.openxmlformats.org/officeDocument/2006/relationships/image" Target="../media/image14.svg"/><Relationship Id="rId43" Type="http://schemas.openxmlformats.org/officeDocument/2006/relationships/image" Target="../media/image22.svg"/><Relationship Id="rId48" Type="http://schemas.openxmlformats.org/officeDocument/2006/relationships/image" Target="../media/image27.svg"/><Relationship Id="rId8" Type="http://schemas.openxmlformats.org/officeDocument/2006/relationships/tags" Target="../tags/tag8.xml"/><Relationship Id="rId51" Type="http://schemas.openxmlformats.org/officeDocument/2006/relationships/image" Target="../media/image3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13" Type="http://schemas.openxmlformats.org/officeDocument/2006/relationships/image" Target="../media/image8.ti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.svg"/><Relationship Id="rId12" Type="http://schemas.openxmlformats.org/officeDocument/2006/relationships/image" Target="../media/image7.tif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1.svg"/><Relationship Id="rId11" Type="http://schemas.openxmlformats.org/officeDocument/2006/relationships/image" Target="../media/image6.tif"/><Relationship Id="rId5" Type="http://schemas.openxmlformats.org/officeDocument/2006/relationships/image" Target="../media/image35.png"/><Relationship Id="rId15" Type="http://schemas.openxmlformats.org/officeDocument/2006/relationships/image" Target="../media/image36.png"/><Relationship Id="rId10" Type="http://schemas.openxmlformats.org/officeDocument/2006/relationships/image" Target="../media/image5.tif"/><Relationship Id="rId4" Type="http://schemas.openxmlformats.org/officeDocument/2006/relationships/image" Target="../media/image34.png"/><Relationship Id="rId9" Type="http://schemas.openxmlformats.org/officeDocument/2006/relationships/image" Target="../media/image4.tif"/><Relationship Id="rId14" Type="http://schemas.openxmlformats.org/officeDocument/2006/relationships/image" Target="../media/image9.t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13" Type="http://schemas.openxmlformats.org/officeDocument/2006/relationships/image" Target="../media/image43.svg"/><Relationship Id="rId3" Type="http://schemas.openxmlformats.org/officeDocument/2006/relationships/tags" Target="../tags/tag22.xml"/><Relationship Id="rId7" Type="http://schemas.openxmlformats.org/officeDocument/2006/relationships/image" Target="../media/image37.svg"/><Relationship Id="rId12" Type="http://schemas.openxmlformats.org/officeDocument/2006/relationships/image" Target="../media/image42.sv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notesSlide" Target="../notesSlides/notesSlide2.xml"/><Relationship Id="rId11" Type="http://schemas.openxmlformats.org/officeDocument/2006/relationships/image" Target="../media/image41.sv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40.svg"/><Relationship Id="rId4" Type="http://schemas.openxmlformats.org/officeDocument/2006/relationships/tags" Target="../tags/tag23.xml"/><Relationship Id="rId9" Type="http://schemas.openxmlformats.org/officeDocument/2006/relationships/image" Target="../media/image39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46.svg"/><Relationship Id="rId18" Type="http://schemas.openxmlformats.org/officeDocument/2006/relationships/image" Target="../media/image50.svg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45.svg"/><Relationship Id="rId17" Type="http://schemas.openxmlformats.org/officeDocument/2006/relationships/image" Target="../media/image49.svg"/><Relationship Id="rId2" Type="http://schemas.openxmlformats.org/officeDocument/2006/relationships/tags" Target="../tags/tag25.xml"/><Relationship Id="rId16" Type="http://schemas.openxmlformats.org/officeDocument/2006/relationships/image" Target="../media/image17.svg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2.svg"/><Relationship Id="rId5" Type="http://schemas.openxmlformats.org/officeDocument/2006/relationships/tags" Target="../tags/tag28.xml"/><Relationship Id="rId15" Type="http://schemas.openxmlformats.org/officeDocument/2006/relationships/image" Target="../media/image48.svg"/><Relationship Id="rId10" Type="http://schemas.openxmlformats.org/officeDocument/2006/relationships/image" Target="../media/image44.svg"/><Relationship Id="rId4" Type="http://schemas.openxmlformats.org/officeDocument/2006/relationships/tags" Target="../tags/tag27.xml"/><Relationship Id="rId9" Type="http://schemas.openxmlformats.org/officeDocument/2006/relationships/image" Target="../media/image10.svg"/><Relationship Id="rId14" Type="http://schemas.openxmlformats.org/officeDocument/2006/relationships/image" Target="../media/image4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svg"/><Relationship Id="rId3" Type="http://schemas.openxmlformats.org/officeDocument/2006/relationships/tags" Target="../tags/tag33.xml"/><Relationship Id="rId7" Type="http://schemas.openxmlformats.org/officeDocument/2006/relationships/image" Target="../media/image21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image" Target="../media/image51.svg"/><Relationship Id="rId11" Type="http://schemas.openxmlformats.org/officeDocument/2006/relationships/image" Target="../media/image55.sv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54.svg"/><Relationship Id="rId4" Type="http://schemas.openxmlformats.org/officeDocument/2006/relationships/tags" Target="../tags/tag34.xml"/><Relationship Id="rId9" Type="http://schemas.openxmlformats.org/officeDocument/2006/relationships/image" Target="../media/image5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99FE7897-26AB-415A-AD4D-D3D2B1093DAA}"/>
              </a:ext>
            </a:extLst>
          </p:cNvPr>
          <p:cNvGrpSpPr/>
          <p:nvPr/>
        </p:nvGrpSpPr>
        <p:grpSpPr>
          <a:xfrm>
            <a:off x="-8868343" y="-594811"/>
            <a:ext cx="24378117" cy="5920233"/>
            <a:chOff x="-7532301" y="-4536088"/>
            <a:chExt cx="24378117" cy="5920233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C5E061D1-66CE-49F8-8C03-8131FF7717DD}"/>
                </a:ext>
              </a:extLst>
            </p:cNvPr>
            <p:cNvSpPr/>
            <p:nvPr/>
          </p:nvSpPr>
          <p:spPr>
            <a:xfrm rot="16200000">
              <a:off x="9855335" y="-3018354"/>
              <a:ext cx="2670205" cy="1544820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LARR Module</a:t>
              </a:r>
            </a:p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(for degradation trajectory tracking)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3702FC77-13C9-4260-8017-7ED848361006}"/>
                </a:ext>
              </a:extLst>
            </p:cNvPr>
            <p:cNvSpPr/>
            <p:nvPr/>
          </p:nvSpPr>
          <p:spPr>
            <a:xfrm rot="16200000">
              <a:off x="7555517" y="-2617836"/>
              <a:ext cx="2670206" cy="738750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UDFS Module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F1A31A1F-C594-4460-99C8-08D0E700A3E6}"/>
                </a:ext>
              </a:extLst>
            </p:cNvPr>
            <p:cNvSpPr/>
            <p:nvPr/>
          </p:nvSpPr>
          <p:spPr>
            <a:xfrm rot="16200000">
              <a:off x="-6605246" y="-2617836"/>
              <a:ext cx="4279900" cy="738751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Heuristic Signal Reconstruction</a:t>
              </a:r>
              <a:endParaRPr lang="zh-CN" alt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梯形 15">
              <a:extLst>
                <a:ext uri="{FF2B5EF4-FFF2-40B4-BE49-F238E27FC236}">
                  <a16:creationId xmlns:a16="http://schemas.microsoft.com/office/drawing/2014/main" id="{5C71E83C-EA45-433D-9B35-9CABC9512908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2861384" y="-152050"/>
              <a:ext cx="2195513" cy="526295"/>
            </a:xfrm>
            <a:prstGeom prst="trapezoid">
              <a:avLst>
                <a:gd name="adj" fmla="val 90633"/>
              </a:avLst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CAA33F9-EA14-4C58-A9C4-9959395ADB3F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367549" y="-158890"/>
              <a:ext cx="1382668" cy="5288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25400">
              <a:solidFill>
                <a:schemeClr val="accent6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SiLU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E6D6B095-2AF2-4B28-A0C4-333FF229BB6B}"/>
                </a:ext>
              </a:extLst>
            </p:cNvPr>
            <p:cNvCxnSpPr>
              <a:cxnSpLocks noChangeAspect="1"/>
              <a:stCxn id="16" idx="2"/>
              <a:endCxn id="17" idx="0"/>
            </p:cNvCxnSpPr>
            <p:nvPr/>
          </p:nvCxnSpPr>
          <p:spPr>
            <a:xfrm flipV="1">
              <a:off x="-1500478" y="105551"/>
              <a:ext cx="1559824" cy="5544"/>
            </a:xfrm>
            <a:prstGeom prst="lin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3C1D2A12-B041-4E21-920A-6588B7A7F046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-4027899" y="-2274553"/>
              <a:ext cx="12549144" cy="45633"/>
            </a:xfrm>
            <a:prstGeom prst="straightConnector1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headEnd type="none" w="sm" len="lg"/>
              <a:tailEnd type="triangle" w="sm" len="lg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sp>
          <p:nvSpPr>
            <p:cNvPr id="20" name="流程图: 接点 19">
              <a:extLst>
                <a:ext uri="{FF2B5EF4-FFF2-40B4-BE49-F238E27FC236}">
                  <a16:creationId xmlns:a16="http://schemas.microsoft.com/office/drawing/2014/main" id="{EE8E2555-F299-48C8-8A81-FF61684929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88804" y="-2503418"/>
              <a:ext cx="533503" cy="533503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E25CA57C-D758-435E-AB4E-F795802E41A0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2564950" y="-2790393"/>
                  <a:ext cx="585760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zh-CN" altLang="en-US" sz="6000" i="0" smtClean="0">
                            <a:latin typeface="Cambria Math" panose="02040503050406030204" pitchFamily="18" charset="0"/>
                          </a:rPr>
                          <m:t>⋅</m:t>
                        </m:r>
                      </m:oMath>
                    </m:oMathPara>
                  </a14:m>
                  <a:endParaRPr lang="zh-CN" altLang="en-US" sz="6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E25CA57C-D758-435E-AB4E-F795802E41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4950" y="-2790393"/>
                  <a:ext cx="585760" cy="1015663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流程图: 接点 21">
              <a:extLst>
                <a:ext uri="{FF2B5EF4-FFF2-40B4-BE49-F238E27FC236}">
                  <a16:creationId xmlns:a16="http://schemas.microsoft.com/office/drawing/2014/main" id="{02A0D382-5B95-41A9-A306-36E7FBF0F8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44227" y="-2508504"/>
              <a:ext cx="533503" cy="533503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梯形 22">
              <a:extLst>
                <a:ext uri="{FF2B5EF4-FFF2-40B4-BE49-F238E27FC236}">
                  <a16:creationId xmlns:a16="http://schemas.microsoft.com/office/drawing/2014/main" id="{8A5DD291-0BBF-4E96-BF2B-7DD375770A8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003803" y="-2499491"/>
              <a:ext cx="2181672" cy="522978"/>
            </a:xfrm>
            <a:prstGeom prst="trapezoid">
              <a:avLst>
                <a:gd name="adj" fmla="val 90633"/>
              </a:avLst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endPara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梯形 23">
              <a:extLst>
                <a:ext uri="{FF2B5EF4-FFF2-40B4-BE49-F238E27FC236}">
                  <a16:creationId xmlns:a16="http://schemas.microsoft.com/office/drawing/2014/main" id="{A3C01806-29A0-4BCC-8309-EDA248952A1D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2877968" y="-2517178"/>
              <a:ext cx="2181672" cy="522978"/>
            </a:xfrm>
            <a:prstGeom prst="trapezoid">
              <a:avLst>
                <a:gd name="adj" fmla="val 90633"/>
              </a:avLst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891F9DA9-410E-41F1-9E54-4F047FC2C92D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1921195" y="-2571118"/>
              <a:ext cx="2199359" cy="648545"/>
            </a:xfrm>
            <a:prstGeom prst="roundRect">
              <a:avLst/>
            </a:prstGeom>
            <a:solidFill>
              <a:srgbClr val="F7DED6"/>
            </a:solidFill>
            <a:ln w="25400">
              <a:solidFill>
                <a:srgbClr val="FFCCCC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Conv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FE797211-95CF-4934-8278-F875015C2AF1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523573" y="-2839223"/>
              <a:ext cx="2166042" cy="1144975"/>
            </a:xfrm>
            <a:prstGeom prst="roundRect">
              <a:avLst/>
            </a:prstGeom>
            <a:solidFill>
              <a:srgbClr val="C6C6DE"/>
            </a:solidFill>
            <a:ln w="25400">
              <a:solidFill>
                <a:srgbClr val="9999FF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Selective</a:t>
              </a:r>
            </a:p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SSM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C5B5EA1-4208-4BB7-B2B0-3A1E0C19E516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5049378" y="-2500630"/>
                  <a:ext cx="723203" cy="55399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sz="2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C5B5EA1-4208-4BB7-B2B0-3A1E0C19E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9378" y="-2500630"/>
                  <a:ext cx="723203" cy="55399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0833CB7B-D4E2-410E-B5CD-ED6C7E487E24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367549" y="-2507853"/>
              <a:ext cx="1382668" cy="5288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25400">
              <a:solidFill>
                <a:schemeClr val="accent6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SiLU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43C0FB1A-9A5E-43DA-9E25-64138BF76688}"/>
                </a:ext>
              </a:extLst>
            </p:cNvPr>
            <p:cNvSpPr txBox="1">
              <a:spLocks noChangeAspect="1"/>
            </p:cNvSpPr>
            <p:nvPr/>
          </p:nvSpPr>
          <p:spPr>
            <a:xfrm rot="16200000">
              <a:off x="3094131" y="-2551553"/>
              <a:ext cx="1986193" cy="55399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FC0128AC-899A-42D1-B60C-228DD29D4242}"/>
                </a:ext>
              </a:extLst>
            </p:cNvPr>
            <p:cNvSpPr/>
            <p:nvPr/>
          </p:nvSpPr>
          <p:spPr>
            <a:xfrm rot="16200000">
              <a:off x="6120651" y="-2636111"/>
              <a:ext cx="2202923" cy="73875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RMSNorm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4E3E1CB2-34F6-4905-B821-D0386F871303}"/>
                </a:ext>
              </a:extLst>
            </p:cNvPr>
            <p:cNvCxnSpPr>
              <a:cxnSpLocks/>
            </p:cNvCxnSpPr>
            <p:nvPr/>
          </p:nvCxnSpPr>
          <p:spPr>
            <a:xfrm>
              <a:off x="9283298" y="-2231342"/>
              <a:ext cx="1116389" cy="242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31">
              <a:extLst>
                <a:ext uri="{FF2B5EF4-FFF2-40B4-BE49-F238E27FC236}">
                  <a16:creationId xmlns:a16="http://schemas.microsoft.com/office/drawing/2014/main" id="{1A18C7BC-205B-4F81-8B65-0F6836A814AE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 rot="16200000" flipH="1">
              <a:off x="-3960682" y="-1822810"/>
              <a:ext cx="2380368" cy="1487446"/>
            </a:xfrm>
            <a:prstGeom prst="bentConnector2">
              <a:avLst/>
            </a:prstGeom>
            <a:ln w="38100">
              <a:solidFill>
                <a:schemeClr val="tx1"/>
              </a:solidFill>
              <a:round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9179DEEB-506D-4287-953D-B0EA483CB6B9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V="1">
              <a:off x="588226" y="-1954341"/>
              <a:ext cx="2269604" cy="2059892"/>
            </a:xfrm>
            <a:prstGeom prst="bentConnector3">
              <a:avLst>
                <a:gd name="adj1" fmla="val 99951"/>
              </a:avLst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连接符: 肘形 33">
              <a:extLst>
                <a:ext uri="{FF2B5EF4-FFF2-40B4-BE49-F238E27FC236}">
                  <a16:creationId xmlns:a16="http://schemas.microsoft.com/office/drawing/2014/main" id="{1CEC00BD-E27A-4F8E-8041-66B324D1198E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flipV="1">
              <a:off x="-3133221" y="-2500630"/>
              <a:ext cx="8544201" cy="233894"/>
            </a:xfrm>
            <a:prstGeom prst="bentConnector4">
              <a:avLst>
                <a:gd name="adj1" fmla="val 71"/>
                <a:gd name="adj2" fmla="val 729858"/>
              </a:avLst>
            </a:prstGeom>
            <a:ln w="38100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A33FABD0-A4ED-4D76-958B-508AFD5DFD28}"/>
                </a:ext>
              </a:extLst>
            </p:cNvPr>
            <p:cNvSpPr/>
            <p:nvPr/>
          </p:nvSpPr>
          <p:spPr>
            <a:xfrm>
              <a:off x="-328037" y="-4259652"/>
              <a:ext cx="3506149" cy="56529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Residual Connection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4056001E-5176-4BA0-9BE7-7C1C3A9F16A4}"/>
                </a:ext>
              </a:extLst>
            </p:cNvPr>
            <p:cNvSpPr/>
            <p:nvPr/>
          </p:nvSpPr>
          <p:spPr>
            <a:xfrm>
              <a:off x="-3824588" y="-4536088"/>
              <a:ext cx="9877699" cy="5920233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37" name="图形 36" descr="\documentclass{article}&#10;\usepackage{amsmath}&#10;\usepackage{amssymb}&#10;\pagestyle{empty}&#10;\begin{document}&#10;&#10;\begin{align}&#10;&amp; \widetilde{X}_{Emb} \\&#10;&amp; \in \mathbb{R}^{d_{model} \times E}&#10;\end{align}&#10;&#10;\end{document}" title="IguanaTex Shape Display">
              <a:extLst>
                <a:ext uri="{FF2B5EF4-FFF2-40B4-BE49-F238E27FC236}">
                  <a16:creationId xmlns:a16="http://schemas.microsoft.com/office/drawing/2014/main" id="{BD74C2A5-3CAA-4C65-B0F9-56E162BE9D54}"/>
                </a:ext>
              </a:extLst>
            </p:cNvPr>
            <p:cNvPicPr>
              <a:picLocks noChangeAspect="1"/>
            </p:cNvPicPr>
            <p:nvPr>
              <p:custDataLst>
                <p:tags r:id="rId16"/>
              </p:custDataLst>
            </p:nvPr>
          </p:nvPicPr>
          <p:blipFill rotWithShape="1"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rcRect r="66996"/>
            <a:stretch/>
          </p:blipFill>
          <p:spPr>
            <a:xfrm>
              <a:off x="-3499271" y="-734243"/>
              <a:ext cx="1678698" cy="723900"/>
            </a:xfrm>
            <a:prstGeom prst="rect">
              <a:avLst/>
            </a:prstGeom>
          </p:spPr>
        </p:pic>
        <p:pic>
          <p:nvPicPr>
            <p:cNvPr id="38" name="图形 37" descr="\documentclass{article}&#10;\usepackage{amsmath}&#10;\usepackage{amssymb}&#10;\pagestyle{empty}&#10;\begin{document}&#10;&#10;\begin{align}&#10;&amp; \widetilde{X}_{Emb} \\&#10;&amp; \in \mathbb{R}^{(d_{model} \times n_{exp}) \times E}&#10;\end{align}&#10;&#10;\end{document}" title="IguanaTex Shape Display">
              <a:extLst>
                <a:ext uri="{FF2B5EF4-FFF2-40B4-BE49-F238E27FC236}">
                  <a16:creationId xmlns:a16="http://schemas.microsoft.com/office/drawing/2014/main" id="{FF405D4F-7134-4EE3-A486-04798157F847}"/>
                </a:ext>
              </a:extLst>
            </p:cNvPr>
            <p:cNvPicPr>
              <a:picLocks noChangeAspect="1"/>
            </p:cNvPicPr>
            <p:nvPr>
              <p:custDataLst>
                <p:tags r:id="rId17"/>
              </p:custDataLst>
            </p:nvPr>
          </p:nvPicPr>
          <p:blipFill rotWithShape="1"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rcRect r="57923"/>
            <a:stretch/>
          </p:blipFill>
          <p:spPr>
            <a:xfrm>
              <a:off x="3674035" y="-732650"/>
              <a:ext cx="2292482" cy="742950"/>
            </a:xfrm>
            <a:prstGeom prst="rect">
              <a:avLst/>
            </a:prstGeom>
          </p:spPr>
        </p:pic>
        <p:pic>
          <p:nvPicPr>
            <p:cNvPr id="39" name="图形 38">
              <a:extLst>
                <a:ext uri="{FF2B5EF4-FFF2-40B4-BE49-F238E27FC236}">
                  <a16:creationId xmlns:a16="http://schemas.microsoft.com/office/drawing/2014/main" id="{9B6897D2-EAE3-4AE8-9AE8-1B6ECB106E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 flipH="1">
              <a:off x="4500524" y="-2106408"/>
              <a:ext cx="685800" cy="1684020"/>
            </a:xfrm>
            <a:prstGeom prst="rect">
              <a:avLst/>
            </a:prstGeom>
          </p:spPr>
        </p:pic>
        <p:pic>
          <p:nvPicPr>
            <p:cNvPr id="40" name="图形 39">
              <a:extLst>
                <a:ext uri="{FF2B5EF4-FFF2-40B4-BE49-F238E27FC236}">
                  <a16:creationId xmlns:a16="http://schemas.microsoft.com/office/drawing/2014/main" id="{96E0A801-2304-452A-9B71-BEBD61268E0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 flipH="1">
              <a:off x="-3330810" y="-2105802"/>
              <a:ext cx="685800" cy="1684020"/>
            </a:xfrm>
            <a:prstGeom prst="rect">
              <a:avLst/>
            </a:prstGeom>
          </p:spPr>
        </p:pic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5389C40A-F3E5-4352-A012-C35CA239860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-6374270" y="-4087625"/>
              <a:ext cx="1119076" cy="3610126"/>
              <a:chOff x="647735" y="1176866"/>
              <a:chExt cx="1009498" cy="3256627"/>
            </a:xfrm>
          </p:grpSpPr>
          <p:pic>
            <p:nvPicPr>
              <p:cNvPr id="65" name="图片 64">
                <a:extLst>
                  <a:ext uri="{FF2B5EF4-FFF2-40B4-BE49-F238E27FC236}">
                    <a16:creationId xmlns:a16="http://schemas.microsoft.com/office/drawing/2014/main" id="{F70EF1F0-9129-45E5-891D-0AD374972E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735" y="1990984"/>
                <a:ext cx="1009498" cy="81473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66" name="图片 65">
                <a:extLst>
                  <a:ext uri="{FF2B5EF4-FFF2-40B4-BE49-F238E27FC236}">
                    <a16:creationId xmlns:a16="http://schemas.microsoft.com/office/drawing/2014/main" id="{8F34E85E-FE9A-4822-9FD7-B0475B98D7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964" y="2805102"/>
                <a:ext cx="1009040" cy="81427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67" name="图片 66">
                <a:extLst>
                  <a:ext uri="{FF2B5EF4-FFF2-40B4-BE49-F238E27FC236}">
                    <a16:creationId xmlns:a16="http://schemas.microsoft.com/office/drawing/2014/main" id="{F16516BF-2996-43A4-AE17-DA4D3B26D2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735" y="3618763"/>
                <a:ext cx="1009498" cy="81473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68" name="图片 67">
                <a:extLst>
                  <a:ext uri="{FF2B5EF4-FFF2-40B4-BE49-F238E27FC236}">
                    <a16:creationId xmlns:a16="http://schemas.microsoft.com/office/drawing/2014/main" id="{5634E9FD-DB1F-4D9C-86F8-8D8A88DDF3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735" y="1176866"/>
                <a:ext cx="1009498" cy="81473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4B664FAE-3A03-4383-859C-3157E8881743}"/>
                </a:ext>
              </a:extLst>
            </p:cNvPr>
            <p:cNvGrpSpPr/>
            <p:nvPr/>
          </p:nvGrpSpPr>
          <p:grpSpPr>
            <a:xfrm>
              <a:off x="14815098" y="-3868881"/>
              <a:ext cx="2018995" cy="3290500"/>
              <a:chOff x="18635259" y="-933869"/>
              <a:chExt cx="2018995" cy="3290500"/>
            </a:xfrm>
          </p:grpSpPr>
          <p:pic>
            <p:nvPicPr>
              <p:cNvPr id="63" name="图片 62">
                <a:extLst>
                  <a:ext uri="{FF2B5EF4-FFF2-40B4-BE49-F238E27FC236}">
                    <a16:creationId xmlns:a16="http://schemas.microsoft.com/office/drawing/2014/main" id="{558F6FB0-87BE-4178-B8AA-981A1D9444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635259" y="727170"/>
                <a:ext cx="2018995" cy="1629461"/>
              </a:xfrm>
              <a:prstGeom prst="rect">
                <a:avLst/>
              </a:prstGeom>
              <a:ln w="9525">
                <a:solidFill>
                  <a:schemeClr val="dk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64" name="图片 63">
                <a:extLst>
                  <a:ext uri="{FF2B5EF4-FFF2-40B4-BE49-F238E27FC236}">
                    <a16:creationId xmlns:a16="http://schemas.microsoft.com/office/drawing/2014/main" id="{BBB39361-9208-413F-BD48-7C4EB8510D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635259" y="-933869"/>
                <a:ext cx="2018995" cy="1629461"/>
              </a:xfrm>
              <a:prstGeom prst="rect">
                <a:avLst/>
              </a:prstGeom>
              <a:ln w="9525">
                <a:solidFill>
                  <a:schemeClr val="dk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</p:grp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926C5DDB-E683-4F54-9624-B6A1EFE90911}"/>
                </a:ext>
              </a:extLst>
            </p:cNvPr>
            <p:cNvSpPr/>
            <p:nvPr/>
          </p:nvSpPr>
          <p:spPr>
            <a:xfrm rot="16200000">
              <a:off x="-9302875" y="-2607013"/>
              <a:ext cx="4279900" cy="73875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Raw Cyclic Signals</a:t>
              </a:r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C69B6792-2DFB-4790-9084-AE8C94051D9F}"/>
                </a:ext>
              </a:extLst>
            </p:cNvPr>
            <p:cNvSpPr/>
            <p:nvPr/>
          </p:nvSpPr>
          <p:spPr>
            <a:xfrm>
              <a:off x="12851330" y="-3255625"/>
              <a:ext cx="1816608" cy="91440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OOD SOH</a:t>
              </a:r>
            </a:p>
            <a:p>
              <a:pPr algn="ctr"/>
              <a:r>
                <a:rPr lang="en-US" altLang="zh-CN" sz="2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Estimation</a:t>
              </a:r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980BDDB0-04F3-42A7-94E8-D1811B8CB9E0}"/>
                </a:ext>
              </a:extLst>
            </p:cNvPr>
            <p:cNvSpPr/>
            <p:nvPr/>
          </p:nvSpPr>
          <p:spPr>
            <a:xfrm>
              <a:off x="12857144" y="-2155697"/>
              <a:ext cx="1816609" cy="91440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OOD RUL</a:t>
              </a:r>
            </a:p>
            <a:p>
              <a:pPr algn="ctr"/>
              <a:r>
                <a:rPr lang="en-US" altLang="zh-CN" sz="2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Prediction</a:t>
              </a:r>
            </a:p>
          </p:txBody>
        </p:sp>
        <p:cxnSp>
          <p:nvCxnSpPr>
            <p:cNvPr id="46" name="连接符: 肘形 45">
              <a:extLst>
                <a:ext uri="{FF2B5EF4-FFF2-40B4-BE49-F238E27FC236}">
                  <a16:creationId xmlns:a16="http://schemas.microsoft.com/office/drawing/2014/main" id="{EAD3DBF5-AC02-41E5-9F05-DEFF5301C01A}"/>
                </a:ext>
              </a:extLst>
            </p:cNvPr>
            <p:cNvCxnSpPr>
              <a:stCxn id="43" idx="1"/>
              <a:endCxn id="15" idx="1"/>
            </p:cNvCxnSpPr>
            <p:nvPr/>
          </p:nvCxnSpPr>
          <p:spPr>
            <a:xfrm rot="5400000" flipH="1" flipV="1">
              <a:off x="-5819523" y="-1451913"/>
              <a:ext cx="10823" cy="2697629"/>
            </a:xfrm>
            <a:prstGeom prst="bentConnector3">
              <a:avLst>
                <a:gd name="adj1" fmla="val -3895214"/>
              </a:avLst>
            </a:prstGeom>
            <a:ln w="38100">
              <a:solidFill>
                <a:schemeClr val="tx1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连接符: 肘形 46">
              <a:extLst>
                <a:ext uri="{FF2B5EF4-FFF2-40B4-BE49-F238E27FC236}">
                  <a16:creationId xmlns:a16="http://schemas.microsoft.com/office/drawing/2014/main" id="{40C1288A-0B7D-4228-A2D1-A7C796AB5C7A}"/>
                </a:ext>
              </a:extLst>
            </p:cNvPr>
            <p:cNvCxnSpPr>
              <a:cxnSpLocks/>
              <a:stCxn id="44" idx="1"/>
            </p:cNvCxnSpPr>
            <p:nvPr/>
          </p:nvCxnSpPr>
          <p:spPr>
            <a:xfrm rot="10800000" flipV="1">
              <a:off x="12851330" y="-2798425"/>
              <a:ext cx="12700" cy="1099548"/>
            </a:xfrm>
            <a:prstGeom prst="bentConnector4">
              <a:avLst>
                <a:gd name="adj1" fmla="val 3360000"/>
                <a:gd name="adj2" fmla="val 99897"/>
              </a:avLst>
            </a:prstGeom>
            <a:ln w="38100">
              <a:solidFill>
                <a:schemeClr val="tx1"/>
              </a:solidFill>
              <a:headEnd type="triangle" w="med" len="lg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B32C0692-3368-4599-9079-22789148C32C}"/>
                </a:ext>
              </a:extLst>
            </p:cNvPr>
            <p:cNvCxnSpPr>
              <a:stCxn id="13" idx="2"/>
            </p:cNvCxnSpPr>
            <p:nvPr/>
          </p:nvCxnSpPr>
          <p:spPr>
            <a:xfrm flipV="1">
              <a:off x="11962848" y="-2248651"/>
              <a:ext cx="472693" cy="2707"/>
            </a:xfrm>
            <a:prstGeom prst="line">
              <a:avLst/>
            </a:prstGeom>
            <a:ln w="38100">
              <a:solidFill>
                <a:schemeClr val="tx1"/>
              </a:solidFill>
              <a:headEnd w="med" len="lg"/>
              <a:tailEnd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A487CF09-2CF5-4F36-8B37-430FEFE31193}"/>
                </a:ext>
              </a:extLst>
            </p:cNvPr>
            <p:cNvSpPr/>
            <p:nvPr/>
          </p:nvSpPr>
          <p:spPr>
            <a:xfrm>
              <a:off x="10015149" y="-38072"/>
              <a:ext cx="1104632" cy="515163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15789A2C-B60F-4892-9160-0E4C6C9DFF84}"/>
                </a:ext>
              </a:extLst>
            </p:cNvPr>
            <p:cNvSpPr/>
            <p:nvPr/>
          </p:nvSpPr>
          <p:spPr>
            <a:xfrm>
              <a:off x="6671455" y="-38072"/>
              <a:ext cx="1104632" cy="51516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00C2A366-BA8D-419E-BDD1-8D64D7B661BF}"/>
                </a:ext>
              </a:extLst>
            </p:cNvPr>
            <p:cNvSpPr/>
            <p:nvPr/>
          </p:nvSpPr>
          <p:spPr>
            <a:xfrm>
              <a:off x="11489118" y="847970"/>
              <a:ext cx="1104632" cy="515163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FB20963E-F8BD-4814-A4C9-FCA4500A225A}"/>
                </a:ext>
              </a:extLst>
            </p:cNvPr>
            <p:cNvSpPr/>
            <p:nvPr/>
          </p:nvSpPr>
          <p:spPr>
            <a:xfrm>
              <a:off x="13679063" y="-90454"/>
              <a:ext cx="1104632" cy="515163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: 圆角 52">
              <a:extLst>
                <a:ext uri="{FF2B5EF4-FFF2-40B4-BE49-F238E27FC236}">
                  <a16:creationId xmlns:a16="http://schemas.microsoft.com/office/drawing/2014/main" id="{99FF76DD-FA79-46C3-A99A-497093A9DA86}"/>
                </a:ext>
              </a:extLst>
            </p:cNvPr>
            <p:cNvSpPr/>
            <p:nvPr/>
          </p:nvSpPr>
          <p:spPr>
            <a:xfrm>
              <a:off x="6668465" y="847970"/>
              <a:ext cx="1104632" cy="515163"/>
            </a:xfrm>
            <a:prstGeom prst="roundRect">
              <a:avLst/>
            </a:prstGeom>
            <a:solidFill>
              <a:srgbClr val="F7DED6"/>
            </a:solidFill>
            <a:ln w="25400">
              <a:solidFill>
                <a:srgbClr val="FFCC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: 圆角 53">
              <a:extLst>
                <a:ext uri="{FF2B5EF4-FFF2-40B4-BE49-F238E27FC236}">
                  <a16:creationId xmlns:a16="http://schemas.microsoft.com/office/drawing/2014/main" id="{3F9089C3-C000-4302-B077-31D014E7AD76}"/>
                </a:ext>
              </a:extLst>
            </p:cNvPr>
            <p:cNvSpPr/>
            <p:nvPr/>
          </p:nvSpPr>
          <p:spPr>
            <a:xfrm>
              <a:off x="9113449" y="851782"/>
              <a:ext cx="1104632" cy="515163"/>
            </a:xfrm>
            <a:prstGeom prst="roundRect">
              <a:avLst/>
            </a:prstGeom>
            <a:solidFill>
              <a:srgbClr val="C6C6DE"/>
            </a:solidFill>
            <a:ln w="25400">
              <a:solidFill>
                <a:srgbClr val="9999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94C7B22B-4953-4AD9-B7F6-A7C50BC7736E}"/>
                </a:ext>
              </a:extLst>
            </p:cNvPr>
            <p:cNvSpPr/>
            <p:nvPr/>
          </p:nvSpPr>
          <p:spPr>
            <a:xfrm>
              <a:off x="14349307" y="845655"/>
              <a:ext cx="1104632" cy="515163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1960A9AE-FDCB-404C-AB7B-04981D0B5ECA}"/>
                </a:ext>
              </a:extLst>
            </p:cNvPr>
            <p:cNvSpPr txBox="1"/>
            <p:nvPr/>
          </p:nvSpPr>
          <p:spPr>
            <a:xfrm>
              <a:off x="7828370" y="-20828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Input/Output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47FC038C-885E-498F-8647-B80A972EE194}"/>
                </a:ext>
              </a:extLst>
            </p:cNvPr>
            <p:cNvSpPr txBox="1"/>
            <p:nvPr/>
          </p:nvSpPr>
          <p:spPr>
            <a:xfrm>
              <a:off x="11045927" y="-176664"/>
              <a:ext cx="219741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Modules for Generalization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62C53C07-64EB-4962-A4C9-D4B8D82D917C}"/>
                </a:ext>
              </a:extLst>
            </p:cNvPr>
            <p:cNvSpPr txBox="1"/>
            <p:nvPr/>
          </p:nvSpPr>
          <p:spPr>
            <a:xfrm>
              <a:off x="14535574" y="-80326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C014B4A-FB2B-41D9-BF28-100BF5754419}"/>
                </a:ext>
              </a:extLst>
            </p:cNvPr>
            <p:cNvSpPr txBox="1"/>
            <p:nvPr/>
          </p:nvSpPr>
          <p:spPr>
            <a:xfrm>
              <a:off x="7399646" y="878753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Conv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471E2D55-BB5A-4016-AF2D-0EC208F1E84F}"/>
                </a:ext>
              </a:extLst>
            </p:cNvPr>
            <p:cNvSpPr txBox="1"/>
            <p:nvPr/>
          </p:nvSpPr>
          <p:spPr>
            <a:xfrm>
              <a:off x="9841320" y="880872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SSM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BB5E7334-3B4B-4795-B362-38EEB45DD71B}"/>
                </a:ext>
              </a:extLst>
            </p:cNvPr>
            <p:cNvSpPr txBox="1"/>
            <p:nvPr/>
          </p:nvSpPr>
          <p:spPr>
            <a:xfrm>
              <a:off x="12516794" y="872405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Activation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15BA8E2F-A6B2-4F9C-AB97-4202D38AE9F4}"/>
                </a:ext>
              </a:extLst>
            </p:cNvPr>
            <p:cNvSpPr txBox="1"/>
            <p:nvPr/>
          </p:nvSpPr>
          <p:spPr>
            <a:xfrm>
              <a:off x="15077444" y="876406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Norm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9" name="文本框 68">
            <a:extLst>
              <a:ext uri="{FF2B5EF4-FFF2-40B4-BE49-F238E27FC236}">
                <a16:creationId xmlns:a16="http://schemas.microsoft.com/office/drawing/2014/main" id="{99E4FD4B-9C6F-4D56-9FCA-3BD0941EFA08}"/>
              </a:ext>
            </a:extLst>
          </p:cNvPr>
          <p:cNvSpPr txBox="1"/>
          <p:nvPr/>
        </p:nvSpPr>
        <p:spPr>
          <a:xfrm>
            <a:off x="-7116909" y="5716012"/>
            <a:ext cx="20875248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457200" indent="-457200" algn="ctr">
              <a:buAutoNum type="alphaLcParenBoth"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of the proposed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RODTNet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(without LARR module) and its long-tailed optimized </a:t>
            </a:r>
            <a:r>
              <a:rPr lang="en-US" altLang="zh-CN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RODTNet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-LT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(with LARR module)</a:t>
            </a:r>
          </a:p>
        </p:txBody>
      </p:sp>
      <p:pic>
        <p:nvPicPr>
          <p:cNvPr id="83" name="图形 82" descr="\documentclass{article}&#10;\usepackage{amsmath}&#10;\pagestyle{empty}&#10;\begin{document}&#10;&#10;$\approx$&#10;&#10;\end{document}" title="IguanaTex Shape Display">
            <a:extLst>
              <a:ext uri="{FF2B5EF4-FFF2-40B4-BE49-F238E27FC236}">
                <a16:creationId xmlns:a16="http://schemas.microsoft.com/office/drawing/2014/main" id="{BCDF9C72-3C3C-4D42-BC6B-5B310D240C9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2998809" y="11373295"/>
            <a:ext cx="365725" cy="219435"/>
          </a:xfrm>
          <a:prstGeom prst="rect">
            <a:avLst/>
          </a:prstGeom>
        </p:spPr>
      </p:pic>
      <p:grpSp>
        <p:nvGrpSpPr>
          <p:cNvPr id="165" name="组合 164">
            <a:extLst>
              <a:ext uri="{FF2B5EF4-FFF2-40B4-BE49-F238E27FC236}">
                <a16:creationId xmlns:a16="http://schemas.microsoft.com/office/drawing/2014/main" id="{4B2A5E55-6677-4432-BED1-048C45BBF6F3}"/>
              </a:ext>
            </a:extLst>
          </p:cNvPr>
          <p:cNvGrpSpPr/>
          <p:nvPr/>
        </p:nvGrpSpPr>
        <p:grpSpPr>
          <a:xfrm>
            <a:off x="-1379702" y="5905370"/>
            <a:ext cx="7805710" cy="7429451"/>
            <a:chOff x="87482" y="6713893"/>
            <a:chExt cx="7805710" cy="7429451"/>
          </a:xfrm>
        </p:grpSpPr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1EAA0BCE-FF66-4D27-AA77-8F8642ED136E}"/>
                </a:ext>
              </a:extLst>
            </p:cNvPr>
            <p:cNvGrpSpPr/>
            <p:nvPr/>
          </p:nvGrpSpPr>
          <p:grpSpPr>
            <a:xfrm>
              <a:off x="1620608" y="13040655"/>
              <a:ext cx="5104263" cy="548640"/>
              <a:chOff x="-5089549" y="-84788"/>
              <a:chExt cx="5104263" cy="548640"/>
            </a:xfrm>
          </p:grpSpPr>
          <p:pic>
            <p:nvPicPr>
              <p:cNvPr id="91" name="图形 90" descr="\documentclass{article}&#10;\usepackage{amsmath}&#10;\pagestyle{empty}&#10;\begin{document}&#10;&#10;$\sigma_{Z}^{\prime}\left(\frac{Z - \mu}{\sigma}\right) + \mu_{Z}^{\prime}$&#10;&#10;\end{document}" title="IguanaTex Shape Display">
                <a:extLst>
                  <a:ext uri="{FF2B5EF4-FFF2-40B4-BE49-F238E27FC236}">
                    <a16:creationId xmlns:a16="http://schemas.microsoft.com/office/drawing/2014/main" id="{15AB127D-5B37-427C-B26B-869E1BA35603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5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2"/>
                  </a:ext>
                </a:extLst>
              </a:blip>
              <a:stretch>
                <a:fillRect/>
              </a:stretch>
            </p:blipFill>
            <p:spPr>
              <a:xfrm>
                <a:off x="-2088406" y="-84788"/>
                <a:ext cx="2103120" cy="548640"/>
              </a:xfrm>
              <a:prstGeom prst="rect">
                <a:avLst/>
              </a:prstGeom>
            </p:spPr>
          </p:pic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5DFF8AEA-6BF3-4AD3-A670-B7DD623B502B}"/>
                  </a:ext>
                </a:extLst>
              </p:cNvPr>
              <p:cNvSpPr txBox="1"/>
              <p:nvPr/>
            </p:nvSpPr>
            <p:spPr>
              <a:xfrm>
                <a:off x="-5089549" y="-84788"/>
                <a:ext cx="3001143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2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 Manipulation: </a:t>
                </a:r>
                <a:endParaRPr lang="zh-CN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2984E4F4-BB0C-4803-AF71-731E1BDEDFF5}"/>
                </a:ext>
              </a:extLst>
            </p:cNvPr>
            <p:cNvSpPr txBox="1"/>
            <p:nvPr/>
          </p:nvSpPr>
          <p:spPr>
            <a:xfrm>
              <a:off x="878921" y="13681679"/>
              <a:ext cx="6280666" cy="461665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(c) </a:t>
              </a:r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UDFS</a:t>
              </a:r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</a:t>
              </a:r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ncertainty-</a:t>
              </a:r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</a:t>
              </a:r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riven </a:t>
              </a:r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eature </a:t>
              </a:r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US" altLang="zh-CN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ynthesis</a:t>
              </a:r>
              <a:endPara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8" name="组合 157">
              <a:extLst>
                <a:ext uri="{FF2B5EF4-FFF2-40B4-BE49-F238E27FC236}">
                  <a16:creationId xmlns:a16="http://schemas.microsoft.com/office/drawing/2014/main" id="{4A5A1DCE-2A92-4C70-85BB-EEE3A04262AA}"/>
                </a:ext>
              </a:extLst>
            </p:cNvPr>
            <p:cNvGrpSpPr/>
            <p:nvPr/>
          </p:nvGrpSpPr>
          <p:grpSpPr>
            <a:xfrm>
              <a:off x="87482" y="6713893"/>
              <a:ext cx="7805710" cy="5998922"/>
              <a:chOff x="368515" y="6690291"/>
              <a:chExt cx="7805710" cy="5998922"/>
            </a:xfrm>
          </p:grpSpPr>
          <p:grpSp>
            <p:nvGrpSpPr>
              <p:cNvPr id="153" name="组合 152">
                <a:extLst>
                  <a:ext uri="{FF2B5EF4-FFF2-40B4-BE49-F238E27FC236}">
                    <a16:creationId xmlns:a16="http://schemas.microsoft.com/office/drawing/2014/main" id="{3771DED5-215A-425C-8015-7DDD34F4F17C}"/>
                  </a:ext>
                </a:extLst>
              </p:cNvPr>
              <p:cNvGrpSpPr/>
              <p:nvPr/>
            </p:nvGrpSpPr>
            <p:grpSpPr>
              <a:xfrm>
                <a:off x="962629" y="6690291"/>
                <a:ext cx="7211596" cy="5973503"/>
                <a:chOff x="962629" y="6690291"/>
                <a:chExt cx="7211596" cy="5973503"/>
              </a:xfrm>
            </p:grpSpPr>
            <p:pic>
              <p:nvPicPr>
                <p:cNvPr id="72" name="图形 71">
                  <a:extLst>
                    <a:ext uri="{FF2B5EF4-FFF2-40B4-BE49-F238E27FC236}">
                      <a16:creationId xmlns:a16="http://schemas.microsoft.com/office/drawing/2014/main" id="{E7DD58CB-D0AB-428E-B233-DDB31830FE5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740611" y="6690291"/>
                  <a:ext cx="5973503" cy="5973503"/>
                </a:xfrm>
                <a:prstGeom prst="rect">
                  <a:avLst/>
                </a:prstGeom>
              </p:spPr>
            </p:pic>
            <p:sp>
              <p:nvSpPr>
                <p:cNvPr id="73" name="椭圆 72">
                  <a:extLst>
                    <a:ext uri="{FF2B5EF4-FFF2-40B4-BE49-F238E27FC236}">
                      <a16:creationId xmlns:a16="http://schemas.microsoft.com/office/drawing/2014/main" id="{9F060560-6B06-4CAE-9DBE-310FA2D2866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62629" y="7582724"/>
                  <a:ext cx="7211596" cy="5068807"/>
                </a:xfrm>
                <a:prstGeom prst="ellipse">
                  <a:avLst/>
                </a:prstGeom>
                <a:noFill/>
                <a:ln w="44450">
                  <a:solidFill>
                    <a:schemeClr val="bg2">
                      <a:lumMod val="75000"/>
                    </a:schemeClr>
                  </a:solidFill>
                  <a:prstDash val="lgDashDotDot"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 dirty="0"/>
                </a:p>
              </p:txBody>
            </p:sp>
          </p:grp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B5997EB9-5956-4AE7-A98F-EE55ACA3A43E}"/>
                  </a:ext>
                </a:extLst>
              </p:cNvPr>
              <p:cNvSpPr txBox="1"/>
              <p:nvPr/>
            </p:nvSpPr>
            <p:spPr>
              <a:xfrm>
                <a:off x="3329687" y="7774914"/>
                <a:ext cx="2775443" cy="7078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Original Feature Space</a:t>
                </a:r>
              </a:p>
              <a:p>
                <a:pPr algn="ctr"/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(ID Samples Only)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5" name="等腰三角形 74">
                <a:extLst>
                  <a:ext uri="{FF2B5EF4-FFF2-40B4-BE49-F238E27FC236}">
                    <a16:creationId xmlns:a16="http://schemas.microsoft.com/office/drawing/2014/main" id="{6C73EADC-CEED-4B1A-A9BD-5A5605ADB9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09886" y="9462148"/>
                <a:ext cx="251890" cy="217146"/>
              </a:xfrm>
              <a:prstGeom prst="triangle">
                <a:avLst/>
              </a:prstGeom>
              <a:solidFill>
                <a:srgbClr val="F7DED6"/>
              </a:solidFill>
              <a:ln cap="sq">
                <a:solidFill>
                  <a:srgbClr val="F7DED6">
                    <a:alpha val="80000"/>
                  </a:srgb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pic>
            <p:nvPicPr>
              <p:cNvPr id="76" name="图形 75" descr="\documentclass{article}&#10;\usepackage{amsmath}&#10;\pagestyle{empty}&#10;\begin{document}&#10;&#10;$\{ \mu_{Z}, \sigma_{Z} \}$&#10;&#10;\end{document}" title="IguanaTex Shape Display">
                <a:extLst>
                  <a:ext uri="{FF2B5EF4-FFF2-40B4-BE49-F238E27FC236}">
                    <a16:creationId xmlns:a16="http://schemas.microsoft.com/office/drawing/2014/main" id="{8EEE3815-E661-40A0-AA39-E7115D409914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0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4"/>
                  </a:ext>
                </a:extLst>
              </a:blip>
              <a:stretch>
                <a:fillRect/>
              </a:stretch>
            </p:blipFill>
            <p:spPr>
              <a:xfrm>
                <a:off x="5359733" y="9851082"/>
                <a:ext cx="1188720" cy="297180"/>
              </a:xfrm>
              <a:prstGeom prst="rect">
                <a:avLst/>
              </a:prstGeom>
            </p:spPr>
          </p:pic>
          <p:pic>
            <p:nvPicPr>
              <p:cNvPr id="77" name="图形 76" descr="\documentclass{article}&#10;\usepackage{amsmath}&#10;\pagestyle{empty}&#10;\begin{document}&#10;&#10;$\{ \mu_{Z}^{\prime}, \sigma_{Z}^{\prime} \}$&#10;&#10;\end{document}" title="IguanaTex Shape Display">
                <a:extLst>
                  <a:ext uri="{FF2B5EF4-FFF2-40B4-BE49-F238E27FC236}">
                    <a16:creationId xmlns:a16="http://schemas.microsoft.com/office/drawing/2014/main" id="{6E1506CD-322D-4410-BC60-B3418C26BB50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1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5"/>
                  </a:ext>
                </a:extLst>
              </a:blip>
              <a:stretch>
                <a:fillRect/>
              </a:stretch>
            </p:blipFill>
            <p:spPr>
              <a:xfrm>
                <a:off x="1425654" y="9850717"/>
                <a:ext cx="1188720" cy="320039"/>
              </a:xfrm>
              <a:prstGeom prst="rect">
                <a:avLst/>
              </a:prstGeom>
            </p:spPr>
          </p:pic>
          <p:grpSp>
            <p:nvGrpSpPr>
              <p:cNvPr id="78" name="组合 77">
                <a:extLst>
                  <a:ext uri="{FF2B5EF4-FFF2-40B4-BE49-F238E27FC236}">
                    <a16:creationId xmlns:a16="http://schemas.microsoft.com/office/drawing/2014/main" id="{76DC85EA-57DF-4BCE-8305-5D4FF815911D}"/>
                  </a:ext>
                </a:extLst>
              </p:cNvPr>
              <p:cNvGrpSpPr/>
              <p:nvPr/>
            </p:nvGrpSpPr>
            <p:grpSpPr>
              <a:xfrm>
                <a:off x="3314572" y="10548863"/>
                <a:ext cx="1234440" cy="714814"/>
                <a:chOff x="10355262" y="2950882"/>
                <a:chExt cx="1234440" cy="714814"/>
              </a:xfrm>
            </p:grpSpPr>
            <p:pic>
              <p:nvPicPr>
                <p:cNvPr id="89" name="图形 88" descr="\documentclass{article}&#10;\usepackage{amsmath}&#10;\pagestyle{empty}&#10;\begin{document}&#10;&#10;$\mathcal{N}(\mu, \Sigma_{\mu}^{2})$&#10;&#10;&#10;\end{document}" title="IguanaTex Shape Display">
                  <a:extLst>
                    <a:ext uri="{FF2B5EF4-FFF2-40B4-BE49-F238E27FC236}">
                      <a16:creationId xmlns:a16="http://schemas.microsoft.com/office/drawing/2014/main" id="{A457FCF6-043E-4F2D-B36C-A8F95BB6A7DB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3"/>
                  </p:custDataLst>
                </p:nvPr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355262" y="2950882"/>
                  <a:ext cx="1234440" cy="365760"/>
                </a:xfrm>
                <a:prstGeom prst="rect">
                  <a:avLst/>
                </a:prstGeom>
              </p:spPr>
            </p:pic>
            <p:pic>
              <p:nvPicPr>
                <p:cNvPr id="90" name="图形 89" descr="\documentclass{article}&#10;\usepackage{amsmath}&#10;\pagestyle{empty}&#10;\begin{document}&#10;&#10;$\mathcal{N}(\sigma, \Sigma_{\sigma}^{2})$&#10;&#10;\end{document}" title="IguanaTex Shape Display">
                  <a:extLst>
                    <a:ext uri="{FF2B5EF4-FFF2-40B4-BE49-F238E27FC236}">
                      <a16:creationId xmlns:a16="http://schemas.microsoft.com/office/drawing/2014/main" id="{6B664883-5016-4B4D-A8EA-71418B8613A3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4"/>
                  </p:custDataLst>
                </p:nvPr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7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355262" y="3345656"/>
                  <a:ext cx="1234440" cy="320040"/>
                </a:xfrm>
                <a:prstGeom prst="rect">
                  <a:avLst/>
                </a:prstGeom>
              </p:spPr>
            </p:pic>
          </p:grp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77B7F100-3B09-4FD9-9902-D53DB6481CCA}"/>
                  </a:ext>
                </a:extLst>
              </p:cNvPr>
              <p:cNvSpPr txBox="1"/>
              <p:nvPr/>
            </p:nvSpPr>
            <p:spPr>
              <a:xfrm>
                <a:off x="4920634" y="8964436"/>
                <a:ext cx="2168524" cy="70788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Degradation </a:t>
                </a:r>
              </a:p>
              <a:p>
                <a:pPr algn="ctr"/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 Anchor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157" name="组合 156">
                <a:extLst>
                  <a:ext uri="{FF2B5EF4-FFF2-40B4-BE49-F238E27FC236}">
                    <a16:creationId xmlns:a16="http://schemas.microsoft.com/office/drawing/2014/main" id="{BBB6F949-A3B4-44AD-8190-60DFBAA7E954}"/>
                  </a:ext>
                </a:extLst>
              </p:cNvPr>
              <p:cNvGrpSpPr/>
              <p:nvPr/>
            </p:nvGrpSpPr>
            <p:grpSpPr>
              <a:xfrm>
                <a:off x="1105555" y="11981327"/>
                <a:ext cx="6387294" cy="707886"/>
                <a:chOff x="1105555" y="11981327"/>
                <a:chExt cx="6387294" cy="707886"/>
              </a:xfrm>
            </p:grpSpPr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4492F954-3131-4245-B711-CF91955D7391}"/>
                    </a:ext>
                  </a:extLst>
                </p:cNvPr>
                <p:cNvSpPr txBox="1"/>
                <p:nvPr/>
              </p:nvSpPr>
              <p:spPr>
                <a:xfrm>
                  <a:off x="1105555" y="11981327"/>
                  <a:ext cx="3042950" cy="70788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Manipulated Feature Space</a:t>
                  </a:r>
                </a:p>
                <a:p>
                  <a:pPr algn="ctr"/>
                  <a:r>
                    <a:rPr lang="en-US" altLang="zh-CN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(ID &amp; Synthesis Samples)</a:t>
                  </a:r>
                  <a:endParaRPr lang="zh-CN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09862FB6-05EE-4730-958E-D1E7C0A13A38}"/>
                    </a:ext>
                  </a:extLst>
                </p:cNvPr>
                <p:cNvSpPr txBox="1"/>
                <p:nvPr/>
              </p:nvSpPr>
              <p:spPr>
                <a:xfrm>
                  <a:off x="4717407" y="11981327"/>
                  <a:ext cx="2775442" cy="70788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Actual Feature Space</a:t>
                  </a:r>
                </a:p>
                <a:p>
                  <a:pPr algn="ctr"/>
                  <a:r>
                    <a:rPr lang="en-US" altLang="zh-CN" sz="2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(ID &amp; OOD Samples)</a:t>
                  </a:r>
                  <a:endParaRPr lang="zh-CN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pic>
              <p:nvPicPr>
                <p:cNvPr id="84" name="图形 83" descr="\documentclass{article}&#10;\usepackage{amsmath}&#10;\pagestyle{empty}&#10;\begin{document}&#10;&#10;$\approx$&#10;&#10;&#10;\end{document}" title="IguanaTex Shape Display">
                  <a:extLst>
                    <a:ext uri="{FF2B5EF4-FFF2-40B4-BE49-F238E27FC236}">
                      <a16:creationId xmlns:a16="http://schemas.microsoft.com/office/drawing/2014/main" id="{2F12677E-D42F-4834-8754-DDEF7DFB781E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12"/>
                  </p:custDataLst>
                </p:nvPr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3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38249" y="12273289"/>
                  <a:ext cx="238125" cy="142875"/>
                </a:xfrm>
                <a:prstGeom prst="rect">
                  <a:avLst/>
                </a:prstGeom>
              </p:spPr>
            </p:pic>
          </p:grpSp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4562D678-2773-466C-89C3-5F1FC30E95B3}"/>
                  </a:ext>
                </a:extLst>
              </p:cNvPr>
              <p:cNvSpPr txBox="1"/>
              <p:nvPr/>
            </p:nvSpPr>
            <p:spPr>
              <a:xfrm>
                <a:off x="5326989" y="10731743"/>
                <a:ext cx="26797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Statistics </a:t>
                </a:r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Uncertainty</a:t>
                </a:r>
              </a:p>
              <a:p>
                <a:pPr algn="ctr"/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Quantification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E5C38075-E216-412D-B497-E24DFF6AD838}"/>
                  </a:ext>
                </a:extLst>
              </p:cNvPr>
              <p:cNvSpPr txBox="1"/>
              <p:nvPr/>
            </p:nvSpPr>
            <p:spPr>
              <a:xfrm>
                <a:off x="368515" y="10786387"/>
                <a:ext cx="2679700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Sampling / </a:t>
                </a:r>
              </a:p>
              <a:p>
                <a:pPr algn="ctr"/>
                <a:r>
                  <a:rPr lang="en-US" altLang="zh-CN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Reparameterization</a:t>
                </a:r>
                <a:endParaRPr lang="zh-CN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pic>
            <p:nvPicPr>
              <p:cNvPr id="87" name="图形 86">
                <a:extLst>
                  <a:ext uri="{FF2B5EF4-FFF2-40B4-BE49-F238E27FC236}">
                    <a16:creationId xmlns:a16="http://schemas.microsoft.com/office/drawing/2014/main" id="{2753D1AA-C9BE-4FFA-A227-7202591B2C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9"/>
                  </a:ext>
                </a:extLst>
              </a:blip>
              <a:stretch>
                <a:fillRect/>
              </a:stretch>
            </p:blipFill>
            <p:spPr>
              <a:xfrm rot="19135236" flipH="1">
                <a:off x="4836928" y="10496738"/>
                <a:ext cx="980122" cy="366713"/>
              </a:xfrm>
              <a:prstGeom prst="rect">
                <a:avLst/>
              </a:prstGeom>
            </p:spPr>
          </p:pic>
          <p:pic>
            <p:nvPicPr>
              <p:cNvPr id="88" name="图形 87">
                <a:extLst>
                  <a:ext uri="{FF2B5EF4-FFF2-40B4-BE49-F238E27FC236}">
                    <a16:creationId xmlns:a16="http://schemas.microsoft.com/office/drawing/2014/main" id="{1481472D-1079-412A-AEE1-368478EDB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0"/>
                  </a:ext>
                </a:extLst>
              </a:blip>
              <a:stretch>
                <a:fillRect/>
              </a:stretch>
            </p:blipFill>
            <p:spPr>
              <a:xfrm rot="1259324" flipH="1">
                <a:off x="2169473" y="10533136"/>
                <a:ext cx="980122" cy="366713"/>
              </a:xfrm>
              <a:prstGeom prst="rect">
                <a:avLst/>
              </a:prstGeom>
            </p:spPr>
          </p:pic>
        </p:grpSp>
      </p:grpSp>
      <p:sp>
        <p:nvSpPr>
          <p:cNvPr id="102" name="文本框 101">
            <a:extLst>
              <a:ext uri="{FF2B5EF4-FFF2-40B4-BE49-F238E27FC236}">
                <a16:creationId xmlns:a16="http://schemas.microsoft.com/office/drawing/2014/main" id="{BAA4DCFC-A729-4945-8368-CDDC57830C61}"/>
              </a:ext>
            </a:extLst>
          </p:cNvPr>
          <p:cNvSpPr txBox="1"/>
          <p:nvPr/>
        </p:nvSpPr>
        <p:spPr>
          <a:xfrm>
            <a:off x="6834565" y="12873156"/>
            <a:ext cx="9061195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ong-tail-aware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daptive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ebalancing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efinement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5" name="图形 104">
            <a:extLst>
              <a:ext uri="{FF2B5EF4-FFF2-40B4-BE49-F238E27FC236}">
                <a16:creationId xmlns:a16="http://schemas.microsoft.com/office/drawing/2014/main" id="{D9DBF763-466B-49EA-B3F0-F1F5301C4A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 flipH="1">
            <a:off x="13886696" y="11801860"/>
            <a:ext cx="411480" cy="685800"/>
          </a:xfrm>
          <a:prstGeom prst="rect">
            <a:avLst/>
          </a:prstGeom>
        </p:spPr>
      </p:pic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1DCE7ADB-A8BE-4BFE-AA56-68E59839276E}"/>
              </a:ext>
            </a:extLst>
          </p:cNvPr>
          <p:cNvCxnSpPr>
            <a:cxnSpLocks/>
          </p:cNvCxnSpPr>
          <p:nvPr/>
        </p:nvCxnSpPr>
        <p:spPr>
          <a:xfrm>
            <a:off x="13649504" y="10688736"/>
            <a:ext cx="0" cy="465633"/>
          </a:xfrm>
          <a:prstGeom prst="straightConnector1">
            <a:avLst/>
          </a:prstGeom>
          <a:solidFill>
            <a:schemeClr val="lt1"/>
          </a:solidFill>
          <a:ln w="50800" cap="flat">
            <a:solidFill>
              <a:schemeClr val="dk1"/>
            </a:solidFill>
            <a:prstDash val="solid"/>
            <a:miter/>
            <a:headEnd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图片 108">
            <a:extLst>
              <a:ext uri="{FF2B5EF4-FFF2-40B4-BE49-F238E27FC236}">
                <a16:creationId xmlns:a16="http://schemas.microsoft.com/office/drawing/2014/main" id="{BCD2B533-4BCF-4112-A450-A1A58AE22E67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1635" y="6620647"/>
            <a:ext cx="7407364" cy="3513891"/>
          </a:xfrm>
          <a:prstGeom prst="rect">
            <a:avLst/>
          </a:prstGeom>
          <a:solidFill>
            <a:schemeClr val="lt1"/>
          </a:solidFill>
          <a:ln w="12700" cap="flat">
            <a:noFill/>
            <a:prstDash val="solid"/>
            <a:miter/>
          </a:ln>
        </p:spPr>
      </p:pic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BE88EAB1-9ED3-44C9-BD73-3D6219D4DF26}"/>
              </a:ext>
            </a:extLst>
          </p:cNvPr>
          <p:cNvSpPr/>
          <p:nvPr/>
        </p:nvSpPr>
        <p:spPr>
          <a:xfrm>
            <a:off x="8321815" y="6620647"/>
            <a:ext cx="1511684" cy="3578730"/>
          </a:xfrm>
          <a:prstGeom prst="roundRect">
            <a:avLst/>
          </a:prstGeom>
          <a:noFill/>
          <a:ln w="38100" cap="flat" cmpd="sng" algn="ctr">
            <a:solidFill>
              <a:srgbClr val="FFCC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35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C85284C3-9DD8-4AA8-9D63-4AEB390C38AD}"/>
              </a:ext>
            </a:extLst>
          </p:cNvPr>
          <p:cNvSpPr txBox="1"/>
          <p:nvPr/>
        </p:nvSpPr>
        <p:spPr>
          <a:xfrm>
            <a:off x="8146302" y="10279858"/>
            <a:ext cx="1862709" cy="42046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508FA0AC-AAB8-4667-B25F-17AFE7DFB413}"/>
              </a:ext>
            </a:extLst>
          </p:cNvPr>
          <p:cNvSpPr/>
          <p:nvPr/>
        </p:nvSpPr>
        <p:spPr>
          <a:xfrm>
            <a:off x="10610048" y="6620646"/>
            <a:ext cx="1511684" cy="3578730"/>
          </a:xfrm>
          <a:prstGeom prst="roundRect">
            <a:avLst/>
          </a:prstGeom>
          <a:noFill/>
          <a:ln w="38100" cap="flat" cmpd="sng" algn="ctr">
            <a:solidFill>
              <a:srgbClr val="FFCC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350"/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C116F4DA-1235-4A97-AAA3-F68222189831}"/>
              </a:ext>
            </a:extLst>
          </p:cNvPr>
          <p:cNvSpPr/>
          <p:nvPr/>
        </p:nvSpPr>
        <p:spPr>
          <a:xfrm>
            <a:off x="12898281" y="6620645"/>
            <a:ext cx="1511684" cy="3578730"/>
          </a:xfrm>
          <a:prstGeom prst="roundRect">
            <a:avLst/>
          </a:prstGeom>
          <a:noFill/>
          <a:ln w="38100" cap="flat" cmpd="sng" algn="ctr">
            <a:solidFill>
              <a:srgbClr val="FFCC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135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AB30DC9-2A92-4D96-83D8-B3F62CACF513}"/>
              </a:ext>
            </a:extLst>
          </p:cNvPr>
          <p:cNvSpPr txBox="1"/>
          <p:nvPr/>
        </p:nvSpPr>
        <p:spPr>
          <a:xfrm>
            <a:off x="10434535" y="10238657"/>
            <a:ext cx="1862709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Target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</a:t>
            </a: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10386CB5-8186-4965-8807-8BD47CA008AD}"/>
              </a:ext>
            </a:extLst>
          </p:cNvPr>
          <p:cNvSpPr txBox="1"/>
          <p:nvPr/>
        </p:nvSpPr>
        <p:spPr>
          <a:xfrm>
            <a:off x="12722768" y="10279858"/>
            <a:ext cx="1862709" cy="42046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Adjacent</a:t>
            </a:r>
            <a:r>
              <a:rPr lang="zh-CN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5ED7F7B0-676B-42E8-AC06-7377AD4EF450}"/>
              </a:ext>
            </a:extLst>
          </p:cNvPr>
          <p:cNvSpPr/>
          <p:nvPr/>
        </p:nvSpPr>
        <p:spPr>
          <a:xfrm>
            <a:off x="7178491" y="11202502"/>
            <a:ext cx="2887707" cy="464464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Observed Statistics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2DFE3909-9AA6-4C91-AC09-CE733F9F4768}"/>
              </a:ext>
            </a:extLst>
          </p:cNvPr>
          <p:cNvSpPr/>
          <p:nvPr/>
        </p:nvSpPr>
        <p:spPr>
          <a:xfrm>
            <a:off x="11511616" y="11202502"/>
            <a:ext cx="2887707" cy="464464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Calibration Statistics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7D39EB32-C9B2-4BE2-8ADE-DA15166D7FAC}"/>
              </a:ext>
            </a:extLst>
          </p:cNvPr>
          <p:cNvSpPr txBox="1"/>
          <p:nvPr/>
        </p:nvSpPr>
        <p:spPr>
          <a:xfrm>
            <a:off x="8717516" y="12174453"/>
            <a:ext cx="2650085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Calibration: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4" name="图形 103">
            <a:extLst>
              <a:ext uri="{FF2B5EF4-FFF2-40B4-BE49-F238E27FC236}">
                <a16:creationId xmlns:a16="http://schemas.microsoft.com/office/drawing/2014/main" id="{F6451AFA-4DC7-49A5-BC4E-A9A246DAD4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8146297" y="11801860"/>
            <a:ext cx="411480" cy="685800"/>
          </a:xfrm>
          <a:prstGeom prst="rect">
            <a:avLst/>
          </a:prstGeom>
        </p:spPr>
      </p:pic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4A6C94E2-EE47-4D91-B573-EE5E53F62A16}"/>
              </a:ext>
            </a:extLst>
          </p:cNvPr>
          <p:cNvCxnSpPr>
            <a:cxnSpLocks/>
          </p:cNvCxnSpPr>
          <p:nvPr/>
        </p:nvCxnSpPr>
        <p:spPr>
          <a:xfrm>
            <a:off x="9052358" y="10688736"/>
            <a:ext cx="0" cy="465633"/>
          </a:xfrm>
          <a:prstGeom prst="straightConnector1">
            <a:avLst/>
          </a:prstGeom>
          <a:solidFill>
            <a:schemeClr val="lt1"/>
          </a:solidFill>
          <a:ln w="50800" cap="flat">
            <a:solidFill>
              <a:schemeClr val="dk1"/>
            </a:solidFill>
            <a:prstDash val="solid"/>
            <a:miter/>
            <a:headEnd w="med" len="lg"/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图形 107" descr="\documentclass{article}&#10;\usepackage{amsmath}&#10;\pagestyle{empty}&#10;\begin{document}&#10;&#10;$Z$&#10;&#10;\end{document}" title="IguanaTex Shape Display">
            <a:extLst>
              <a:ext uri="{FF2B5EF4-FFF2-40B4-BE49-F238E27FC236}">
                <a16:creationId xmlns:a16="http://schemas.microsoft.com/office/drawing/2014/main" id="{CFA5DCC5-E8A3-4346-B0E9-CD0CCF63483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11250863" y="10796228"/>
            <a:ext cx="228600" cy="205740"/>
          </a:xfrm>
          <a:prstGeom prst="rect">
            <a:avLst/>
          </a:prstGeom>
        </p:spPr>
      </p:pic>
      <p:grpSp>
        <p:nvGrpSpPr>
          <p:cNvPr id="95" name="组合 94">
            <a:extLst>
              <a:ext uri="{FF2B5EF4-FFF2-40B4-BE49-F238E27FC236}">
                <a16:creationId xmlns:a16="http://schemas.microsoft.com/office/drawing/2014/main" id="{2B9FD034-A943-4171-87C8-EB2A591B3C12}"/>
              </a:ext>
            </a:extLst>
          </p:cNvPr>
          <p:cNvGrpSpPr/>
          <p:nvPr/>
        </p:nvGrpSpPr>
        <p:grpSpPr>
          <a:xfrm>
            <a:off x="9992894" y="11286497"/>
            <a:ext cx="5491491" cy="1429762"/>
            <a:chOff x="12810633" y="8267975"/>
            <a:chExt cx="5491491" cy="1429762"/>
          </a:xfrm>
        </p:grpSpPr>
        <p:pic>
          <p:nvPicPr>
            <p:cNvPr id="96" name="图形 95" descr="\documentclass{article}&#10;\usepackage{amsmath}&#10;\pagestyle{empty}&#10;\usepackage[scr=boondox,cal=esstix]{mathalpha}&#10;\begin{document}&#10;&#10;$ \widetilde{\sigma}_{\mathcal{b}} \left( \frac{Z - \mu_{\mathcal{b}}}{\sigma_{\mathcal{b}}} \right) + \widetilde{\mu}_{\mathcal{b}}$&#10;&#10;\end{document}" title="IguanaTex Shape Display">
              <a:extLst>
                <a:ext uri="{FF2B5EF4-FFF2-40B4-BE49-F238E27FC236}">
                  <a16:creationId xmlns:a16="http://schemas.microsoft.com/office/drawing/2014/main" id="{EEC0DC5F-70A8-4DF6-86D5-A623DEB9952D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14348838" y="9149097"/>
              <a:ext cx="2034540" cy="548640"/>
            </a:xfrm>
            <a:prstGeom prst="rect">
              <a:avLst/>
            </a:prstGeom>
          </p:spPr>
        </p:pic>
        <p:pic>
          <p:nvPicPr>
            <p:cNvPr id="97" name="图形 96" descr="\documentclass{article}&#10;\usepackage{amsmath}&#10;\pagestyle{empty}&#10;\usepackage[scr=boondox,cal=esstix]{mathalpha}&#10;\begin{document}&#10;&#10;$\{ \mu_{\mathcal{b}}, \sigma_{\mathcal{b}} \}$&#10;&#10;\end{document}" title="IguanaTex Shape Display">
              <a:extLst>
                <a:ext uri="{FF2B5EF4-FFF2-40B4-BE49-F238E27FC236}">
                  <a16:creationId xmlns:a16="http://schemas.microsoft.com/office/drawing/2014/main" id="{FF514E55-7072-49FB-82B8-A039366A4C55}"/>
                </a:ext>
              </a:extLst>
            </p:cNvPr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5"/>
                </a:ext>
              </a:extLst>
            </a:blip>
            <a:stretch>
              <a:fillRect/>
            </a:stretch>
          </p:blipFill>
          <p:spPr>
            <a:xfrm>
              <a:off x="12810633" y="8272830"/>
              <a:ext cx="1074420" cy="297180"/>
            </a:xfrm>
            <a:prstGeom prst="rect">
              <a:avLst/>
            </a:prstGeom>
          </p:spPr>
        </p:pic>
        <p:pic>
          <p:nvPicPr>
            <p:cNvPr id="98" name="图形 97" descr="\documentclass{article}&#10;\usepackage{amsmath}&#10;\pagestyle{empty}&#10;\usepackage[scr=boondox,cal=esstix]{mathalpha}&#10;\begin{document}&#10;&#10;$\{ \widetilde{\mu}_{\mathcal{b}}, \widetilde{\sigma}_{\mathcal{b}} \}$&#10;&#10;\end{document}" title="IguanaTex Shape Display">
              <a:extLst>
                <a:ext uri="{FF2B5EF4-FFF2-40B4-BE49-F238E27FC236}">
                  <a16:creationId xmlns:a16="http://schemas.microsoft.com/office/drawing/2014/main" id="{B9DD689D-4DD1-4C17-98D8-58540EDBB60B}"/>
                </a:ext>
              </a:extLst>
            </p:cNvPr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6"/>
                </a:ext>
              </a:extLst>
            </a:blip>
            <a:stretch>
              <a:fillRect/>
            </a:stretch>
          </p:blipFill>
          <p:spPr>
            <a:xfrm>
              <a:off x="17227704" y="8267975"/>
              <a:ext cx="1074420" cy="297180"/>
            </a:xfrm>
            <a:prstGeom prst="rect">
              <a:avLst/>
            </a:prstGeom>
          </p:spPr>
        </p:pic>
      </p:grp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BC3B97B-BBC0-49E0-A272-1E6EB8AD3200}"/>
              </a:ext>
            </a:extLst>
          </p:cNvPr>
          <p:cNvSpPr txBox="1"/>
          <p:nvPr/>
        </p:nvSpPr>
        <p:spPr>
          <a:xfrm>
            <a:off x="-7926232" y="12503824"/>
            <a:ext cx="5463479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MCRDR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anifold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ontraction-based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obust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egradation </a:t>
            </a:r>
            <a:r>
              <a: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epresentation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EB362737-3D8D-428A-ACAE-3DA4B0A2F692}"/>
              </a:ext>
            </a:extLst>
          </p:cNvPr>
          <p:cNvSpPr txBox="1"/>
          <p:nvPr/>
        </p:nvSpPr>
        <p:spPr>
          <a:xfrm>
            <a:off x="-6724719" y="6644564"/>
            <a:ext cx="3060454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Bottleneck</a:t>
            </a:r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2D4EDB90-DBF9-4224-B7D9-FB041882E483}"/>
              </a:ext>
            </a:extLst>
          </p:cNvPr>
          <p:cNvSpPr txBox="1"/>
          <p:nvPr/>
        </p:nvSpPr>
        <p:spPr>
          <a:xfrm>
            <a:off x="-8395691" y="7209689"/>
            <a:ext cx="2028119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Degradation</a:t>
            </a:r>
          </a:p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92A44D2C-E387-478E-9391-694B7E859AD4}"/>
              </a:ext>
            </a:extLst>
          </p:cNvPr>
          <p:cNvSpPr txBox="1"/>
          <p:nvPr/>
        </p:nvSpPr>
        <p:spPr>
          <a:xfrm>
            <a:off x="-3747949" y="7209689"/>
            <a:ext cx="1645099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</a:t>
            </a:r>
          </a:p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0" name="组合 139">
            <a:extLst>
              <a:ext uri="{FF2B5EF4-FFF2-40B4-BE49-F238E27FC236}">
                <a16:creationId xmlns:a16="http://schemas.microsoft.com/office/drawing/2014/main" id="{E696154C-C4EB-4315-9279-11E3AEF5FD36}"/>
              </a:ext>
            </a:extLst>
          </p:cNvPr>
          <p:cNvGrpSpPr>
            <a:grpSpLocks noChangeAspect="1"/>
          </p:cNvGrpSpPr>
          <p:nvPr/>
        </p:nvGrpSpPr>
        <p:grpSpPr>
          <a:xfrm>
            <a:off x="-6109200" y="7321935"/>
            <a:ext cx="1993436" cy="407503"/>
            <a:chOff x="1338943" y="1327378"/>
            <a:chExt cx="7764234" cy="1731509"/>
          </a:xfrm>
        </p:grpSpPr>
        <p:pic>
          <p:nvPicPr>
            <p:cNvPr id="151" name="图形 150">
              <a:extLst>
                <a:ext uri="{FF2B5EF4-FFF2-40B4-BE49-F238E27FC236}">
                  <a16:creationId xmlns:a16="http://schemas.microsoft.com/office/drawing/2014/main" id="{2C1E9A6F-64B5-41BA-8F06-BD4237C1C5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/>
            </a:stretch>
          </p:blipFill>
          <p:spPr>
            <a:xfrm rot="5400000">
              <a:off x="4905033" y="-2238712"/>
              <a:ext cx="632053" cy="7764234"/>
            </a:xfrm>
            <a:prstGeom prst="rect">
              <a:avLst/>
            </a:prstGeom>
          </p:spPr>
        </p:pic>
        <p:pic>
          <p:nvPicPr>
            <p:cNvPr id="152" name="图形 151">
              <a:extLst>
                <a:ext uri="{FF2B5EF4-FFF2-40B4-BE49-F238E27FC236}">
                  <a16:creationId xmlns:a16="http://schemas.microsoft.com/office/drawing/2014/main" id="{89F8C1BD-4D8B-4506-A954-8FF8CDB226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/>
            </a:stretch>
          </p:blipFill>
          <p:spPr>
            <a:xfrm rot="16200000">
              <a:off x="4905033" y="-1139256"/>
              <a:ext cx="632053" cy="7764233"/>
            </a:xfrm>
            <a:prstGeom prst="rect">
              <a:avLst/>
            </a:prstGeom>
          </p:spPr>
        </p:pic>
      </p:grpSp>
      <p:sp>
        <p:nvSpPr>
          <p:cNvPr id="141" name="矩形 140">
            <a:extLst>
              <a:ext uri="{FF2B5EF4-FFF2-40B4-BE49-F238E27FC236}">
                <a16:creationId xmlns:a16="http://schemas.microsoft.com/office/drawing/2014/main" id="{72CD4010-E025-4B72-AEFA-A870141C8868}"/>
              </a:ext>
            </a:extLst>
          </p:cNvPr>
          <p:cNvSpPr/>
          <p:nvPr/>
        </p:nvSpPr>
        <p:spPr>
          <a:xfrm>
            <a:off x="-8868508" y="11603264"/>
            <a:ext cx="7512050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Towards Well-generalizing Degradation Representation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22D0BC17-8BB6-4A73-BAA9-7844C3DB3AF4}"/>
              </a:ext>
            </a:extLst>
          </p:cNvPr>
          <p:cNvSpPr txBox="1"/>
          <p:nvPr/>
        </p:nvSpPr>
        <p:spPr>
          <a:xfrm>
            <a:off x="-4579780" y="10158589"/>
            <a:ext cx="2635658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Reducing Manifold</a:t>
            </a:r>
          </a:p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Intrinsic Dimension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DF97D574-3CEE-45D6-B7F7-82EBA092E9A2}"/>
              </a:ext>
            </a:extLst>
          </p:cNvPr>
          <p:cNvSpPr txBox="1"/>
          <p:nvPr/>
        </p:nvSpPr>
        <p:spPr>
          <a:xfrm>
            <a:off x="-8482340" y="10158591"/>
            <a:ext cx="3039615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Topologically Aligning</a:t>
            </a:r>
          </a:p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Target Space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4" name="图形 143">
            <a:extLst>
              <a:ext uri="{FF2B5EF4-FFF2-40B4-BE49-F238E27FC236}">
                <a16:creationId xmlns:a16="http://schemas.microsoft.com/office/drawing/2014/main" id="{284C1977-8DE7-44B0-A71B-CA218D2446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 rot="10800000">
            <a:off x="-5603661" y="10833387"/>
            <a:ext cx="982358" cy="721733"/>
          </a:xfrm>
          <a:prstGeom prst="rect">
            <a:avLst/>
          </a:prstGeom>
        </p:spPr>
      </p:pic>
      <p:pic>
        <p:nvPicPr>
          <p:cNvPr id="145" name="图形 144">
            <a:extLst>
              <a:ext uri="{FF2B5EF4-FFF2-40B4-BE49-F238E27FC236}">
                <a16:creationId xmlns:a16="http://schemas.microsoft.com/office/drawing/2014/main" id="{02635F8C-CB38-4CC4-9086-321BF4714F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 rot="10800000" flipH="1">
            <a:off x="-7976966" y="8239431"/>
            <a:ext cx="902165" cy="1503609"/>
          </a:xfrm>
          <a:prstGeom prst="rect">
            <a:avLst/>
          </a:prstGeom>
        </p:spPr>
      </p:pic>
      <p:pic>
        <p:nvPicPr>
          <p:cNvPr id="146" name="图形 145">
            <a:extLst>
              <a:ext uri="{FF2B5EF4-FFF2-40B4-BE49-F238E27FC236}">
                <a16:creationId xmlns:a16="http://schemas.microsoft.com/office/drawing/2014/main" id="{62BDCE25-57CF-4B99-9863-CAF582236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 flipH="1">
            <a:off x="-3019185" y="8237983"/>
            <a:ext cx="902165" cy="1503609"/>
          </a:xfrm>
          <a:prstGeom prst="rect">
            <a:avLst/>
          </a:prstGeom>
        </p:spPr>
      </p:pic>
      <p:pic>
        <p:nvPicPr>
          <p:cNvPr id="147" name="图形 146" descr="\documentclass{article}&#10;\usepackage{amsmath}&#10;\pagestyle{empty}&#10;\begin{document}&#10;&#10;$\mathcal{Z}$&#10;&#10;&#10;\end{document}" title="IguanaTex Shape Display">
            <a:extLst>
              <a:ext uri="{FF2B5EF4-FFF2-40B4-BE49-F238E27FC236}">
                <a16:creationId xmlns:a16="http://schemas.microsoft.com/office/drawing/2014/main" id="{EA5949EB-263F-4F65-AE4D-CF3005D272F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-6882846" y="8090253"/>
            <a:ext cx="367549" cy="300722"/>
          </a:xfrm>
          <a:prstGeom prst="rect">
            <a:avLst/>
          </a:prstGeom>
        </p:spPr>
      </p:pic>
      <p:pic>
        <p:nvPicPr>
          <p:cNvPr id="148" name="图形 147" descr="\documentclass{article}&#10;\usepackage{amsmath}&#10;\pagestyle{empty}&#10;\begin{document}&#10;&#10;$\mathcal{M}_{\mathcal{Z}}$&#10;&#10;\end{document}" title="IguanaTex Shape Display">
            <a:extLst>
              <a:ext uri="{FF2B5EF4-FFF2-40B4-BE49-F238E27FC236}">
                <a16:creationId xmlns:a16="http://schemas.microsoft.com/office/drawing/2014/main" id="{B0F5DEEB-6227-4DD7-A230-DFFAC88BD7FD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-3613268" y="8116186"/>
            <a:ext cx="641540" cy="294039"/>
          </a:xfrm>
          <a:prstGeom prst="rect">
            <a:avLst/>
          </a:prstGeom>
        </p:spPr>
      </p:pic>
      <p:pic>
        <p:nvPicPr>
          <p:cNvPr id="149" name="图形 148" descr="\documentclass{article}&#10;\usepackage{amsmath}&#10;\pagestyle{empty}&#10;\begin{document}&#10;&#10;$\mathop{\min}\limits_{\mathcal{Z}}ID(\mathcal{\mathcal{M}_{\mathcal{Z}}})$&#10;&#10;\end{document}" title="IguanaTex Shape Display">
            <a:extLst>
              <a:ext uri="{FF2B5EF4-FFF2-40B4-BE49-F238E27FC236}">
                <a16:creationId xmlns:a16="http://schemas.microsoft.com/office/drawing/2014/main" id="{DD78C833-5C57-4BA0-964F-25211091ED88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-4909076" y="9737987"/>
            <a:ext cx="2085004" cy="507886"/>
          </a:xfrm>
          <a:prstGeom prst="rect">
            <a:avLst/>
          </a:prstGeom>
        </p:spPr>
      </p:pic>
      <p:pic>
        <p:nvPicPr>
          <p:cNvPr id="150" name="图形 149" descr="\documentclass{article}&#10;\usepackage{amsmath}&#10;\pagestyle{empty}&#10;\begin{document}&#10;&#10;$\mathcal{M}_{\mathcal{Z}} \cong \mathcal{M}_{\mathcal{Y}}$&#10;&#10;\end{document}" title="IguanaTex Shape Display">
            <a:extLst>
              <a:ext uri="{FF2B5EF4-FFF2-40B4-BE49-F238E27FC236}">
                <a16:creationId xmlns:a16="http://schemas.microsoft.com/office/drawing/2014/main" id="{B36DB4E8-9B44-4106-969A-1436D980AAB6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-7525802" y="9746924"/>
            <a:ext cx="1790965" cy="320770"/>
          </a:xfrm>
          <a:prstGeom prst="rect">
            <a:avLst/>
          </a:prstGeom>
        </p:spPr>
      </p:pic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28E339FC-97E5-47EC-A31E-396DA6C10173}"/>
              </a:ext>
            </a:extLst>
          </p:cNvPr>
          <p:cNvSpPr/>
          <p:nvPr/>
        </p:nvSpPr>
        <p:spPr>
          <a:xfrm>
            <a:off x="312255" y="4923952"/>
            <a:ext cx="2507955" cy="79206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Mamba Block</a:t>
            </a:r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DC9DC25-0E31-4EBF-B676-2CAEFE83D32C}"/>
                  </a:ext>
                </a:extLst>
              </p:cNvPr>
              <p:cNvSpPr/>
              <p:nvPr/>
            </p:nvSpPr>
            <p:spPr>
              <a:xfrm>
                <a:off x="4215010" y="5034636"/>
                <a:ext cx="1104632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240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zh-CN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zh-CN" altLang="en-US" sz="2400" i="1">
                              <a:latin typeface="Cambria Math" panose="02040503050406030204" pitchFamily="18" charset="0"/>
                            </a:rPr>
                            <m:t>𝑒𝑛𝑐</m:t>
                          </m:r>
                        </m:sub>
                      </m:sSub>
                    </m:oMath>
                  </m:oMathPara>
                </a14:m>
                <a:endParaRPr lang="zh-CN" altLang="en-US" sz="2400" dirty="0"/>
              </a:p>
            </p:txBody>
          </p:sp>
        </mc:Choice>
        <mc:Fallback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0DC9DC25-0E31-4EBF-B676-2CAEFE83D3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5010" y="5034636"/>
                <a:ext cx="1104632" cy="461665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0266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>
            <a:extLst>
              <a:ext uri="{FF2B5EF4-FFF2-40B4-BE49-F238E27FC236}">
                <a16:creationId xmlns:a16="http://schemas.microsoft.com/office/drawing/2014/main" id="{894AED33-8603-8C27-AA48-98F9BACE28DD}"/>
              </a:ext>
            </a:extLst>
          </p:cNvPr>
          <p:cNvGrpSpPr/>
          <p:nvPr/>
        </p:nvGrpSpPr>
        <p:grpSpPr>
          <a:xfrm>
            <a:off x="-8868343" y="-594811"/>
            <a:ext cx="24428917" cy="6310823"/>
            <a:chOff x="-8868343" y="-594811"/>
            <a:chExt cx="24428917" cy="6310823"/>
          </a:xfrm>
        </p:grpSpPr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66AC285E-0E29-5654-65C1-52F7CF2465C2}"/>
                </a:ext>
              </a:extLst>
            </p:cNvPr>
            <p:cNvSpPr/>
            <p:nvPr/>
          </p:nvSpPr>
          <p:spPr>
            <a:xfrm rot="16200000">
              <a:off x="8288395" y="946026"/>
              <a:ext cx="3132000" cy="1544820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LARR </a:t>
              </a:r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</a:t>
              </a:r>
              <a:endParaRPr lang="en-US" altLang="zh-CN" sz="28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（用于退化</a:t>
              </a:r>
              <a:endParaRPr lang="en-US" altLang="zh-CN" sz="28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轨迹跟踪）</a:t>
              </a: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3A739169-2D6B-56A7-11C0-DC04B3FA4D99}"/>
                </a:ext>
              </a:extLst>
            </p:cNvPr>
            <p:cNvSpPr/>
            <p:nvPr/>
          </p:nvSpPr>
          <p:spPr>
            <a:xfrm rot="16200000">
              <a:off x="6219475" y="1323441"/>
              <a:ext cx="2670206" cy="738750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UDFS </a:t>
              </a:r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</a:t>
              </a: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56497228-8816-D17D-91B9-96F3409CA997}"/>
                </a:ext>
              </a:extLst>
            </p:cNvPr>
            <p:cNvSpPr/>
            <p:nvPr/>
          </p:nvSpPr>
          <p:spPr>
            <a:xfrm rot="16200000">
              <a:off x="-7941288" y="1323441"/>
              <a:ext cx="4279900" cy="738751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8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启发式信号重构</a:t>
              </a:r>
            </a:p>
          </p:txBody>
        </p:sp>
        <p:sp>
          <p:nvSpPr>
            <p:cNvPr id="8" name="梯形 7">
              <a:extLst>
                <a:ext uri="{FF2B5EF4-FFF2-40B4-BE49-F238E27FC236}">
                  <a16:creationId xmlns:a16="http://schemas.microsoft.com/office/drawing/2014/main" id="{5FC43527-C8E4-DF3E-42C5-0FC058818D5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4197426" y="3789227"/>
              <a:ext cx="2195513" cy="526295"/>
            </a:xfrm>
            <a:prstGeom prst="trapezoid">
              <a:avLst>
                <a:gd name="adj" fmla="val 90633"/>
              </a:avLst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F2498C02-818B-5524-3047-5680866ED6D6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1703591" y="3782387"/>
              <a:ext cx="1382668" cy="5288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25400">
              <a:solidFill>
                <a:schemeClr val="accent6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SiLU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97135856-7B89-CF5E-FAB4-9F4196183368}"/>
                </a:ext>
              </a:extLst>
            </p:cNvPr>
            <p:cNvCxnSpPr>
              <a:cxnSpLocks noChangeAspect="1"/>
              <a:stCxn id="8" idx="2"/>
              <a:endCxn id="9" idx="0"/>
            </p:cNvCxnSpPr>
            <p:nvPr/>
          </p:nvCxnSpPr>
          <p:spPr>
            <a:xfrm flipV="1">
              <a:off x="-2836520" y="4046828"/>
              <a:ext cx="1559824" cy="5544"/>
            </a:xfrm>
            <a:prstGeom prst="line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EAE85CAE-90FE-22A2-3328-05FEE1458D94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-5363941" y="1666724"/>
              <a:ext cx="12549144" cy="45633"/>
            </a:xfrm>
            <a:prstGeom prst="straightConnector1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  <a:headEnd type="none" w="sm" len="lg"/>
              <a:tailEnd type="triangle" w="sm" len="lg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cxnSp>
        <p:sp>
          <p:nvSpPr>
            <p:cNvPr id="12" name="流程图: 接点 11">
              <a:extLst>
                <a:ext uri="{FF2B5EF4-FFF2-40B4-BE49-F238E27FC236}">
                  <a16:creationId xmlns:a16="http://schemas.microsoft.com/office/drawing/2014/main" id="{916177A6-7359-E620-A644-B6247D0CB8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52762" y="1437859"/>
              <a:ext cx="533503" cy="533503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4937A728-5278-8AAB-0C9D-E187D82327B8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1228908" y="1150884"/>
                  <a:ext cx="585760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zh-CN" altLang="en-US" sz="6000" b="1" i="0" smtClean="0">
                            <a:latin typeface="Cambria Math" panose="02040503050406030204" pitchFamily="18" charset="0"/>
                          </a:rPr>
                          <m:t>⋅</m:t>
                        </m:r>
                      </m:oMath>
                    </m:oMathPara>
                  </a14:m>
                  <a:endParaRPr lang="zh-CN" altLang="en-US" sz="60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4937A728-5278-8AAB-0C9D-E187D82327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8908" y="1150884"/>
                  <a:ext cx="585760" cy="101566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流程图: 接点 13">
              <a:extLst>
                <a:ext uri="{FF2B5EF4-FFF2-40B4-BE49-F238E27FC236}">
                  <a16:creationId xmlns:a16="http://schemas.microsoft.com/office/drawing/2014/main" id="{D95F8388-3DEA-CC75-FE80-FDD9E19F5A4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08185" y="1432773"/>
              <a:ext cx="533503" cy="533503"/>
            </a:xfrm>
            <a:prstGeom prst="flowChartConnector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梯形 14">
              <a:extLst>
                <a:ext uri="{FF2B5EF4-FFF2-40B4-BE49-F238E27FC236}">
                  <a16:creationId xmlns:a16="http://schemas.microsoft.com/office/drawing/2014/main" id="{E75BEF33-0413-D5B2-0B88-54AD7E8E7E35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1667761" y="1441786"/>
              <a:ext cx="2181672" cy="522978"/>
            </a:xfrm>
            <a:prstGeom prst="trapezoid">
              <a:avLst>
                <a:gd name="adj" fmla="val 90633"/>
              </a:avLst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endParaRPr lang="en-US" altLang="zh-CN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梯形 15">
              <a:extLst>
                <a:ext uri="{FF2B5EF4-FFF2-40B4-BE49-F238E27FC236}">
                  <a16:creationId xmlns:a16="http://schemas.microsoft.com/office/drawing/2014/main" id="{C78344EB-A48D-9B81-CD16-318356029E65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4214010" y="1424099"/>
              <a:ext cx="2181672" cy="522978"/>
            </a:xfrm>
            <a:prstGeom prst="trapezoid">
              <a:avLst>
                <a:gd name="adj" fmla="val 90633"/>
              </a:avLst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75811C6A-6CBD-B07D-C3AF-EF2B1CACE2C7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3257237" y="1370159"/>
              <a:ext cx="2199359" cy="648545"/>
            </a:xfrm>
            <a:prstGeom prst="roundRect">
              <a:avLst/>
            </a:prstGeom>
            <a:solidFill>
              <a:srgbClr val="F7DED6"/>
            </a:solidFill>
            <a:ln w="25400">
              <a:solidFill>
                <a:srgbClr val="FFCCCC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Conv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860C7CD5-188B-1A81-2E88-0808F5604F5B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812469" y="1102054"/>
              <a:ext cx="2166042" cy="1144975"/>
            </a:xfrm>
            <a:prstGeom prst="roundRect">
              <a:avLst/>
            </a:prstGeom>
            <a:solidFill>
              <a:srgbClr val="C6C6DE"/>
            </a:solidFill>
            <a:ln w="25400">
              <a:solidFill>
                <a:srgbClr val="9999FF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Selective</a:t>
              </a:r>
            </a:p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SSM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0F71C16C-A6AF-6493-A44C-B836649116DB}"/>
                    </a:ext>
                  </a:extLst>
                </p:cNvPr>
                <p:cNvSpPr txBox="1">
                  <a:spLocks noChangeAspect="1"/>
                </p:cNvSpPr>
                <p:nvPr/>
              </p:nvSpPr>
              <p:spPr>
                <a:xfrm>
                  <a:off x="3713336" y="1440647"/>
                  <a:ext cx="723203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2400" b="1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zh-CN" altLang="en-US" sz="2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0F71C16C-A6AF-6493-A44C-B836649116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3336" y="1440647"/>
                  <a:ext cx="723203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矩形: 圆角 19">
              <a:extLst>
                <a:ext uri="{FF2B5EF4-FFF2-40B4-BE49-F238E27FC236}">
                  <a16:creationId xmlns:a16="http://schemas.microsoft.com/office/drawing/2014/main" id="{C8A79366-3924-7C9E-8BE5-58B1423F852A}"/>
                </a:ext>
              </a:extLst>
            </p:cNvPr>
            <p:cNvSpPr>
              <a:spLocks noChangeAspect="1"/>
            </p:cNvSpPr>
            <p:nvPr/>
          </p:nvSpPr>
          <p:spPr>
            <a:xfrm rot="16200000">
              <a:off x="-1703591" y="1433424"/>
              <a:ext cx="1382668" cy="52888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25400">
              <a:solidFill>
                <a:schemeClr val="accent6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en-US" altLang="zh-CN" sz="2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SiLU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C2C7778-202F-5B2A-4451-4E2835E378D8}"/>
                </a:ext>
              </a:extLst>
            </p:cNvPr>
            <p:cNvSpPr txBox="1">
              <a:spLocks noChangeAspect="1"/>
            </p:cNvSpPr>
            <p:nvPr/>
          </p:nvSpPr>
          <p:spPr>
            <a:xfrm rot="16200000">
              <a:off x="1758089" y="1435890"/>
              <a:ext cx="1986193" cy="4616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80C607A5-0025-A9D8-9979-365F89321EEA}"/>
                </a:ext>
              </a:extLst>
            </p:cNvPr>
            <p:cNvSpPr/>
            <p:nvPr/>
          </p:nvSpPr>
          <p:spPr>
            <a:xfrm rot="16200000">
              <a:off x="4784609" y="1305166"/>
              <a:ext cx="2202923" cy="73875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>
              <a:solidFill>
                <a:schemeClr val="accent4">
                  <a:lumMod val="60000"/>
                  <a:lumOff val="40000"/>
                </a:schemeClr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RMSNorm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E06A6464-ABE3-9EF3-4A12-D4E0EE9E8EFC}"/>
                </a:ext>
              </a:extLst>
            </p:cNvPr>
            <p:cNvCxnSpPr>
              <a:cxnSpLocks/>
            </p:cNvCxnSpPr>
            <p:nvPr/>
          </p:nvCxnSpPr>
          <p:spPr>
            <a:xfrm>
              <a:off x="7947256" y="1709935"/>
              <a:ext cx="1116389" cy="242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连接符: 肘形 23">
              <a:extLst>
                <a:ext uri="{FF2B5EF4-FFF2-40B4-BE49-F238E27FC236}">
                  <a16:creationId xmlns:a16="http://schemas.microsoft.com/office/drawing/2014/main" id="{52B47101-5CB3-2B52-582C-68DBE4BB5F82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 rot="16200000" flipH="1">
              <a:off x="-5296724" y="2118467"/>
              <a:ext cx="2380368" cy="1487446"/>
            </a:xfrm>
            <a:prstGeom prst="bentConnector2">
              <a:avLst/>
            </a:prstGeom>
            <a:ln w="38100">
              <a:solidFill>
                <a:schemeClr val="tx1"/>
              </a:solidFill>
              <a:round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4">
              <a:extLst>
                <a:ext uri="{FF2B5EF4-FFF2-40B4-BE49-F238E27FC236}">
                  <a16:creationId xmlns:a16="http://schemas.microsoft.com/office/drawing/2014/main" id="{2F57B1D1-A1E2-79C0-41A0-BEB5FFD37CF8}"/>
                </a:ext>
              </a:extLst>
            </p:cNvPr>
            <p:cNvCxnSpPr>
              <a:cxnSpLocks/>
              <a:stCxn id="9" idx="2"/>
            </p:cNvCxnSpPr>
            <p:nvPr/>
          </p:nvCxnSpPr>
          <p:spPr>
            <a:xfrm flipV="1">
              <a:off x="-747816" y="1986936"/>
              <a:ext cx="2269604" cy="2059892"/>
            </a:xfrm>
            <a:prstGeom prst="bentConnector3">
              <a:avLst>
                <a:gd name="adj1" fmla="val 99951"/>
              </a:avLst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连接符: 肘形 25">
              <a:extLst>
                <a:ext uri="{FF2B5EF4-FFF2-40B4-BE49-F238E27FC236}">
                  <a16:creationId xmlns:a16="http://schemas.microsoft.com/office/drawing/2014/main" id="{0A1587FC-3A74-BFC2-D85D-65836B4E739C}"/>
                </a:ext>
              </a:extLst>
            </p:cNvPr>
            <p:cNvCxnSpPr>
              <a:cxnSpLocks/>
              <a:endCxn id="19" idx="0"/>
            </p:cNvCxnSpPr>
            <p:nvPr/>
          </p:nvCxnSpPr>
          <p:spPr>
            <a:xfrm flipV="1">
              <a:off x="-4469263" y="1440647"/>
              <a:ext cx="8544201" cy="233894"/>
            </a:xfrm>
            <a:prstGeom prst="bentConnector4">
              <a:avLst>
                <a:gd name="adj1" fmla="val -1464"/>
                <a:gd name="adj2" fmla="val 724429"/>
              </a:avLst>
            </a:prstGeom>
            <a:ln w="38100">
              <a:solidFill>
                <a:schemeClr val="tx1"/>
              </a:solidFill>
              <a:prstDash val="dash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B385DF21-60EE-963A-2E0E-1DB469D67766}"/>
                </a:ext>
              </a:extLst>
            </p:cNvPr>
            <p:cNvSpPr/>
            <p:nvPr/>
          </p:nvSpPr>
          <p:spPr>
            <a:xfrm>
              <a:off x="-1664079" y="-318375"/>
              <a:ext cx="3506149" cy="56529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残差连接</a:t>
              </a:r>
            </a:p>
          </p:txBody>
        </p: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900665C4-814A-1997-E565-421FBD765FB8}"/>
                </a:ext>
              </a:extLst>
            </p:cNvPr>
            <p:cNvSpPr/>
            <p:nvPr/>
          </p:nvSpPr>
          <p:spPr>
            <a:xfrm>
              <a:off x="-5160630" y="-594811"/>
              <a:ext cx="9877699" cy="5920233"/>
            </a:xfrm>
            <a:prstGeom prst="roundRect">
              <a:avLst/>
            </a:prstGeom>
            <a:noFill/>
            <a:ln w="38100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b="1" dirty="0"/>
            </a:p>
          </p:txBody>
        </p:sp>
        <p:pic>
          <p:nvPicPr>
            <p:cNvPr id="29" name="图形 28" descr="\documentclass{article}&#10;\usepackage{amsmath}&#10;\usepackage{amssymb}&#10;\pagestyle{empty}&#10;\begin{document}&#10;&#10;\begin{align}&#10;&amp; \widetilde{X}_{Emb} \\&#10;&amp; \in \mathbb{R}^{d_{model} \times E}&#10;\end{align}&#10;&#10;\end{document}" title="IguanaTex Shape Display">
              <a:extLst>
                <a:ext uri="{FF2B5EF4-FFF2-40B4-BE49-F238E27FC236}">
                  <a16:creationId xmlns:a16="http://schemas.microsoft.com/office/drawing/2014/main" id="{0F8E97D5-89F7-C58B-1AC6-A8DCF3537AC6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 rotWithShape="1"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 r="66996"/>
            <a:stretch/>
          </p:blipFill>
          <p:spPr>
            <a:xfrm>
              <a:off x="-4835313" y="3207034"/>
              <a:ext cx="1678698" cy="723900"/>
            </a:xfrm>
            <a:prstGeom prst="rect">
              <a:avLst/>
            </a:prstGeom>
          </p:spPr>
        </p:pic>
        <p:pic>
          <p:nvPicPr>
            <p:cNvPr id="30" name="图形 29" descr="\documentclass{article}&#10;\usepackage{amsmath}&#10;\usepackage{amssymb}&#10;\pagestyle{empty}&#10;\begin{document}&#10;&#10;\begin{align}&#10;&amp; \widetilde{X}_{Emb} \\&#10;&amp; \in \mathbb{R}^{(d_{model} \times n_{exp}) \times E}&#10;\end{align}&#10;&#10;\end{document}" title="IguanaTex Shape Display">
              <a:extLst>
                <a:ext uri="{FF2B5EF4-FFF2-40B4-BE49-F238E27FC236}">
                  <a16:creationId xmlns:a16="http://schemas.microsoft.com/office/drawing/2014/main" id="{D9C1BA4B-1CB4-72CF-195F-5888EE20ED19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 rotWithShape="1"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 r="57923"/>
            <a:stretch/>
          </p:blipFill>
          <p:spPr>
            <a:xfrm>
              <a:off x="2337993" y="3208627"/>
              <a:ext cx="2292482" cy="742950"/>
            </a:xfrm>
            <a:prstGeom prst="rect">
              <a:avLst/>
            </a:prstGeom>
          </p:spPr>
        </p:pic>
        <p:pic>
          <p:nvPicPr>
            <p:cNvPr id="31" name="图形 30">
              <a:extLst>
                <a:ext uri="{FF2B5EF4-FFF2-40B4-BE49-F238E27FC236}">
                  <a16:creationId xmlns:a16="http://schemas.microsoft.com/office/drawing/2014/main" id="{BB7C88BB-CB6E-8735-8010-3FEA8E4854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flipH="1">
              <a:off x="3164482" y="1834869"/>
              <a:ext cx="685800" cy="1684020"/>
            </a:xfrm>
            <a:prstGeom prst="rect">
              <a:avLst/>
            </a:prstGeom>
          </p:spPr>
        </p:pic>
        <p:pic>
          <p:nvPicPr>
            <p:cNvPr id="32" name="图形 31">
              <a:extLst>
                <a:ext uri="{FF2B5EF4-FFF2-40B4-BE49-F238E27FC236}">
                  <a16:creationId xmlns:a16="http://schemas.microsoft.com/office/drawing/2014/main" id="{7ABF4D2E-5E93-95B9-4E6B-AB73978FA8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flipH="1">
              <a:off x="-4666852" y="1835475"/>
              <a:ext cx="685800" cy="1684020"/>
            </a:xfrm>
            <a:prstGeom prst="rect">
              <a:avLst/>
            </a:prstGeom>
          </p:spPr>
        </p:pic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9F9FEB4F-F129-B270-C305-2FD00A26120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-7710312" y="-146348"/>
              <a:ext cx="1119076" cy="3610126"/>
              <a:chOff x="647735" y="1176866"/>
              <a:chExt cx="1009498" cy="3256627"/>
            </a:xfrm>
          </p:grpSpPr>
          <p:pic>
            <p:nvPicPr>
              <p:cNvPr id="57" name="图片 56">
                <a:extLst>
                  <a:ext uri="{FF2B5EF4-FFF2-40B4-BE49-F238E27FC236}">
                    <a16:creationId xmlns:a16="http://schemas.microsoft.com/office/drawing/2014/main" id="{29F00360-B3AF-8647-2A56-D649F5AC1B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735" y="1990984"/>
                <a:ext cx="1009498" cy="81473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58" name="图片 57">
                <a:extLst>
                  <a:ext uri="{FF2B5EF4-FFF2-40B4-BE49-F238E27FC236}">
                    <a16:creationId xmlns:a16="http://schemas.microsoft.com/office/drawing/2014/main" id="{2DE40A27-DE6B-6D12-D46A-A25F178CE2B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964" y="2805102"/>
                <a:ext cx="1009040" cy="814273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59" name="图片 58">
                <a:extLst>
                  <a:ext uri="{FF2B5EF4-FFF2-40B4-BE49-F238E27FC236}">
                    <a16:creationId xmlns:a16="http://schemas.microsoft.com/office/drawing/2014/main" id="{0624825B-010E-A5A6-AF9F-B369CA61F9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735" y="3618763"/>
                <a:ext cx="1009498" cy="81473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60" name="图片 59">
                <a:extLst>
                  <a:ext uri="{FF2B5EF4-FFF2-40B4-BE49-F238E27FC236}">
                    <a16:creationId xmlns:a16="http://schemas.microsoft.com/office/drawing/2014/main" id="{49E1EEA7-5796-5F6E-EC38-EF3FE0CC06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7735" y="1176866"/>
                <a:ext cx="1009498" cy="81473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</p:grpSp>
        <p:grpSp>
          <p:nvGrpSpPr>
            <p:cNvPr id="34" name="组合 33">
              <a:extLst>
                <a:ext uri="{FF2B5EF4-FFF2-40B4-BE49-F238E27FC236}">
                  <a16:creationId xmlns:a16="http://schemas.microsoft.com/office/drawing/2014/main" id="{A17C5E81-45A1-B336-7778-A4DC768044AB}"/>
                </a:ext>
              </a:extLst>
            </p:cNvPr>
            <p:cNvGrpSpPr/>
            <p:nvPr/>
          </p:nvGrpSpPr>
          <p:grpSpPr>
            <a:xfrm>
              <a:off x="13479056" y="72396"/>
              <a:ext cx="2018995" cy="3290500"/>
              <a:chOff x="18635259" y="-933869"/>
              <a:chExt cx="2018995" cy="3290500"/>
            </a:xfrm>
          </p:grpSpPr>
          <p:pic>
            <p:nvPicPr>
              <p:cNvPr id="55" name="图片 54">
                <a:extLst>
                  <a:ext uri="{FF2B5EF4-FFF2-40B4-BE49-F238E27FC236}">
                    <a16:creationId xmlns:a16="http://schemas.microsoft.com/office/drawing/2014/main" id="{04DB7F87-4BB8-DF54-B158-EA022C4A6E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635259" y="727170"/>
                <a:ext cx="2018995" cy="1629461"/>
              </a:xfrm>
              <a:prstGeom prst="rect">
                <a:avLst/>
              </a:prstGeom>
              <a:ln w="9525">
                <a:solidFill>
                  <a:schemeClr val="dk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  <p:pic>
            <p:nvPicPr>
              <p:cNvPr id="56" name="图片 55">
                <a:extLst>
                  <a:ext uri="{FF2B5EF4-FFF2-40B4-BE49-F238E27FC236}">
                    <a16:creationId xmlns:a16="http://schemas.microsoft.com/office/drawing/2014/main" id="{28F3816E-BBF0-276D-9CB2-403032EB39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635259" y="-933869"/>
                <a:ext cx="2018995" cy="1629461"/>
              </a:xfrm>
              <a:prstGeom prst="rect">
                <a:avLst/>
              </a:prstGeom>
              <a:ln w="9525">
                <a:solidFill>
                  <a:schemeClr val="dk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</p:pic>
        </p:grpSp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94A86274-EEB3-E877-0A1B-B57520E5A902}"/>
                </a:ext>
              </a:extLst>
            </p:cNvPr>
            <p:cNvSpPr/>
            <p:nvPr/>
          </p:nvSpPr>
          <p:spPr>
            <a:xfrm rot="16200000">
              <a:off x="-10638917" y="1334264"/>
              <a:ext cx="4279900" cy="73875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8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原始循环信号</a:t>
              </a:r>
              <a:endParaRPr lang="en-US" altLang="zh-CN" sz="28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806CAE83-946A-5272-30B4-2083D2D74CEC}"/>
                </a:ext>
              </a:extLst>
            </p:cNvPr>
            <p:cNvSpPr/>
            <p:nvPr/>
          </p:nvSpPr>
          <p:spPr>
            <a:xfrm>
              <a:off x="11515288" y="685652"/>
              <a:ext cx="1816608" cy="91440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OOD SOH</a:t>
              </a:r>
            </a:p>
            <a:p>
              <a:pPr algn="ctr"/>
              <a:r>
                <a:rPr lang="zh-CN" altLang="en-US" sz="26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估计任务</a:t>
              </a:r>
              <a:endParaRPr lang="en-US" altLang="zh-CN" sz="26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2236D17B-CDD9-19C1-8C9A-71266FB8C3DB}"/>
                </a:ext>
              </a:extLst>
            </p:cNvPr>
            <p:cNvSpPr/>
            <p:nvPr/>
          </p:nvSpPr>
          <p:spPr>
            <a:xfrm>
              <a:off x="11521102" y="1785580"/>
              <a:ext cx="1816609" cy="914400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/>
              </a:solidFill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OOD RUL</a:t>
              </a:r>
            </a:p>
            <a:p>
              <a:pPr algn="ctr"/>
              <a:r>
                <a:rPr lang="zh-CN" altLang="en-US" sz="2600" b="1" dirty="0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预测任务</a:t>
              </a:r>
              <a:endParaRPr lang="en-US" altLang="zh-CN" sz="2600" b="1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38" name="连接符: 肘形 37">
              <a:extLst>
                <a:ext uri="{FF2B5EF4-FFF2-40B4-BE49-F238E27FC236}">
                  <a16:creationId xmlns:a16="http://schemas.microsoft.com/office/drawing/2014/main" id="{7083EB3C-7DED-3FB1-DDD6-CF5C19A9DCB7}"/>
                </a:ext>
              </a:extLst>
            </p:cNvPr>
            <p:cNvCxnSpPr>
              <a:stCxn id="35" idx="1"/>
              <a:endCxn id="7" idx="1"/>
            </p:cNvCxnSpPr>
            <p:nvPr/>
          </p:nvCxnSpPr>
          <p:spPr>
            <a:xfrm rot="5400000" flipH="1" flipV="1">
              <a:off x="-7155565" y="2489364"/>
              <a:ext cx="10823" cy="2697629"/>
            </a:xfrm>
            <a:prstGeom prst="bentConnector3">
              <a:avLst>
                <a:gd name="adj1" fmla="val -3895214"/>
              </a:avLst>
            </a:prstGeom>
            <a:ln w="38100">
              <a:solidFill>
                <a:schemeClr val="tx1"/>
              </a:solidFill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4B333180-C4E9-0BB4-47F7-CF42C0733CDB}"/>
                </a:ext>
              </a:extLst>
            </p:cNvPr>
            <p:cNvCxnSpPr>
              <a:cxnSpLocks/>
              <a:stCxn id="36" idx="1"/>
            </p:cNvCxnSpPr>
            <p:nvPr/>
          </p:nvCxnSpPr>
          <p:spPr>
            <a:xfrm rot="10800000" flipV="1">
              <a:off x="11515288" y="1142852"/>
              <a:ext cx="12700" cy="1099548"/>
            </a:xfrm>
            <a:prstGeom prst="bentConnector4">
              <a:avLst>
                <a:gd name="adj1" fmla="val 3360000"/>
                <a:gd name="adj2" fmla="val 99897"/>
              </a:avLst>
            </a:prstGeom>
            <a:ln w="38100">
              <a:solidFill>
                <a:schemeClr val="tx1"/>
              </a:solidFill>
              <a:headEnd type="triangle" w="med" len="lg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36749258-B465-C54F-86C1-9666F94DE460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0626805" y="1718436"/>
              <a:ext cx="452347" cy="0"/>
            </a:xfrm>
            <a:prstGeom prst="line">
              <a:avLst/>
            </a:prstGeom>
            <a:ln w="38100">
              <a:solidFill>
                <a:schemeClr val="tx1"/>
              </a:solidFill>
              <a:headEnd w="med" len="lg"/>
              <a:tailEnd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A69E7928-66E4-4F3D-5537-BF282C9136BF}"/>
                </a:ext>
              </a:extLst>
            </p:cNvPr>
            <p:cNvSpPr/>
            <p:nvPr/>
          </p:nvSpPr>
          <p:spPr>
            <a:xfrm>
              <a:off x="8679107" y="3903205"/>
              <a:ext cx="1104632" cy="515163"/>
            </a:xfrm>
            <a:prstGeom prst="roundRect">
              <a:avLst/>
            </a:prstGeom>
            <a:solidFill>
              <a:schemeClr val="bg2"/>
            </a:solidFill>
            <a:ln w="254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490BE310-D2A1-2336-F056-D4FFE0AFF916}"/>
                </a:ext>
              </a:extLst>
            </p:cNvPr>
            <p:cNvSpPr/>
            <p:nvPr/>
          </p:nvSpPr>
          <p:spPr>
            <a:xfrm>
              <a:off x="5335413" y="3903205"/>
              <a:ext cx="1104632" cy="515163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4ED31926-8920-C8F1-723C-F2C7EA498C40}"/>
                </a:ext>
              </a:extLst>
            </p:cNvPr>
            <p:cNvSpPr/>
            <p:nvPr/>
          </p:nvSpPr>
          <p:spPr>
            <a:xfrm>
              <a:off x="10051476" y="4789247"/>
              <a:ext cx="1104632" cy="515163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E88C61C7-0054-6A8F-BBBF-A49AE8355BC5}"/>
                </a:ext>
              </a:extLst>
            </p:cNvPr>
            <p:cNvSpPr/>
            <p:nvPr/>
          </p:nvSpPr>
          <p:spPr>
            <a:xfrm>
              <a:off x="12343021" y="3850823"/>
              <a:ext cx="1104632" cy="515163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25400"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217305F4-CA19-61EB-E4E4-1879D8E72E49}"/>
                </a:ext>
              </a:extLst>
            </p:cNvPr>
            <p:cNvSpPr/>
            <p:nvPr/>
          </p:nvSpPr>
          <p:spPr>
            <a:xfrm>
              <a:off x="5332423" y="4789247"/>
              <a:ext cx="1104632" cy="515163"/>
            </a:xfrm>
            <a:prstGeom prst="roundRect">
              <a:avLst/>
            </a:prstGeom>
            <a:solidFill>
              <a:srgbClr val="F7DED6"/>
            </a:solidFill>
            <a:ln w="25400">
              <a:solidFill>
                <a:srgbClr val="FFCC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EC997FD8-166B-C32F-06EE-4B2FE309F1E1}"/>
                </a:ext>
              </a:extLst>
            </p:cNvPr>
            <p:cNvSpPr/>
            <p:nvPr/>
          </p:nvSpPr>
          <p:spPr>
            <a:xfrm>
              <a:off x="7777407" y="4793059"/>
              <a:ext cx="1104632" cy="515163"/>
            </a:xfrm>
            <a:prstGeom prst="roundRect">
              <a:avLst/>
            </a:prstGeom>
            <a:solidFill>
              <a:srgbClr val="C6C6DE"/>
            </a:solidFill>
            <a:ln w="25400">
              <a:solidFill>
                <a:srgbClr val="9999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47" name="矩形: 圆角 46">
              <a:extLst>
                <a:ext uri="{FF2B5EF4-FFF2-40B4-BE49-F238E27FC236}">
                  <a16:creationId xmlns:a16="http://schemas.microsoft.com/office/drawing/2014/main" id="{4CD188CD-DA00-C5F8-63D9-8F4AEC827393}"/>
                </a:ext>
              </a:extLst>
            </p:cNvPr>
            <p:cNvSpPr/>
            <p:nvPr/>
          </p:nvSpPr>
          <p:spPr>
            <a:xfrm>
              <a:off x="12822765" y="4786932"/>
              <a:ext cx="1104632" cy="515163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25400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DCC5EC8C-DFEC-0750-5B48-D751587CB80C}"/>
                </a:ext>
              </a:extLst>
            </p:cNvPr>
            <p:cNvSpPr txBox="1"/>
            <p:nvPr/>
          </p:nvSpPr>
          <p:spPr>
            <a:xfrm>
              <a:off x="6466928" y="3933149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输入</a:t>
              </a:r>
              <a:r>
                <a:rPr lang="en-US" altLang="zh-CN" sz="24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/</a:t>
              </a:r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输出</a:t>
              </a:r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FE7F2523-889B-7BAA-4C6F-4C99FE291F91}"/>
                </a:ext>
              </a:extLst>
            </p:cNvPr>
            <p:cNvSpPr txBox="1"/>
            <p:nvPr/>
          </p:nvSpPr>
          <p:spPr>
            <a:xfrm>
              <a:off x="9709885" y="3929713"/>
              <a:ext cx="21974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泛化相关模块</a:t>
              </a: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CAE66D69-C73E-BA18-D529-962842E3C051}"/>
                </a:ext>
              </a:extLst>
            </p:cNvPr>
            <p:cNvSpPr txBox="1"/>
            <p:nvPr/>
          </p:nvSpPr>
          <p:spPr>
            <a:xfrm>
              <a:off x="13199532" y="3860951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696535B6-257C-97F1-57F1-20F0DB37A544}"/>
                </a:ext>
              </a:extLst>
            </p:cNvPr>
            <p:cNvSpPr txBox="1"/>
            <p:nvPr/>
          </p:nvSpPr>
          <p:spPr>
            <a:xfrm>
              <a:off x="6063604" y="4820030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Conv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2155A84F-7C38-3180-11F1-E7C26D5EFB0B}"/>
                </a:ext>
              </a:extLst>
            </p:cNvPr>
            <p:cNvSpPr txBox="1"/>
            <p:nvPr/>
          </p:nvSpPr>
          <p:spPr>
            <a:xfrm>
              <a:off x="8505278" y="4822149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SSM</a:t>
              </a:r>
              <a:endParaRPr lang="zh-CN" alt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7C17A4DB-ADE8-3C65-5D10-89ED306754D4}"/>
                </a:ext>
              </a:extLst>
            </p:cNvPr>
            <p:cNvSpPr txBox="1"/>
            <p:nvPr/>
          </p:nvSpPr>
          <p:spPr>
            <a:xfrm>
              <a:off x="11079152" y="4813682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激活函数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33526BCC-D08F-032C-697F-629044498834}"/>
                </a:ext>
              </a:extLst>
            </p:cNvPr>
            <p:cNvSpPr txBox="1"/>
            <p:nvPr/>
          </p:nvSpPr>
          <p:spPr>
            <a:xfrm>
              <a:off x="13792202" y="4817683"/>
              <a:ext cx="17683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归一化层</a:t>
              </a:r>
            </a:p>
          </p:txBody>
        </p:sp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180D8D72-F68B-B80A-F3F4-A1A39B6621AB}"/>
                </a:ext>
              </a:extLst>
            </p:cNvPr>
            <p:cNvSpPr/>
            <p:nvPr/>
          </p:nvSpPr>
          <p:spPr>
            <a:xfrm>
              <a:off x="312255" y="4923952"/>
              <a:ext cx="2507955" cy="792060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Mamba </a:t>
              </a:r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模块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14A3D658-37B0-A554-A42F-EFB369D783AA}"/>
                    </a:ext>
                  </a:extLst>
                </p:cNvPr>
                <p:cNvSpPr/>
                <p:nvPr/>
              </p:nvSpPr>
              <p:spPr>
                <a:xfrm>
                  <a:off x="4215010" y="5034636"/>
                  <a:ext cx="1104632" cy="46166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sz="2400" b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zh-CN" alt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zh-CN" altLang="en-US" sz="2400" b="1" i="1">
                                <a:latin typeface="Cambria Math" panose="02040503050406030204" pitchFamily="18" charset="0"/>
                              </a:rPr>
                              <m:t>𝒆𝒏𝒄</m:t>
                            </m:r>
                          </m:sub>
                        </m:sSub>
                      </m:oMath>
                    </m:oMathPara>
                  </a14:m>
                  <a:endParaRPr lang="zh-CN" altLang="en-US" sz="2400" b="1" dirty="0"/>
                </a:p>
              </p:txBody>
            </p:sp>
          </mc:Choice>
          <mc:Fallback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14A3D658-37B0-A554-A42F-EFB369D783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15010" y="5034636"/>
                  <a:ext cx="1104632" cy="46166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74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D6D15B11-9E6C-D7C7-0547-9C758F5B8422}"/>
              </a:ext>
            </a:extLst>
          </p:cNvPr>
          <p:cNvGrpSpPr/>
          <p:nvPr/>
        </p:nvGrpSpPr>
        <p:grpSpPr>
          <a:xfrm>
            <a:off x="815975" y="330846"/>
            <a:ext cx="7512050" cy="5529545"/>
            <a:chOff x="815975" y="330846"/>
            <a:chExt cx="7512050" cy="5529545"/>
          </a:xfrm>
        </p:grpSpPr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E41DF8F5-D6AC-CBCF-D95D-AED309BFACDC}"/>
                </a:ext>
              </a:extLst>
            </p:cNvPr>
            <p:cNvSpPr txBox="1"/>
            <p:nvPr/>
          </p:nvSpPr>
          <p:spPr>
            <a:xfrm>
              <a:off x="3761521" y="330846"/>
              <a:ext cx="1620958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信息瓶颈</a:t>
              </a:r>
              <a:endParaRPr lang="en-US" altLang="zh-CN" sz="28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7BF442E8-3566-71B0-F883-629347100625}"/>
                </a:ext>
              </a:extLst>
            </p:cNvPr>
            <p:cNvSpPr txBox="1"/>
            <p:nvPr/>
          </p:nvSpPr>
          <p:spPr>
            <a:xfrm>
              <a:off x="1505255" y="895971"/>
              <a:ext cx="1620958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退化表征</a:t>
              </a:r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27E54820-70C3-C129-C489-D264DA70043F}"/>
                </a:ext>
              </a:extLst>
            </p:cNvPr>
            <p:cNvSpPr txBox="1"/>
            <p:nvPr/>
          </p:nvSpPr>
          <p:spPr>
            <a:xfrm>
              <a:off x="6016091" y="895971"/>
              <a:ext cx="1645099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特征流形</a:t>
              </a: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3FFE4863-2CBC-0768-ABF8-6442A3E91EFE}"/>
                </a:ext>
              </a:extLst>
            </p:cNvPr>
            <p:cNvSpPr/>
            <p:nvPr/>
          </p:nvSpPr>
          <p:spPr>
            <a:xfrm>
              <a:off x="815975" y="5337171"/>
              <a:ext cx="7512050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获得良泛化退化表征</a:t>
              </a: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6E132EC-BA6D-A1D9-C280-6AB29611A9F0}"/>
                </a:ext>
              </a:extLst>
            </p:cNvPr>
            <p:cNvSpPr txBox="1"/>
            <p:nvPr/>
          </p:nvSpPr>
          <p:spPr>
            <a:xfrm>
              <a:off x="5089907" y="3940122"/>
              <a:ext cx="3057247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降低流形固有维度</a:t>
              </a:r>
              <a:endParaRPr lang="en-US" altLang="zh-CN" sz="28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98A77970-40FF-A899-607C-AB868EDAADE2}"/>
                </a:ext>
              </a:extLst>
            </p:cNvPr>
            <p:cNvSpPr txBox="1"/>
            <p:nvPr/>
          </p:nvSpPr>
          <p:spPr>
            <a:xfrm>
              <a:off x="996847" y="3940122"/>
              <a:ext cx="3416320" cy="52322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zh-CN" altLang="en-US" sz="28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与目标空间拓扑对齐</a:t>
              </a:r>
              <a:endParaRPr lang="en-US" altLang="zh-CN" sz="28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pic>
          <p:nvPicPr>
            <p:cNvPr id="98" name="图形 97">
              <a:extLst>
                <a:ext uri="{FF2B5EF4-FFF2-40B4-BE49-F238E27FC236}">
                  <a16:creationId xmlns:a16="http://schemas.microsoft.com/office/drawing/2014/main" id="{6F858421-24EE-ABF1-FD5E-E5BDB90066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0800000">
              <a:off x="3903204" y="4519669"/>
              <a:ext cx="982358" cy="721733"/>
            </a:xfrm>
            <a:prstGeom prst="rect">
              <a:avLst/>
            </a:prstGeom>
          </p:spPr>
        </p:pic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36FD75C4-E891-EC19-4331-8CF941DEEE91}"/>
                </a:ext>
              </a:extLst>
            </p:cNvPr>
            <p:cNvGrpSpPr/>
            <p:nvPr/>
          </p:nvGrpSpPr>
          <p:grpSpPr>
            <a:xfrm>
              <a:off x="1642027" y="1008217"/>
              <a:ext cx="5859946" cy="2923938"/>
              <a:chOff x="1529899" y="1008217"/>
              <a:chExt cx="5859946" cy="2923938"/>
            </a:xfrm>
          </p:grpSpPr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7C7A6DF7-43C4-C625-E40C-94E03A30305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7665" y="1008217"/>
                <a:ext cx="1993436" cy="407503"/>
                <a:chOff x="1338943" y="1327378"/>
                <a:chExt cx="7764234" cy="1731509"/>
              </a:xfrm>
            </p:grpSpPr>
            <p:pic>
              <p:nvPicPr>
                <p:cNvPr id="93" name="图形 92">
                  <a:extLst>
                    <a:ext uri="{FF2B5EF4-FFF2-40B4-BE49-F238E27FC236}">
                      <a16:creationId xmlns:a16="http://schemas.microsoft.com/office/drawing/2014/main" id="{53DDB922-13AF-7ADC-9A27-5C1BA1E17F4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 rot="5400000">
                  <a:off x="4905033" y="-2238712"/>
                  <a:ext cx="632053" cy="7764234"/>
                </a:xfrm>
                <a:prstGeom prst="rect">
                  <a:avLst/>
                </a:prstGeom>
              </p:spPr>
            </p:pic>
            <p:pic>
              <p:nvPicPr>
                <p:cNvPr id="94" name="图形 93">
                  <a:extLst>
                    <a:ext uri="{FF2B5EF4-FFF2-40B4-BE49-F238E27FC236}">
                      <a16:creationId xmlns:a16="http://schemas.microsoft.com/office/drawing/2014/main" id="{B8691538-304E-9AD3-539A-045F4CB41DF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 rot="16200000">
                  <a:off x="4905033" y="-1139256"/>
                  <a:ext cx="632053" cy="7764233"/>
                </a:xfrm>
                <a:prstGeom prst="rect">
                  <a:avLst/>
                </a:prstGeom>
              </p:spPr>
            </p:pic>
          </p:grpSp>
          <p:pic>
            <p:nvPicPr>
              <p:cNvPr id="99" name="图形 98">
                <a:extLst>
                  <a:ext uri="{FF2B5EF4-FFF2-40B4-BE49-F238E27FC236}">
                    <a16:creationId xmlns:a16="http://schemas.microsoft.com/office/drawing/2014/main" id="{BAEB4296-DC9A-D272-59E7-A72416A94E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rot="10800000" flipH="1">
                <a:off x="1529899" y="1925713"/>
                <a:ext cx="902165" cy="1503609"/>
              </a:xfrm>
              <a:prstGeom prst="rect">
                <a:avLst/>
              </a:prstGeom>
            </p:spPr>
          </p:pic>
          <p:pic>
            <p:nvPicPr>
              <p:cNvPr id="100" name="图形 99">
                <a:extLst>
                  <a:ext uri="{FF2B5EF4-FFF2-40B4-BE49-F238E27FC236}">
                    <a16:creationId xmlns:a16="http://schemas.microsoft.com/office/drawing/2014/main" id="{5F622E93-E0E9-98E8-1400-96C899142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H="1">
                <a:off x="6487680" y="1924265"/>
                <a:ext cx="902165" cy="1503609"/>
              </a:xfrm>
              <a:prstGeom prst="rect">
                <a:avLst/>
              </a:prstGeom>
            </p:spPr>
          </p:pic>
          <p:pic>
            <p:nvPicPr>
              <p:cNvPr id="101" name="图形 100" descr="\documentclass{article}&#10;\usepackage{amsmath}&#10;\pagestyle{empty}&#10;\begin{document}&#10;&#10;$\mathcal{Z}$&#10;&#10;&#10;\end{document}" title="IguanaTex Shape Display">
                <a:extLst>
                  <a:ext uri="{FF2B5EF4-FFF2-40B4-BE49-F238E27FC236}">
                    <a16:creationId xmlns:a16="http://schemas.microsoft.com/office/drawing/2014/main" id="{B03B70EB-2443-9379-F301-3F91CC6985CB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2624019" y="1776535"/>
                <a:ext cx="367549" cy="300722"/>
              </a:xfrm>
              <a:prstGeom prst="rect">
                <a:avLst/>
              </a:prstGeom>
            </p:spPr>
          </p:pic>
          <p:pic>
            <p:nvPicPr>
              <p:cNvPr id="102" name="图形 101" descr="\documentclass{article}&#10;\usepackage{amsmath}&#10;\pagestyle{empty}&#10;\begin{document}&#10;&#10;$\mathcal{M}_{\mathcal{Z}}$&#10;&#10;\end{document}" title="IguanaTex Shape Display">
                <a:extLst>
                  <a:ext uri="{FF2B5EF4-FFF2-40B4-BE49-F238E27FC236}">
                    <a16:creationId xmlns:a16="http://schemas.microsoft.com/office/drawing/2014/main" id="{1D5E3D4A-5883-1A17-A79C-46D256D0FF3D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5893597" y="1802468"/>
                <a:ext cx="641540" cy="294039"/>
              </a:xfrm>
              <a:prstGeom prst="rect">
                <a:avLst/>
              </a:prstGeom>
            </p:spPr>
          </p:pic>
          <p:pic>
            <p:nvPicPr>
              <p:cNvPr id="103" name="图形 102" descr="\documentclass{article}&#10;\usepackage{amsmath}&#10;\pagestyle{empty}&#10;\begin{document}&#10;&#10;$\mathop{\min}\limits_{\mathcal{Z}}ID(\mathcal{\mathcal{M}_{\mathcal{Z}}})$&#10;&#10;\end{document}" title="IguanaTex Shape Display">
                <a:extLst>
                  <a:ext uri="{FF2B5EF4-FFF2-40B4-BE49-F238E27FC236}">
                    <a16:creationId xmlns:a16="http://schemas.microsoft.com/office/drawing/2014/main" id="{8D27CEAA-E311-93EA-4228-EF1F92EB6A5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3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4597789" y="3424269"/>
                <a:ext cx="2085004" cy="507886"/>
              </a:xfrm>
              <a:prstGeom prst="rect">
                <a:avLst/>
              </a:prstGeom>
            </p:spPr>
          </p:pic>
          <p:pic>
            <p:nvPicPr>
              <p:cNvPr id="104" name="图形 103" descr="\documentclass{article}&#10;\usepackage{amsmath}&#10;\pagestyle{empty}&#10;\begin{document}&#10;&#10;$\mathcal{M}_{\mathcal{Z}} \cong \mathcal{M}_{\mathcal{Y}}$&#10;&#10;\end{document}" title="IguanaTex Shape Display">
                <a:extLst>
                  <a:ext uri="{FF2B5EF4-FFF2-40B4-BE49-F238E27FC236}">
                    <a16:creationId xmlns:a16="http://schemas.microsoft.com/office/drawing/2014/main" id="{80EE404A-CC57-0FC5-F9B2-6861AC796A69}"/>
                  </a:ext>
                </a:extLst>
              </p:cNvPr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981063" y="3433206"/>
                <a:ext cx="1790965" cy="32077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22411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4FE01815-A137-DF4D-2F2F-636B177B074C}"/>
              </a:ext>
            </a:extLst>
          </p:cNvPr>
          <p:cNvGrpSpPr/>
          <p:nvPr/>
        </p:nvGrpSpPr>
        <p:grpSpPr>
          <a:xfrm>
            <a:off x="478126" y="606707"/>
            <a:ext cx="7805710" cy="5907777"/>
            <a:chOff x="478126" y="606707"/>
            <a:chExt cx="7805710" cy="5907777"/>
          </a:xfrm>
        </p:grpSpPr>
        <p:pic>
          <p:nvPicPr>
            <p:cNvPr id="42" name="图形 41" descr="\documentclass{article}&#10;\usepackage{amsmath}&#10;\pagestyle{empty}&#10;\begin{document}&#10;&#10;$\approx$&#10;&#10;\end{document}" title="IguanaTex Shape Display">
              <a:extLst>
                <a:ext uri="{FF2B5EF4-FFF2-40B4-BE49-F238E27FC236}">
                  <a16:creationId xmlns:a16="http://schemas.microsoft.com/office/drawing/2014/main" id="{1420F40C-CC78-CA9A-8620-79BE14B7153A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56637" y="5182199"/>
              <a:ext cx="365725" cy="219435"/>
            </a:xfrm>
            <a:prstGeom prst="rect">
              <a:avLst/>
            </a:prstGeom>
          </p:spPr>
        </p:pic>
        <p:pic>
          <p:nvPicPr>
            <p:cNvPr id="66" name="图形 65" descr="\documentclass{article}&#10;\usepackage{amsmath}&#10;\pagestyle{empty}&#10;\begin{document}&#10;&#10;$\sigma_{Z}^{\prime}\left(\frac{Z - \mu}{\sigma}\right) + \mu_{Z}^{\prime}$&#10;&#10;\end{document}" title="IguanaTex Shape Display">
              <a:extLst>
                <a:ext uri="{FF2B5EF4-FFF2-40B4-BE49-F238E27FC236}">
                  <a16:creationId xmlns:a16="http://schemas.microsoft.com/office/drawing/2014/main" id="{899894A9-7A18-9A16-8BB7-A18F55CB621C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012395" y="5965844"/>
              <a:ext cx="2103120" cy="548640"/>
            </a:xfrm>
            <a:prstGeom prst="rect">
              <a:avLst/>
            </a:prstGeom>
          </p:spPr>
        </p:pic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783BED62-257A-CC57-4A13-BF8D385BBD4C}"/>
                </a:ext>
              </a:extLst>
            </p:cNvPr>
            <p:cNvSpPr txBox="1"/>
            <p:nvPr/>
          </p:nvSpPr>
          <p:spPr>
            <a:xfrm>
              <a:off x="2669287" y="5993943"/>
              <a:ext cx="1685078" cy="49244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特征调弈</a:t>
              </a:r>
              <a:r>
                <a:rPr lang="en-US" altLang="zh-CN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endParaRPr lang="zh-CN" altLang="en-US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64" name="图形 63">
              <a:extLst>
                <a:ext uri="{FF2B5EF4-FFF2-40B4-BE49-F238E27FC236}">
                  <a16:creationId xmlns:a16="http://schemas.microsoft.com/office/drawing/2014/main" id="{91E55CE1-4AE6-4412-9106-3D91D5D1F9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10325" t="18158" r="10462" b="18243"/>
            <a:stretch>
              <a:fillRect/>
            </a:stretch>
          </p:blipFill>
          <p:spPr>
            <a:xfrm>
              <a:off x="2466975" y="798897"/>
              <a:ext cx="4731794" cy="3799137"/>
            </a:xfrm>
            <a:prstGeom prst="rect">
              <a:avLst/>
            </a:prstGeom>
          </p:spPr>
        </p:pic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C8DA016E-F008-1E2A-23DB-59B1F12E18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72240" y="606707"/>
              <a:ext cx="7211596" cy="5068807"/>
            </a:xfrm>
            <a:prstGeom prst="ellipse">
              <a:avLst/>
            </a:prstGeom>
            <a:noFill/>
            <a:ln w="44450">
              <a:solidFill>
                <a:schemeClr val="bg2">
                  <a:lumMod val="75000"/>
                </a:schemeClr>
              </a:solidFill>
              <a:prstDash val="lgDashDotDot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sz="1350" dirty="0"/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9C3096B7-AC1B-17C6-B777-569C96E26B0F}"/>
                </a:ext>
              </a:extLst>
            </p:cNvPr>
            <p:cNvSpPr txBox="1"/>
            <p:nvPr/>
          </p:nvSpPr>
          <p:spPr>
            <a:xfrm>
              <a:off x="3439298" y="798897"/>
              <a:ext cx="2775443" cy="89255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原始特征流形</a:t>
              </a:r>
              <a:endPara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（仅 </a:t>
              </a:r>
              <a:r>
                <a:rPr lang="en-US" altLang="zh-CN" sz="25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ID</a:t>
              </a:r>
              <a:r>
                <a:rPr lang="en-US" altLang="zh-CN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样本）</a:t>
              </a:r>
            </a:p>
          </p:txBody>
        </p:sp>
        <p:sp>
          <p:nvSpPr>
            <p:cNvPr id="49" name="等腰三角形 48">
              <a:extLst>
                <a:ext uri="{FF2B5EF4-FFF2-40B4-BE49-F238E27FC236}">
                  <a16:creationId xmlns:a16="http://schemas.microsoft.com/office/drawing/2014/main" id="{1A0920FF-30F1-FA20-B3E1-864A9DDA28C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19497" y="2486131"/>
              <a:ext cx="251890" cy="217146"/>
            </a:xfrm>
            <a:prstGeom prst="triangle">
              <a:avLst/>
            </a:prstGeom>
            <a:solidFill>
              <a:srgbClr val="F7DED6"/>
            </a:solidFill>
            <a:ln cap="sq">
              <a:solidFill>
                <a:srgbClr val="F7DED6">
                  <a:alpha val="8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0"/>
            </a:p>
          </p:txBody>
        </p:sp>
        <p:pic>
          <p:nvPicPr>
            <p:cNvPr id="50" name="图形 49" descr="\documentclass{article}&#10;\usepackage{amsmath}&#10;\pagestyle{empty}&#10;\begin{document}&#10;&#10;$\{ \mu_{Z}, \sigma_{Z} \}$&#10;&#10;\end{document}" title="IguanaTex Shape Display">
              <a:extLst>
                <a:ext uri="{FF2B5EF4-FFF2-40B4-BE49-F238E27FC236}">
                  <a16:creationId xmlns:a16="http://schemas.microsoft.com/office/drawing/2014/main" id="{5A3DF9F9-1ADE-1D98-2193-94DCFABCC6AD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469344" y="2875065"/>
              <a:ext cx="1188720" cy="297180"/>
            </a:xfrm>
            <a:prstGeom prst="rect">
              <a:avLst/>
            </a:prstGeom>
          </p:spPr>
        </p:pic>
        <p:pic>
          <p:nvPicPr>
            <p:cNvPr id="51" name="图形 50" descr="\documentclass{article}&#10;\usepackage{amsmath}&#10;\pagestyle{empty}&#10;\begin{document}&#10;&#10;$\{ \mu_{Z}^{\prime}, \sigma_{Z}^{\prime} \}$&#10;&#10;\end{document}" title="IguanaTex Shape Display">
              <a:extLst>
                <a:ext uri="{FF2B5EF4-FFF2-40B4-BE49-F238E27FC236}">
                  <a16:creationId xmlns:a16="http://schemas.microsoft.com/office/drawing/2014/main" id="{CF0CB7CC-6FC9-03C1-A1C6-9277909817E3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535265" y="2874700"/>
              <a:ext cx="1188720" cy="320039"/>
            </a:xfrm>
            <a:prstGeom prst="rect">
              <a:avLst/>
            </a:prstGeom>
          </p:spPr>
        </p:pic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DF137AEF-1FB6-456C-D942-C0D24B7E1308}"/>
                </a:ext>
              </a:extLst>
            </p:cNvPr>
            <p:cNvGrpSpPr/>
            <p:nvPr/>
          </p:nvGrpSpPr>
          <p:grpSpPr>
            <a:xfrm>
              <a:off x="3424183" y="3572846"/>
              <a:ext cx="1234440" cy="714814"/>
              <a:chOff x="10355262" y="2950882"/>
              <a:chExt cx="1234440" cy="714814"/>
            </a:xfrm>
          </p:grpSpPr>
          <p:pic>
            <p:nvPicPr>
              <p:cNvPr id="62" name="图形 61" descr="\documentclass{article}&#10;\usepackage{amsmath}&#10;\pagestyle{empty}&#10;\begin{document}&#10;&#10;$\mathcal{N}(\mu, \Sigma_{\mu}^{2})$&#10;&#10;&#10;\end{document}" title="IguanaTex Shape Display">
                <a:extLst>
                  <a:ext uri="{FF2B5EF4-FFF2-40B4-BE49-F238E27FC236}">
                    <a16:creationId xmlns:a16="http://schemas.microsoft.com/office/drawing/2014/main" id="{BA4E22E5-B0D4-089A-F153-25C8815D1CAC}"/>
                  </a:ext>
                </a:extLst>
              </p:cNvPr>
              <p:cNvPicPr>
                <a:picLocks noChangeAspect="1"/>
              </p:cNvPicPr>
              <p:nvPr>
                <p:custDataLst>
                  <p:tags r:id="rId6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10355262" y="2950882"/>
                <a:ext cx="1234440" cy="365760"/>
              </a:xfrm>
              <a:prstGeom prst="rect">
                <a:avLst/>
              </a:prstGeom>
            </p:spPr>
          </p:pic>
          <p:pic>
            <p:nvPicPr>
              <p:cNvPr id="63" name="图形 62" descr="\documentclass{article}&#10;\usepackage{amsmath}&#10;\pagestyle{empty}&#10;\begin{document}&#10;&#10;$\mathcal{N}(\sigma, \Sigma_{\sigma}^{2})$&#10;&#10;\end{document}" title="IguanaTex Shape Display">
                <a:extLst>
                  <a:ext uri="{FF2B5EF4-FFF2-40B4-BE49-F238E27FC236}">
                    <a16:creationId xmlns:a16="http://schemas.microsoft.com/office/drawing/2014/main" id="{E1C7FB3D-7EFC-55CD-694B-E9DD19EBACB8}"/>
                  </a:ext>
                </a:extLst>
              </p:cNvPr>
              <p:cNvPicPr>
                <a:picLocks noChangeAspect="1"/>
              </p:cNvPicPr>
              <p:nvPr>
                <p:custDataLst>
                  <p:tags r:id="rId7"/>
                </p:custDataLst>
              </p:nvPr>
            </p:nvPicPr>
            <p:blipFill>
              <a:blip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10355262" y="3345656"/>
                <a:ext cx="1234440" cy="320040"/>
              </a:xfrm>
              <a:prstGeom prst="rect">
                <a:avLst/>
              </a:prstGeom>
            </p:spPr>
          </p:pic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859E5D64-2581-171D-A8FC-7025969A14C8}"/>
                </a:ext>
              </a:extLst>
            </p:cNvPr>
            <p:cNvSpPr txBox="1"/>
            <p:nvPr/>
          </p:nvSpPr>
          <p:spPr>
            <a:xfrm>
              <a:off x="5030245" y="1988419"/>
              <a:ext cx="2168524" cy="492443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退化特征锚点</a:t>
              </a: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AD9066CD-49AB-E764-5590-759616A95019}"/>
                </a:ext>
              </a:extLst>
            </p:cNvPr>
            <p:cNvSpPr txBox="1"/>
            <p:nvPr/>
          </p:nvSpPr>
          <p:spPr>
            <a:xfrm>
              <a:off x="1215166" y="5005310"/>
              <a:ext cx="3042950" cy="89255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调弈特征分布</a:t>
              </a:r>
              <a:endPara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25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ID &amp;</a:t>
              </a:r>
              <a:r>
                <a:rPr lang="en-US" altLang="zh-CN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 </a:t>
              </a:r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生成样本）</a:t>
              </a: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07251C7D-2C6D-7275-A49A-B13F4494C54A}"/>
                </a:ext>
              </a:extLst>
            </p:cNvPr>
            <p:cNvSpPr txBox="1"/>
            <p:nvPr/>
          </p:nvSpPr>
          <p:spPr>
            <a:xfrm>
              <a:off x="4827018" y="5005310"/>
              <a:ext cx="2775442" cy="89255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真实特征分布</a:t>
              </a:r>
              <a:endPara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sz="2500" b="1" dirty="0"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ID &amp; OOD </a:t>
              </a:r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样本）</a:t>
              </a:r>
              <a:endPara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61" name="图形 60" descr="\documentclass{article}&#10;\usepackage{amsmath}&#10;\pagestyle{empty}&#10;\begin{document}&#10;&#10;$\approx$&#10;&#10;&#10;\end{document}" title="IguanaTex Shape Display">
              <a:extLst>
                <a:ext uri="{FF2B5EF4-FFF2-40B4-BE49-F238E27FC236}">
                  <a16:creationId xmlns:a16="http://schemas.microsoft.com/office/drawing/2014/main" id="{7081725A-3535-8508-D00F-35EFFF189693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447860" y="5297272"/>
              <a:ext cx="238125" cy="142875"/>
            </a:xfrm>
            <a:prstGeom prst="rect">
              <a:avLst/>
            </a:prstGeom>
          </p:spPr>
        </p:pic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DFD2A81F-5F59-5C22-3B23-16B76956A05C}"/>
                </a:ext>
              </a:extLst>
            </p:cNvPr>
            <p:cNvSpPr txBox="1"/>
            <p:nvPr/>
          </p:nvSpPr>
          <p:spPr>
            <a:xfrm>
              <a:off x="5093700" y="3783048"/>
              <a:ext cx="2679700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统计量</a:t>
              </a:r>
              <a:endPara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不确定性量化</a:t>
              </a: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6081A5D1-D42B-75A8-AA39-3106AD47102C}"/>
                </a:ext>
              </a:extLst>
            </p:cNvPr>
            <p:cNvSpPr txBox="1"/>
            <p:nvPr/>
          </p:nvSpPr>
          <p:spPr>
            <a:xfrm>
              <a:off x="478126" y="3783048"/>
              <a:ext cx="2679700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采样</a:t>
              </a:r>
              <a:endPara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/</a:t>
              </a:r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重参数化</a:t>
              </a:r>
            </a:p>
          </p:txBody>
        </p:sp>
        <p:pic>
          <p:nvPicPr>
            <p:cNvPr id="57" name="图形 56">
              <a:extLst>
                <a:ext uri="{FF2B5EF4-FFF2-40B4-BE49-F238E27FC236}">
                  <a16:creationId xmlns:a16="http://schemas.microsoft.com/office/drawing/2014/main" id="{95F98B82-1606-EE22-07F2-1C49E85AB0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rot="19135236" flipH="1">
              <a:off x="4946539" y="3520721"/>
              <a:ext cx="980122" cy="366713"/>
            </a:xfrm>
            <a:prstGeom prst="rect">
              <a:avLst/>
            </a:prstGeom>
          </p:spPr>
        </p:pic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6A1FA7B7-9598-5D0B-A1A5-35E7672627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rot="1259324" flipH="1">
              <a:off x="2279084" y="3557119"/>
              <a:ext cx="980122" cy="366713"/>
            </a:xfrm>
            <a:prstGeom prst="rect">
              <a:avLst/>
            </a:prstGeom>
          </p:spPr>
        </p:pic>
        <p:sp>
          <p:nvSpPr>
            <p:cNvPr id="5" name="箭头: 左 4">
              <a:extLst>
                <a:ext uri="{FF2B5EF4-FFF2-40B4-BE49-F238E27FC236}">
                  <a16:creationId xmlns:a16="http://schemas.microsoft.com/office/drawing/2014/main" id="{C550CDD6-095E-2C97-4676-23D98CA73A6E}"/>
                </a:ext>
              </a:extLst>
            </p:cNvPr>
            <p:cNvSpPr/>
            <p:nvPr/>
          </p:nvSpPr>
          <p:spPr>
            <a:xfrm>
              <a:off x="4302603" y="6082790"/>
              <a:ext cx="454025" cy="314748"/>
            </a:xfrm>
            <a:prstGeom prst="leftArrow">
              <a:avLst>
                <a:gd name="adj1" fmla="val 50000"/>
                <a:gd name="adj2" fmla="val 73457"/>
              </a:avLst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4063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17D30F4D-B527-E190-63A2-F27F54055902}"/>
              </a:ext>
            </a:extLst>
          </p:cNvPr>
          <p:cNvGrpSpPr/>
          <p:nvPr/>
        </p:nvGrpSpPr>
        <p:grpSpPr>
          <a:xfrm>
            <a:off x="931906" y="263387"/>
            <a:ext cx="7962994" cy="6238489"/>
            <a:chOff x="931906" y="263387"/>
            <a:chExt cx="7962994" cy="6238489"/>
          </a:xfrm>
        </p:grpSpPr>
        <p:pic>
          <p:nvPicPr>
            <p:cNvPr id="69" name="图形 68">
              <a:extLst>
                <a:ext uri="{FF2B5EF4-FFF2-40B4-BE49-F238E27FC236}">
                  <a16:creationId xmlns:a16="http://schemas.microsoft.com/office/drawing/2014/main" id="{3FCF9C3E-3AA6-4743-38DD-E2AF6E7F66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7297211" y="5444602"/>
              <a:ext cx="411480" cy="685800"/>
            </a:xfrm>
            <a:prstGeom prst="rect">
              <a:avLst/>
            </a:prstGeom>
          </p:spPr>
        </p:pic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BEF87560-4868-DAD0-67B4-77D836C291DB}"/>
                </a:ext>
              </a:extLst>
            </p:cNvPr>
            <p:cNvCxnSpPr>
              <a:cxnSpLocks/>
            </p:cNvCxnSpPr>
            <p:nvPr/>
          </p:nvCxnSpPr>
          <p:spPr>
            <a:xfrm>
              <a:off x="7060019" y="4331478"/>
              <a:ext cx="0" cy="465633"/>
            </a:xfrm>
            <a:prstGeom prst="straightConnector1">
              <a:avLst/>
            </a:prstGeom>
            <a:solidFill>
              <a:schemeClr val="lt1"/>
            </a:solidFill>
            <a:ln w="50800" cap="flat">
              <a:solidFill>
                <a:schemeClr val="dk1"/>
              </a:solidFill>
              <a:prstDash val="solid"/>
              <a:miter/>
              <a:headEnd w="med" len="lg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FC5E7155-4974-92A2-CBB8-632006DE9B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2150" y="263389"/>
              <a:ext cx="7407364" cy="3513891"/>
            </a:xfrm>
            <a:prstGeom prst="rect">
              <a:avLst/>
            </a:prstGeom>
            <a:solidFill>
              <a:schemeClr val="lt1"/>
            </a:solidFill>
            <a:ln w="12700" cap="flat">
              <a:noFill/>
              <a:prstDash val="solid"/>
              <a:miter/>
            </a:ln>
          </p:spPr>
        </p:pic>
        <p:sp>
          <p:nvSpPr>
            <p:cNvPr id="72" name="矩形: 圆角 71">
              <a:extLst>
                <a:ext uri="{FF2B5EF4-FFF2-40B4-BE49-F238E27FC236}">
                  <a16:creationId xmlns:a16="http://schemas.microsoft.com/office/drawing/2014/main" id="{8A784264-AF30-A5B2-5679-2307B574D6B3}"/>
                </a:ext>
              </a:extLst>
            </p:cNvPr>
            <p:cNvSpPr/>
            <p:nvPr/>
          </p:nvSpPr>
          <p:spPr>
            <a:xfrm>
              <a:off x="1732330" y="263389"/>
              <a:ext cx="1511684" cy="3578730"/>
            </a:xfrm>
            <a:prstGeom prst="roundRect">
              <a:avLst/>
            </a:prstGeom>
            <a:noFill/>
            <a:ln w="38100" cap="flat" cmpd="sng" algn="ctr">
              <a:solidFill>
                <a:srgbClr val="FFCCCC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176CC8A4-5C3C-9F20-97A7-5E217F2EF8CA}"/>
                </a:ext>
              </a:extLst>
            </p:cNvPr>
            <p:cNvSpPr txBox="1"/>
            <p:nvPr/>
          </p:nvSpPr>
          <p:spPr>
            <a:xfrm>
              <a:off x="1556817" y="3901999"/>
              <a:ext cx="1862709" cy="477054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头部分箱</a:t>
              </a:r>
            </a:p>
          </p:txBody>
        </p:sp>
        <p:sp>
          <p:nvSpPr>
            <p:cNvPr id="74" name="矩形: 圆角 73">
              <a:extLst>
                <a:ext uri="{FF2B5EF4-FFF2-40B4-BE49-F238E27FC236}">
                  <a16:creationId xmlns:a16="http://schemas.microsoft.com/office/drawing/2014/main" id="{6742B23F-5EDA-3217-A703-26891C224252}"/>
                </a:ext>
              </a:extLst>
            </p:cNvPr>
            <p:cNvSpPr/>
            <p:nvPr/>
          </p:nvSpPr>
          <p:spPr>
            <a:xfrm>
              <a:off x="4020563" y="263388"/>
              <a:ext cx="1511684" cy="3578730"/>
            </a:xfrm>
            <a:prstGeom prst="roundRect">
              <a:avLst/>
            </a:prstGeom>
            <a:noFill/>
            <a:ln w="38100" cap="flat" cmpd="sng" algn="ctr">
              <a:solidFill>
                <a:srgbClr val="FFCCCC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75" name="矩形: 圆角 74">
              <a:extLst>
                <a:ext uri="{FF2B5EF4-FFF2-40B4-BE49-F238E27FC236}">
                  <a16:creationId xmlns:a16="http://schemas.microsoft.com/office/drawing/2014/main" id="{EBF34589-5930-12E2-9DFF-9F02C68C2784}"/>
                </a:ext>
              </a:extLst>
            </p:cNvPr>
            <p:cNvSpPr/>
            <p:nvPr/>
          </p:nvSpPr>
          <p:spPr>
            <a:xfrm>
              <a:off x="6308796" y="263387"/>
              <a:ext cx="1511684" cy="3578730"/>
            </a:xfrm>
            <a:prstGeom prst="roundRect">
              <a:avLst/>
            </a:prstGeom>
            <a:noFill/>
            <a:ln w="38100" cap="flat" cmpd="sng" algn="ctr">
              <a:solidFill>
                <a:srgbClr val="FFCCCC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1350"/>
            </a:p>
          </p:txBody>
        </p:sp>
        <p:sp>
          <p:nvSpPr>
            <p:cNvPr id="76" name="文本框 75">
              <a:extLst>
                <a:ext uri="{FF2B5EF4-FFF2-40B4-BE49-F238E27FC236}">
                  <a16:creationId xmlns:a16="http://schemas.microsoft.com/office/drawing/2014/main" id="{B6EFBD30-FB57-3C67-1972-B5C9132C18A8}"/>
                </a:ext>
              </a:extLst>
            </p:cNvPr>
            <p:cNvSpPr txBox="1"/>
            <p:nvPr/>
          </p:nvSpPr>
          <p:spPr>
            <a:xfrm>
              <a:off x="3845050" y="3901999"/>
              <a:ext cx="1862709" cy="477054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目标分箱</a:t>
              </a:r>
              <a:endParaRPr lang="en-US" altLang="zh-CN" sz="2500" b="1" dirty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344478FD-FBC9-90D9-D446-51265D43CA34}"/>
                </a:ext>
              </a:extLst>
            </p:cNvPr>
            <p:cNvSpPr txBox="1"/>
            <p:nvPr/>
          </p:nvSpPr>
          <p:spPr>
            <a:xfrm>
              <a:off x="6133283" y="3901999"/>
              <a:ext cx="1862709" cy="477054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邻近分箱</a:t>
              </a:r>
            </a:p>
          </p:txBody>
        </p:sp>
        <p:sp>
          <p:nvSpPr>
            <p:cNvPr id="78" name="矩形: 圆角 77">
              <a:extLst>
                <a:ext uri="{FF2B5EF4-FFF2-40B4-BE49-F238E27FC236}">
                  <a16:creationId xmlns:a16="http://schemas.microsoft.com/office/drawing/2014/main" id="{04BD26EA-CD4B-F3BB-C70A-8E6EAE36DD26}"/>
                </a:ext>
              </a:extLst>
            </p:cNvPr>
            <p:cNvSpPr/>
            <p:nvPr/>
          </p:nvSpPr>
          <p:spPr>
            <a:xfrm>
              <a:off x="931906" y="4826194"/>
              <a:ext cx="2887707" cy="464464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观测统计量</a:t>
              </a:r>
            </a:p>
          </p:txBody>
        </p:sp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1535EA41-FA9C-E6DF-EF14-68846D6DB730}"/>
                </a:ext>
              </a:extLst>
            </p:cNvPr>
            <p:cNvSpPr/>
            <p:nvPr/>
          </p:nvSpPr>
          <p:spPr>
            <a:xfrm>
              <a:off x="5265031" y="4826194"/>
              <a:ext cx="2887707" cy="464464"/>
            </a:xfrm>
            <a:prstGeom prst="round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校正统计量</a:t>
              </a: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CEB6056E-817E-55AB-B899-7FEF8F91E8BE}"/>
                </a:ext>
              </a:extLst>
            </p:cNvPr>
            <p:cNvSpPr txBox="1"/>
            <p:nvPr/>
          </p:nvSpPr>
          <p:spPr>
            <a:xfrm>
              <a:off x="2449632" y="5989029"/>
              <a:ext cx="1473480" cy="477054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zh-CN" altLang="en-US" sz="2500" b="1" dirty="0">
                  <a:latin typeface="宋体" panose="02010600030101010101" pitchFamily="2" charset="-122"/>
                  <a:ea typeface="宋体" panose="02010600030101010101" pitchFamily="2" charset="-122"/>
                  <a:cs typeface="Times New Roman" panose="02020603050405020304" pitchFamily="18" charset="0"/>
                </a:rPr>
                <a:t>特征校正</a:t>
              </a:r>
            </a:p>
          </p:txBody>
        </p:sp>
        <p:pic>
          <p:nvPicPr>
            <p:cNvPr id="81" name="图形 80">
              <a:extLst>
                <a:ext uri="{FF2B5EF4-FFF2-40B4-BE49-F238E27FC236}">
                  <a16:creationId xmlns:a16="http://schemas.microsoft.com/office/drawing/2014/main" id="{930D8CC0-E85F-0176-C38E-E8B418CCB99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556812" y="5444602"/>
              <a:ext cx="411480" cy="685800"/>
            </a:xfrm>
            <a:prstGeom prst="rect">
              <a:avLst/>
            </a:prstGeom>
          </p:spPr>
        </p:pic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773B2F0C-AE38-1FAF-D491-BE7B7159C1FD}"/>
                </a:ext>
              </a:extLst>
            </p:cNvPr>
            <p:cNvCxnSpPr>
              <a:cxnSpLocks/>
            </p:cNvCxnSpPr>
            <p:nvPr/>
          </p:nvCxnSpPr>
          <p:spPr>
            <a:xfrm>
              <a:off x="2462873" y="4331478"/>
              <a:ext cx="0" cy="465633"/>
            </a:xfrm>
            <a:prstGeom prst="straightConnector1">
              <a:avLst/>
            </a:prstGeom>
            <a:solidFill>
              <a:schemeClr val="lt1"/>
            </a:solidFill>
            <a:ln w="50800" cap="flat">
              <a:solidFill>
                <a:schemeClr val="dk1"/>
              </a:solidFill>
              <a:prstDash val="solid"/>
              <a:miter/>
              <a:headEnd w="med" len="lg"/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3" name="图形 82" descr="\documentclass{article}&#10;\usepackage{amsmath}&#10;\pagestyle{empty}&#10;\begin{document}&#10;&#10;$Z$&#10;&#10;\end{document}" title="IguanaTex Shape Display">
              <a:extLst>
                <a:ext uri="{FF2B5EF4-FFF2-40B4-BE49-F238E27FC236}">
                  <a16:creationId xmlns:a16="http://schemas.microsoft.com/office/drawing/2014/main" id="{D6AF729D-858C-6BA8-8539-F2F56D1180A8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61378" y="4438970"/>
              <a:ext cx="228600" cy="205740"/>
            </a:xfrm>
            <a:prstGeom prst="rect">
              <a:avLst/>
            </a:prstGeom>
          </p:spPr>
        </p:pic>
        <p:pic>
          <p:nvPicPr>
            <p:cNvPr id="85" name="图形 84" descr="\documentclass{article}&#10;\usepackage{amsmath}&#10;\pagestyle{empty}&#10;\usepackage[scr=boondox,cal=esstix]{mathalpha}&#10;\begin{document}&#10;&#10;$ \widetilde{\sigma}_{\mathcal{b}} \left( \frac{Z - \mu_{\mathcal{b}}}{\sigma_{\mathcal{b}}} \right) + \widetilde{\mu}_{\mathcal{b}}$&#10;&#10;\end{document}" title="IguanaTex Shape Display">
              <a:extLst>
                <a:ext uri="{FF2B5EF4-FFF2-40B4-BE49-F238E27FC236}">
                  <a16:creationId xmlns:a16="http://schemas.microsoft.com/office/drawing/2014/main" id="{BFF27665-A90D-2FA9-1C84-1E5BA0BD0D79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141639" y="5953236"/>
              <a:ext cx="2034540" cy="548640"/>
            </a:xfrm>
            <a:prstGeom prst="rect">
              <a:avLst/>
            </a:prstGeom>
          </p:spPr>
        </p:pic>
        <p:pic>
          <p:nvPicPr>
            <p:cNvPr id="86" name="图形 85" descr="\documentclass{article}&#10;\usepackage{amsmath}&#10;\pagestyle{empty}&#10;\usepackage[scr=boondox,cal=esstix]{mathalpha}&#10;\begin{document}&#10;&#10;$\{ \mu_{\mathcal{b}}, \sigma_{\mathcal{b}} \}$&#10;&#10;\end{document}" title="IguanaTex Shape Display">
              <a:extLst>
                <a:ext uri="{FF2B5EF4-FFF2-40B4-BE49-F238E27FC236}">
                  <a16:creationId xmlns:a16="http://schemas.microsoft.com/office/drawing/2014/main" id="{74C3CA3E-BDDB-2CC8-7E86-04B3CABEB24F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403409" y="4934094"/>
              <a:ext cx="1074420" cy="297180"/>
            </a:xfrm>
            <a:prstGeom prst="rect">
              <a:avLst/>
            </a:prstGeom>
          </p:spPr>
        </p:pic>
        <p:pic>
          <p:nvPicPr>
            <p:cNvPr id="87" name="图形 86" descr="\documentclass{article}&#10;\usepackage{amsmath}&#10;\pagestyle{empty}&#10;\usepackage[scr=boondox,cal=esstix]{mathalpha}&#10;\begin{document}&#10;&#10;$\{ \widetilde{\mu}_{\mathcal{b}}, \widetilde{\sigma}_{\mathcal{b}} \}$&#10;&#10;\end{document}" title="IguanaTex Shape Display">
              <a:extLst>
                <a:ext uri="{FF2B5EF4-FFF2-40B4-BE49-F238E27FC236}">
                  <a16:creationId xmlns:a16="http://schemas.microsoft.com/office/drawing/2014/main" id="{FE292E99-0AC3-2F6E-3761-8CDADCB24CCA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20480" y="4929239"/>
              <a:ext cx="1074420" cy="297180"/>
            </a:xfrm>
            <a:prstGeom prst="rect">
              <a:avLst/>
            </a:prstGeom>
          </p:spPr>
        </p:pic>
        <p:sp>
          <p:nvSpPr>
            <p:cNvPr id="4" name="箭头: 左 3">
              <a:extLst>
                <a:ext uri="{FF2B5EF4-FFF2-40B4-BE49-F238E27FC236}">
                  <a16:creationId xmlns:a16="http://schemas.microsoft.com/office/drawing/2014/main" id="{C81289BA-39CD-40B9-4731-9CD421CE695B}"/>
                </a:ext>
              </a:extLst>
            </p:cNvPr>
            <p:cNvSpPr/>
            <p:nvPr/>
          </p:nvSpPr>
          <p:spPr>
            <a:xfrm>
              <a:off x="4321653" y="6070182"/>
              <a:ext cx="454025" cy="314748"/>
            </a:xfrm>
            <a:prstGeom prst="leftArrow">
              <a:avLst>
                <a:gd name="adj1" fmla="val 50000"/>
                <a:gd name="adj2" fmla="val 73457"/>
              </a:avLst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424319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"/>
  <p:tag name="ORIGINALWIDTH" val=" 7.5"/>
  <p:tag name="OUTPUTTYPE" val="SVG"/>
  <p:tag name="IGUANATEXVERSION" val="162"/>
  <p:tag name="LATEXADDIN" val="\documentclass{article}&#10;\usepackage{amsmath}&#10;\pagestyle{empty}&#10;\begin{document}&#10;&#10;$\approx$&#10;&#10;\end{document}"/>
  <p:tag name="IGUANATEXSIZE" val="20"/>
  <p:tag name="IGUANATEXCURSOR" val="8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"/>
  <p:tag name="ORIGINALWIDTH" val=" 7.5"/>
  <p:tag name="OUTPUTTYPE" val="SVG"/>
  <p:tag name="IGUANATEXVERSION" val="162"/>
  <p:tag name="LATEXADDIN" val="\documentclass{article}&#10;\usepackage{amsmath}&#10;\pagestyle{empty}&#10;\begin{document}&#10;&#10;$Z$&#10;&#10;\end{document}"/>
  <p:tag name="IGUANATEXSIZE" val="20"/>
  <p:tag name="IGUANATEXCURSOR" val="8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"/>
  <p:tag name="ORIGINALWIDTH" val=" 8.25"/>
  <p:tag name="OUTPUTTYPE" val="SVG"/>
  <p:tag name="IGUANATEXVERSION" val="162"/>
  <p:tag name="LATEXADDIN" val="\documentclass{article}&#10;\usepackage{amsmath}&#10;\pagestyle{empty}&#10;\begin{document}&#10;&#10;$\mathcal{Z}$&#10;&#10;&#10;\end{document}"/>
  <p:tag name="IGUANATEXSIZE" val="20"/>
  <p:tag name="IGUANATEXCURSOR" val="9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8.25"/>
  <p:tag name="ORIGINALWIDTH" val=" 18"/>
  <p:tag name="OUTPUTTYPE" val="SVG"/>
  <p:tag name="IGUANATEXVERSION" val="162"/>
  <p:tag name="LATEXADDIN" val="\documentclass{article}&#10;\usepackage{amsmath}&#10;\pagestyle{empty}&#10;\begin{document}&#10;&#10;$\mathcal{M}_{\mathcal{Z}}$&#10;&#10;\end{document}"/>
  <p:tag name="IGUANATEXSIZE" val="20"/>
  <p:tag name="IGUANATEXCURSOR" val="108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4.25"/>
  <p:tag name="ORIGINALWIDTH" val=" 58.5"/>
  <p:tag name="OUTPUTTYPE" val="SVG"/>
  <p:tag name="IGUANATEXVERSION" val="162"/>
  <p:tag name="LATEXADDIN" val="\documentclass{article}&#10;\usepackage{amsmath}&#10;\pagestyle{empty}&#10;\begin{document}&#10;&#10;$\mathop{\min}\limits_{\mathcal{Z}}ID(\mathcal{\mathcal{M}_{\mathcal{Z}}})$&#10;&#10;\end{document}"/>
  <p:tag name="IGUANATEXSIZE" val="20"/>
  <p:tag name="IGUANATEXCURSOR" val="155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"/>
  <p:tag name="ORIGINALWIDTH" val=" 50.25"/>
  <p:tag name="OUTPUTTYPE" val="SVG"/>
  <p:tag name="IGUANATEXVERSION" val="162"/>
  <p:tag name="LATEXADDIN" val="\documentclass{article}&#10;\usepackage{amsmath}&#10;\pagestyle{empty}&#10;\begin{document}&#10;&#10;$\mathcal{M}_{\mathcal{Z}} \cong \mathcal{M}_{\mathcal{Y}}$&#10;&#10;\end{document}"/>
  <p:tag name="IGUANATEXSIZE" val="20"/>
  <p:tag name="IGUANATEXCURSOR" val="82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"/>
  <p:tag name="ORIGINALWIDTH" val=" 66.75"/>
  <p:tag name="OUTPUTTYPE" val="SVG"/>
  <p:tag name="IGUANATEXVERSION" val="162"/>
  <p:tag name="LATEXADDIN" val="\documentclass{article}&#10;\usepackage{amsmath}&#10;\pagestyle{empty}&#10;\usepackage[scr=boondox,cal=esstix]{mathalpha}&#10;\begin{document}&#10;&#10;$ \widetilde{\sigma}_{\mathcal{b}} \left( \frac{Z - \mu_{\mathcal{b}}}{\sigma_{\mathcal{b}}} \right) + \widetilde{\mu}_{\mathcal{b}}$&#10;&#10;\end{document}"/>
  <p:tag name="IGUANATEXSIZE" val="20"/>
  <p:tag name="IGUANATEXCURSOR" val="0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5"/>
  <p:tag name="ORIGINALWIDTH" val=" 33.75"/>
  <p:tag name="OUTPUTTYPE" val="SVG"/>
  <p:tag name="IGUANATEXVERSION" val="162"/>
  <p:tag name="LATEXADDIN" val="\documentclass{article}&#10;\usepackage{amsmath}&#10;\pagestyle{empty}&#10;\usepackage[scr=boondox,cal=esstix]{mathalpha}&#10;\begin{document}&#10;&#10;$\{ \mu_{\mathcal{b}}, \sigma_{\mathcal{b}} \}$&#10;&#10;\end{document}"/>
  <p:tag name="IGUANATEXSIZE" val="20"/>
  <p:tag name="IGUANATEXCURSOR" val="10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5"/>
  <p:tag name="ORIGINALWIDTH" val=" 33.75"/>
  <p:tag name="OUTPUTTYPE" val="SVG"/>
  <p:tag name="IGUANATEXVERSION" val="162"/>
  <p:tag name="LATEXADDIN" val="\documentclass{article}&#10;\usepackage{amsmath}&#10;\pagestyle{empty}&#10;\usepackage[scr=boondox,cal=esstix]{mathalpha}&#10;\begin{document}&#10;&#10;$\{ \widetilde{\mu}_{\mathcal{b}}, \widetilde{\sigma}_{\mathcal{b}} \}$&#10;&#10;\end{document}"/>
  <p:tag name="IGUANATEXSIZE" val="20"/>
  <p:tag name="IGUANATEXCURSOR" val="15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5"/>
  <p:tag name="ORIGINALWIDTH" val=" 39"/>
  <p:tag name="OUTPUTTYPE" val="SVG"/>
  <p:tag name="IGUANATEXVERSION" val="162"/>
  <p:tag name="LATEXADDIN" val="\documentclass{article}&#10;\usepackage{amsmath}&#10;\pagestyle{empty}&#10;\begin{document}&#10;&#10;$\{ \mu_{Z}, \sigma_{Z} \}$&#10;&#10;\end{document}"/>
  <p:tag name="IGUANATEXSIZE" val="20"/>
  <p:tag name="IGUANATEXCURSOR" val="10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0.5"/>
  <p:tag name="ORIGINALWIDTH" val=" 39"/>
  <p:tag name="OUTPUTTYPE" val="SVG"/>
  <p:tag name="IGUANATEXVERSION" val="162"/>
  <p:tag name="LATEXADDIN" val="\documentclass{article}&#10;\usepackage{amsmath}&#10;\pagestyle{empty}&#10;\begin{document}&#10;&#10;$\{ \mu_{Z}^{\prime}, \sigma_{Z}^{\prime} \}$&#10;&#10;\end{document}"/>
  <p:tag name="IGUANATEXSIZE" val="20"/>
  <p:tag name="IGUANATEXCURSOR" val="112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"/>
  <p:tag name="ORIGINALWIDTH" val=" 7.5"/>
  <p:tag name="OUTPUTTYPE" val="SVG"/>
  <p:tag name="IGUANATEXVERSION" val="162"/>
  <p:tag name="LATEXADDIN" val="\documentclass{article}&#10;\usepackage{amsmath}&#10;\pagestyle{empty}&#10;\begin{document}&#10;&#10;$\approx$&#10;&#10;&#10;\end{document}"/>
  <p:tag name="IGUANATEXSIZE" val="20"/>
  <p:tag name="IGUANATEXCURSOR" val="8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2"/>
  <p:tag name="ORIGINALWIDTH" val=" 40.5"/>
  <p:tag name="OUTPUTTYPE" val="SVG"/>
  <p:tag name="IGUANATEXVERSION" val="162"/>
  <p:tag name="LATEXADDIN" val="\documentclass{article}&#10;\usepackage{amsmath}&#10;\pagestyle{empty}&#10;\begin{document}&#10;&#10;$\mathcal{N}(\mu, \Sigma_{\mu}^{2})$&#10;&#10;&#10;\end{document}"/>
  <p:tag name="IGUANATEXSIZE" val="20"/>
  <p:tag name="IGUANATEXCURSOR" val="105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0.5"/>
  <p:tag name="ORIGINALWIDTH" val=" 39.75"/>
  <p:tag name="OUTPUTTYPE" val="SVG"/>
  <p:tag name="IGUANATEXVERSION" val="162"/>
  <p:tag name="LATEXADDIN" val="\documentclass{article}&#10;\usepackage{amsmath}&#10;\pagestyle{empty}&#10;\begin{document}&#10;&#10;$\mathcal{N}(\sigma, \Sigma_{\sigma}^{2})$&#10;&#10;\end{document}"/>
  <p:tag name="IGUANATEXSIZE" val="20"/>
  <p:tag name="IGUANATEXCURSOR" val="116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"/>
  <p:tag name="ORIGINALWIDTH" val=" 69"/>
  <p:tag name="OUTPUTTYPE" val="SVG"/>
  <p:tag name="IGUANATEXVERSION" val="162"/>
  <p:tag name="LATEXADDIN" val="\documentclass{article}&#10;\usepackage{amsmath}&#10;\pagestyle{empty}&#10;\begin{document}&#10;&#10;$\sigma_{Z}^{\prime}\left(\frac{Z - \mu}{\sigma}\right) + \mu_{Z}^{\prime}$&#10;&#10;\end{document}"/>
  <p:tag name="IGUANATEXSIZE" val="20"/>
  <p:tag name="IGUANATEXCURSOR" val="155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8.5"/>
  <p:tag name="ORIGINALWIDTH" val=" 200.25"/>
  <p:tag name="OUTPUTTYPE" val="SVG"/>
  <p:tag name="IGUANATEXVERSION" val="162"/>
  <p:tag name="LATEXADDIN" val="\documentclass{article}&#10;\usepackage{amsmath}&#10;\usepackage{amssymb}&#10;\pagestyle{empty}&#10;\begin{document}&#10;&#10;\begin{align}&#10;&amp; \widetilde{X}_{Emb} \\&#10;&amp; \in \mathbb{R}^{d_{model} \times E}&#10;\end{align}&#10;&#10;\end{document}"/>
  <p:tag name="IGUANATEXSIZE" val="20"/>
  <p:tag name="IGUANATEXCURSOR" val="0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25"/>
  <p:tag name="ORIGINALWIDTH" val=" 214.5"/>
  <p:tag name="OUTPUTTYPE" val="SVG"/>
  <p:tag name="IGUANATEXVERSION" val="162"/>
  <p:tag name="LATEXADDIN" val="\documentclass{article}&#10;\usepackage{amsmath}&#10;\usepackage{amssymb}&#10;\pagestyle{empty}&#10;\begin{document}&#10;&#10;\begin{align}&#10;&amp; \widetilde{X}_{Emb} \\&#10;&amp; \in \mathbb{R}^{(d_{model} \times n_{exp}) \times E}&#10;\end{align}&#10;&#10;\end{document}"/>
  <p:tag name="IGUANATEXSIZE" val="20"/>
  <p:tag name="IGUANATEXCURSOR" val="22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8.5"/>
  <p:tag name="ORIGINALWIDTH" val=" 200.25"/>
  <p:tag name="OUTPUTTYPE" val="SVG"/>
  <p:tag name="IGUANATEXVERSION" val="162"/>
  <p:tag name="LATEXADDIN" val="\documentclass{article}&#10;\usepackage{amsmath}&#10;\usepackage{amssymb}&#10;\pagestyle{empty}&#10;\begin{document}&#10;&#10;\begin{align}&#10;&amp; \widetilde{X}_{Emb} \\&#10;&amp; \in \mathbb{R}^{d_{model} \times E}&#10;\end{align}&#10;&#10;\end{document}"/>
  <p:tag name="IGUANATEXSIZE" val="20"/>
  <p:tag name="IGUANATEXCURSOR" val="0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25"/>
  <p:tag name="ORIGINALWIDTH" val=" 214.5"/>
  <p:tag name="OUTPUTTYPE" val="SVG"/>
  <p:tag name="IGUANATEXVERSION" val="162"/>
  <p:tag name="LATEXADDIN" val="\documentclass{article}&#10;\usepackage{amsmath}&#10;\usepackage{amssymb}&#10;\pagestyle{empty}&#10;\begin{document}&#10;&#10;\begin{align}&#10;&amp; \widetilde{X}_{Emb} \\&#10;&amp; \in \mathbb{R}^{(d_{model} \times n_{exp}) \times E}&#10;\end{align}&#10;&#10;\end{document}"/>
  <p:tag name="IGUANATEXSIZE" val="20"/>
  <p:tag name="IGUANATEXCURSOR" val="22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"/>
  <p:tag name="ORIGINALWIDTH" val=" 8.25"/>
  <p:tag name="OUTPUTTYPE" val="SVG"/>
  <p:tag name="IGUANATEXVERSION" val="162"/>
  <p:tag name="LATEXADDIN" val="\documentclass{article}&#10;\usepackage{amsmath}&#10;\pagestyle{empty}&#10;\begin{document}&#10;&#10;$\mathcal{Z}$&#10;&#10;&#10;\end{document}"/>
  <p:tag name="IGUANATEXSIZE" val="20"/>
  <p:tag name="IGUANATEXCURSOR" val="9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8.25"/>
  <p:tag name="ORIGINALWIDTH" val=" 18"/>
  <p:tag name="OUTPUTTYPE" val="SVG"/>
  <p:tag name="IGUANATEXVERSION" val="162"/>
  <p:tag name="LATEXADDIN" val="\documentclass{article}&#10;\usepackage{amsmath}&#10;\pagestyle{empty}&#10;\begin{document}&#10;&#10;$\mathcal{M}_{\mathcal{Z}}$&#10;&#10;\end{document}"/>
  <p:tag name="IGUANATEXSIZE" val="20"/>
  <p:tag name="IGUANATEXCURSOR" val="108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4.25"/>
  <p:tag name="ORIGINALWIDTH" val=" 58.5"/>
  <p:tag name="OUTPUTTYPE" val="SVG"/>
  <p:tag name="IGUANATEXVERSION" val="162"/>
  <p:tag name="LATEXADDIN" val="\documentclass{article}&#10;\usepackage{amsmath}&#10;\pagestyle{empty}&#10;\begin{document}&#10;&#10;$\mathop{\min}\limits_{\mathcal{Z}}ID(\mathcal{\mathcal{M}_{\mathcal{Z}}})$&#10;&#10;\end{document}"/>
  <p:tag name="IGUANATEXSIZE" val="20"/>
  <p:tag name="IGUANATEXCURSOR" val="155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"/>
  <p:tag name="ORIGINALWIDTH" val=" 50.25"/>
  <p:tag name="OUTPUTTYPE" val="SVG"/>
  <p:tag name="IGUANATEXVERSION" val="162"/>
  <p:tag name="LATEXADDIN" val="\documentclass{article}&#10;\usepackage{amsmath}&#10;\pagestyle{empty}&#10;\begin{document}&#10;&#10;$\mathcal{M}_{\mathcal{Z}} \cong \mathcal{M}_{\mathcal{Y}}$&#10;&#10;\end{document}"/>
  <p:tag name="IGUANATEXSIZE" val="20"/>
  <p:tag name="IGUANATEXCURSOR" val="82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"/>
  <p:tag name="ORIGINALWIDTH" val=" 7.5"/>
  <p:tag name="OUTPUTTYPE" val="SVG"/>
  <p:tag name="IGUANATEXVERSION" val="162"/>
  <p:tag name="LATEXADDIN" val="\documentclass{article}&#10;\usepackage{amsmath}&#10;\pagestyle{empty}&#10;\begin{document}&#10;&#10;$\approx$&#10;&#10;\end{document}"/>
  <p:tag name="IGUANATEXSIZE" val="20"/>
  <p:tag name="IGUANATEXCURSOR" val="8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"/>
  <p:tag name="ORIGINALWIDTH" val=" 69"/>
  <p:tag name="OUTPUTTYPE" val="SVG"/>
  <p:tag name="IGUANATEXVERSION" val="162"/>
  <p:tag name="LATEXADDIN" val="\documentclass{article}&#10;\usepackage{amsmath}&#10;\pagestyle{empty}&#10;\begin{document}&#10;&#10;$\sigma_{Z}^{\prime}\left(\frac{Z - \mu}{\sigma}\right) + \mu_{Z}^{\prime}$&#10;&#10;\end{document}"/>
  <p:tag name="IGUANATEXSIZE" val="20"/>
  <p:tag name="IGUANATEXCURSOR" val="155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5"/>
  <p:tag name="ORIGINALWIDTH" val=" 39"/>
  <p:tag name="OUTPUTTYPE" val="SVG"/>
  <p:tag name="IGUANATEXVERSION" val="162"/>
  <p:tag name="LATEXADDIN" val="\documentclass{article}&#10;\usepackage{amsmath}&#10;\pagestyle{empty}&#10;\begin{document}&#10;&#10;$\{ \mu_{Z}, \sigma_{Z} \}$&#10;&#10;\end{document}"/>
  <p:tag name="IGUANATEXSIZE" val="20"/>
  <p:tag name="IGUANATEXCURSOR" val="10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0.5"/>
  <p:tag name="ORIGINALWIDTH" val=" 39"/>
  <p:tag name="OUTPUTTYPE" val="SVG"/>
  <p:tag name="IGUANATEXVERSION" val="162"/>
  <p:tag name="LATEXADDIN" val="\documentclass{article}&#10;\usepackage{amsmath}&#10;\pagestyle{empty}&#10;\begin{document}&#10;&#10;$\{ \mu_{Z}^{\prime}, \sigma_{Z}^{\prime} \}$&#10;&#10;\end{document}"/>
  <p:tag name="IGUANATEXSIZE" val="20"/>
  <p:tag name="IGUANATEXCURSOR" val="112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"/>
  <p:tag name="ORIGINALWIDTH" val=" 7.5"/>
  <p:tag name="OUTPUTTYPE" val="SVG"/>
  <p:tag name="IGUANATEXVERSION" val="162"/>
  <p:tag name="LATEXADDIN" val="\documentclass{article}&#10;\usepackage{amsmath}&#10;\pagestyle{empty}&#10;\begin{document}&#10;&#10;$\approx$&#10;&#10;&#10;\end{document}"/>
  <p:tag name="IGUANATEXSIZE" val="20"/>
  <p:tag name="IGUANATEXCURSOR" val="8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2"/>
  <p:tag name="ORIGINALWIDTH" val=" 40.5"/>
  <p:tag name="OUTPUTTYPE" val="SVG"/>
  <p:tag name="IGUANATEXVERSION" val="162"/>
  <p:tag name="LATEXADDIN" val="\documentclass{article}&#10;\usepackage{amsmath}&#10;\pagestyle{empty}&#10;\begin{document}&#10;&#10;$\mathcal{N}(\mu, \Sigma_{\mu}^{2})$&#10;&#10;&#10;\end{document}"/>
  <p:tag name="IGUANATEXSIZE" val="20"/>
  <p:tag name="IGUANATEXCURSOR" val="105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0.5"/>
  <p:tag name="ORIGINALWIDTH" val=" 39.75"/>
  <p:tag name="OUTPUTTYPE" val="SVG"/>
  <p:tag name="IGUANATEXVERSION" val="162"/>
  <p:tag name="LATEXADDIN" val="\documentclass{article}&#10;\usepackage{amsmath}&#10;\pagestyle{empty}&#10;\begin{document}&#10;&#10;$\mathcal{N}(\sigma, \Sigma_{\sigma}^{2})$&#10;&#10;\end{document}"/>
  <p:tag name="IGUANATEXSIZE" val="20"/>
  <p:tag name="IGUANATEXCURSOR" val="116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5"/>
  <p:tag name="ORIGINALWIDTH" val=" 7.5"/>
  <p:tag name="OUTPUTTYPE" val="SVG"/>
  <p:tag name="IGUANATEXVERSION" val="162"/>
  <p:tag name="LATEXADDIN" val="\documentclass{article}&#10;\usepackage{amsmath}&#10;\pagestyle{empty}&#10;\begin{document}&#10;&#10;$Z$&#10;&#10;\end{document}"/>
  <p:tag name="IGUANATEXSIZE" val="20"/>
  <p:tag name="IGUANATEXCURSOR" val="83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"/>
  <p:tag name="ORIGINALWIDTH" val=" 66.75"/>
  <p:tag name="OUTPUTTYPE" val="SVG"/>
  <p:tag name="IGUANATEXVERSION" val="162"/>
  <p:tag name="LATEXADDIN" val="\documentclass{article}&#10;\usepackage{amsmath}&#10;\pagestyle{empty}&#10;\usepackage[scr=boondox,cal=esstix]{mathalpha}&#10;\begin{document}&#10;&#10;$ \widetilde{\sigma}_{\mathcal{b}} \left( \frac{Z - \mu_{\mathcal{b}}}{\sigma_{\mathcal{b}}} \right) + \widetilde{\mu}_{\mathcal{b}}$&#10;&#10;\end{document}"/>
  <p:tag name="IGUANATEXSIZE" val="20"/>
  <p:tag name="IGUANATEXCURSOR" val="0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5"/>
  <p:tag name="ORIGINALWIDTH" val=" 33.75"/>
  <p:tag name="OUTPUTTYPE" val="SVG"/>
  <p:tag name="IGUANATEXVERSION" val="162"/>
  <p:tag name="LATEXADDIN" val="\documentclass{article}&#10;\usepackage{amsmath}&#10;\pagestyle{empty}&#10;\usepackage[scr=boondox,cal=esstix]{mathalpha}&#10;\begin{document}&#10;&#10;$\{ \mu_{\mathcal{b}}, \sigma_{\mathcal{b}} \}$&#10;&#10;\end{document}"/>
  <p:tag name="IGUANATEXSIZE" val="20"/>
  <p:tag name="IGUANATEXCURSOR" val="10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5"/>
  <p:tag name="ORIGINALWIDTH" val=" 33.75"/>
  <p:tag name="OUTPUTTYPE" val="SVG"/>
  <p:tag name="IGUANATEXVERSION" val="162"/>
  <p:tag name="LATEXADDIN" val="\documentclass{article}&#10;\usepackage{amsmath}&#10;\pagestyle{empty}&#10;\usepackage[scr=boondox,cal=esstix]{mathalpha}&#10;\begin{document}&#10;&#10;$\{ \widetilde{\mu}_{\mathcal{b}}, \widetilde{\sigma}_{\mathcal{b}} \}$&#10;&#10;\end{document}"/>
  <p:tag name="IGUANATEXSIZE" val="20"/>
  <p:tag name="IGUANATEXCURSOR" val="159"/>
  <p:tag name="TRANSPARENCY" val="True"/>
  <p:tag name="CHOOSECOLOR" val="False"/>
  <p:tag name="COLORHEX" val="000000"/>
  <p:tag name="FILENAME" val=""/>
  <p:tag name="LATEXENGINEID" val="0"/>
  <p:tag name="TEMPFOLDER" val="C:\Users\lxh\Documents\temp\"/>
  <p:tag name="LATEXFORMHEIGHT" val=" 320"/>
  <p:tag name="LATEXFORMWIDTH" val=" 385"/>
  <p:tag name="LATEXFORMWRAP" val="True"/>
  <p:tag name="BITMAPVECTOR" val="1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2213</TotalTime>
  <Words>316</Words>
  <Application>Microsoft Office PowerPoint</Application>
  <PresentationFormat>全屏显示(4:3)</PresentationFormat>
  <Paragraphs>123</Paragraphs>
  <Slides>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宋体</vt:lpstr>
      <vt:lpstr>Arial</vt:lpstr>
      <vt:lpstr>Calibri</vt:lpstr>
      <vt:lpstr>Calibri Light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lxh</dc:creator>
  <cp:lastModifiedBy>lxh</cp:lastModifiedBy>
  <cp:revision>363</cp:revision>
  <dcterms:created xsi:type="dcterms:W3CDTF">2025-04-10T12:45:13Z</dcterms:created>
  <dcterms:modified xsi:type="dcterms:W3CDTF">2026-04-08T09:10:21Z</dcterms:modified>
</cp:coreProperties>
</file>